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7" r:id="rId6"/>
    <p:sldId id="260" r:id="rId7"/>
    <p:sldId id="261" r:id="rId8"/>
    <p:sldId id="262" r:id="rId9"/>
    <p:sldId id="263" r:id="rId10"/>
    <p:sldId id="264" r:id="rId11"/>
    <p:sldId id="265" r:id="rId12"/>
    <p:sldId id="266"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E91EFB-81D5-4713-A724-BC97C8524AE6}" v="17" dt="2026-06-24T16:11:39.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36" d="100"/>
          <a:sy n="36" d="100"/>
        </p:scale>
        <p:origin x="72" y="7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N Aurélien" userId="acf645f7-0bff-41a6-b08a-20f20e89ac6f" providerId="ADAL" clId="{601CB0BF-2845-4990-8134-FF6226B17901}"/>
    <pc:docChg chg="undo custSel addSld delSld modSld">
      <pc:chgData name="BRUN Aurélien" userId="acf645f7-0bff-41a6-b08a-20f20e89ac6f" providerId="ADAL" clId="{601CB0BF-2845-4990-8134-FF6226B17901}" dt="2026-06-24T16:11:39.722" v="64"/>
      <pc:docMkLst>
        <pc:docMk/>
      </pc:docMkLst>
      <pc:sldChg chg="addSp delSp mod">
        <pc:chgData name="BRUN Aurélien" userId="acf645f7-0bff-41a6-b08a-20f20e89ac6f" providerId="ADAL" clId="{601CB0BF-2845-4990-8134-FF6226B17901}" dt="2026-06-24T07:59:42.210" v="3" actId="22"/>
        <pc:sldMkLst>
          <pc:docMk/>
          <pc:sldMk cId="0" sldId="257"/>
        </pc:sldMkLst>
        <pc:spChg chg="add del">
          <ac:chgData name="BRUN Aurélien" userId="acf645f7-0bff-41a6-b08a-20f20e89ac6f" providerId="ADAL" clId="{601CB0BF-2845-4990-8134-FF6226B17901}" dt="2026-06-24T07:59:42.210" v="3" actId="22"/>
          <ac:spMkLst>
            <pc:docMk/>
            <pc:sldMk cId="0" sldId="257"/>
            <ac:spMk id="48" creationId="{D4D27787-D3BC-CFE8-8434-0015E2B1CDEB}"/>
          </ac:spMkLst>
        </pc:spChg>
      </pc:sldChg>
      <pc:sldChg chg="modSp mod">
        <pc:chgData name="BRUN Aurélien" userId="acf645f7-0bff-41a6-b08a-20f20e89ac6f" providerId="ADAL" clId="{601CB0BF-2845-4990-8134-FF6226B17901}" dt="2026-06-24T16:11:39.722" v="64"/>
        <pc:sldMkLst>
          <pc:docMk/>
          <pc:sldMk cId="0" sldId="258"/>
        </pc:sldMkLst>
        <pc:spChg chg="mod">
          <ac:chgData name="BRUN Aurélien" userId="acf645f7-0bff-41a6-b08a-20f20e89ac6f" providerId="ADAL" clId="{601CB0BF-2845-4990-8134-FF6226B17901}" dt="2026-06-24T16:11:39.722" v="64"/>
          <ac:spMkLst>
            <pc:docMk/>
            <pc:sldMk cId="0" sldId="258"/>
            <ac:spMk id="10" creationId="{00000000-0000-0000-0000-000000000000}"/>
          </ac:spMkLst>
        </pc:spChg>
        <pc:spChg chg="mod">
          <ac:chgData name="BRUN Aurélien" userId="acf645f7-0bff-41a6-b08a-20f20e89ac6f" providerId="ADAL" clId="{601CB0BF-2845-4990-8134-FF6226B17901}" dt="2026-06-24T16:11:27.071" v="61"/>
          <ac:spMkLst>
            <pc:docMk/>
            <pc:sldMk cId="0" sldId="258"/>
            <ac:spMk id="24" creationId="{00000000-0000-0000-0000-000000000000}"/>
          </ac:spMkLst>
        </pc:spChg>
        <pc:spChg chg="mod">
          <ac:chgData name="BRUN Aurélien" userId="acf645f7-0bff-41a6-b08a-20f20e89ac6f" providerId="ADAL" clId="{601CB0BF-2845-4990-8134-FF6226B17901}" dt="2026-06-24T16:11:30.850" v="62"/>
          <ac:spMkLst>
            <pc:docMk/>
            <pc:sldMk cId="0" sldId="258"/>
            <ac:spMk id="38" creationId="{00000000-0000-0000-0000-000000000000}"/>
          </ac:spMkLst>
        </pc:spChg>
        <pc:spChg chg="mod">
          <ac:chgData name="BRUN Aurélien" userId="acf645f7-0bff-41a6-b08a-20f20e89ac6f" providerId="ADAL" clId="{601CB0BF-2845-4990-8134-FF6226B17901}" dt="2026-06-23T08:50:45.792" v="1" actId="1076"/>
          <ac:spMkLst>
            <pc:docMk/>
            <pc:sldMk cId="0" sldId="258"/>
            <ac:spMk id="48" creationId="{00000000-0000-0000-0000-000000000000}"/>
          </ac:spMkLst>
        </pc:spChg>
        <pc:spChg chg="mod">
          <ac:chgData name="BRUN Aurélien" userId="acf645f7-0bff-41a6-b08a-20f20e89ac6f" providerId="ADAL" clId="{601CB0BF-2845-4990-8134-FF6226B17901}" dt="2026-06-24T16:11:33.132" v="63"/>
          <ac:spMkLst>
            <pc:docMk/>
            <pc:sldMk cId="0" sldId="258"/>
            <ac:spMk id="52" creationId="{00000000-0000-0000-0000-000000000000}"/>
          </ac:spMkLst>
        </pc:spChg>
      </pc:sldChg>
      <pc:sldChg chg="addSp delSp modSp new mod">
        <pc:chgData name="BRUN Aurélien" userId="acf645f7-0bff-41a6-b08a-20f20e89ac6f" providerId="ADAL" clId="{601CB0BF-2845-4990-8134-FF6226B17901}" dt="2026-06-24T16:01:06.517" v="60"/>
        <pc:sldMkLst>
          <pc:docMk/>
          <pc:sldMk cId="174208090" sldId="267"/>
        </pc:sldMkLst>
        <pc:spChg chg="add mod">
          <ac:chgData name="BRUN Aurélien" userId="acf645f7-0bff-41a6-b08a-20f20e89ac6f" providerId="ADAL" clId="{601CB0BF-2845-4990-8134-FF6226B17901}" dt="2026-06-24T16:00:37.543" v="57" actId="14100"/>
          <ac:spMkLst>
            <pc:docMk/>
            <pc:sldMk cId="174208090" sldId="267"/>
            <ac:spMk id="2" creationId="{6128FD78-06ED-0809-0580-A8FB2CC99879}"/>
          </ac:spMkLst>
        </pc:spChg>
        <pc:spChg chg="add mod">
          <ac:chgData name="BRUN Aurélien" userId="acf645f7-0bff-41a6-b08a-20f20e89ac6f" providerId="ADAL" clId="{601CB0BF-2845-4990-8134-FF6226B17901}" dt="2026-06-24T16:00:34.278" v="56" actId="14100"/>
          <ac:spMkLst>
            <pc:docMk/>
            <pc:sldMk cId="174208090" sldId="267"/>
            <ac:spMk id="3" creationId="{4FFFF554-B6F8-4339-2AD3-38EF217A3CDB}"/>
          </ac:spMkLst>
        </pc:spChg>
        <pc:spChg chg="add mod">
          <ac:chgData name="BRUN Aurélien" userId="acf645f7-0bff-41a6-b08a-20f20e89ac6f" providerId="ADAL" clId="{601CB0BF-2845-4990-8134-FF6226B17901}" dt="2026-06-24T16:00:06.362" v="48" actId="164"/>
          <ac:spMkLst>
            <pc:docMk/>
            <pc:sldMk cId="174208090" sldId="267"/>
            <ac:spMk id="4" creationId="{6C16E600-222D-BF79-65BF-3400CBBCC5E1}"/>
          </ac:spMkLst>
        </pc:spChg>
        <pc:spChg chg="add mod">
          <ac:chgData name="BRUN Aurélien" userId="acf645f7-0bff-41a6-b08a-20f20e89ac6f" providerId="ADAL" clId="{601CB0BF-2845-4990-8134-FF6226B17901}" dt="2026-06-24T16:00:06.362" v="48" actId="164"/>
          <ac:spMkLst>
            <pc:docMk/>
            <pc:sldMk cId="174208090" sldId="267"/>
            <ac:spMk id="5" creationId="{25E0E4BB-B70A-6054-0004-898E3CDEEEC7}"/>
          </ac:spMkLst>
        </pc:spChg>
        <pc:spChg chg="add del mod">
          <ac:chgData name="BRUN Aurélien" userId="acf645f7-0bff-41a6-b08a-20f20e89ac6f" providerId="ADAL" clId="{601CB0BF-2845-4990-8134-FF6226B17901}" dt="2026-06-24T16:00:08.160" v="49" actId="478"/>
          <ac:spMkLst>
            <pc:docMk/>
            <pc:sldMk cId="174208090" sldId="267"/>
            <ac:spMk id="6" creationId="{2E9A0F6D-1EF5-68FB-2774-CD729B369FF6}"/>
          </ac:spMkLst>
        </pc:spChg>
        <pc:spChg chg="add del mod">
          <ac:chgData name="BRUN Aurélien" userId="acf645f7-0bff-41a6-b08a-20f20e89ac6f" providerId="ADAL" clId="{601CB0BF-2845-4990-8134-FF6226B17901}" dt="2026-06-24T16:00:08.160" v="49" actId="478"/>
          <ac:spMkLst>
            <pc:docMk/>
            <pc:sldMk cId="174208090" sldId="267"/>
            <ac:spMk id="7" creationId="{8580629A-4407-4BDE-0EF7-11DA38C121F5}"/>
          </ac:spMkLst>
        </pc:spChg>
        <pc:spChg chg="add del mod">
          <ac:chgData name="BRUN Aurélien" userId="acf645f7-0bff-41a6-b08a-20f20e89ac6f" providerId="ADAL" clId="{601CB0BF-2845-4990-8134-FF6226B17901}" dt="2026-06-24T16:00:08.160" v="49" actId="478"/>
          <ac:spMkLst>
            <pc:docMk/>
            <pc:sldMk cId="174208090" sldId="267"/>
            <ac:spMk id="8" creationId="{93623819-ACC0-6ADB-8D66-48D9D8EF2013}"/>
          </ac:spMkLst>
        </pc:spChg>
        <pc:spChg chg="add del mod">
          <ac:chgData name="BRUN Aurélien" userId="acf645f7-0bff-41a6-b08a-20f20e89ac6f" providerId="ADAL" clId="{601CB0BF-2845-4990-8134-FF6226B17901}" dt="2026-06-24T16:00:08.160" v="49" actId="478"/>
          <ac:spMkLst>
            <pc:docMk/>
            <pc:sldMk cId="174208090" sldId="267"/>
            <ac:spMk id="9" creationId="{DE0E22F5-A2C9-8027-1DCB-C5E5842EC5B5}"/>
          </ac:spMkLst>
        </pc:spChg>
        <pc:spChg chg="mod">
          <ac:chgData name="BRUN Aurélien" userId="acf645f7-0bff-41a6-b08a-20f20e89ac6f" providerId="ADAL" clId="{601CB0BF-2845-4990-8134-FF6226B17901}" dt="2026-06-24T16:00:18.737" v="52" actId="571"/>
          <ac:spMkLst>
            <pc:docMk/>
            <pc:sldMk cId="174208090" sldId="267"/>
            <ac:spMk id="12" creationId="{90B83977-9E69-64C5-879E-C9C651483026}"/>
          </ac:spMkLst>
        </pc:spChg>
        <pc:spChg chg="mod">
          <ac:chgData name="BRUN Aurélien" userId="acf645f7-0bff-41a6-b08a-20f20e89ac6f" providerId="ADAL" clId="{601CB0BF-2845-4990-8134-FF6226B17901}" dt="2026-06-24T16:00:18.737" v="52" actId="571"/>
          <ac:spMkLst>
            <pc:docMk/>
            <pc:sldMk cId="174208090" sldId="267"/>
            <ac:spMk id="13" creationId="{1C557F45-5860-F83B-EE0E-B595CC608125}"/>
          </ac:spMkLst>
        </pc:spChg>
        <pc:spChg chg="mod">
          <ac:chgData name="BRUN Aurélien" userId="acf645f7-0bff-41a6-b08a-20f20e89ac6f" providerId="ADAL" clId="{601CB0BF-2845-4990-8134-FF6226B17901}" dt="2026-06-24T16:00:20.495" v="53" actId="571"/>
          <ac:spMkLst>
            <pc:docMk/>
            <pc:sldMk cId="174208090" sldId="267"/>
            <ac:spMk id="15" creationId="{31E91F74-D986-19BA-7CFE-7FE33020A9B9}"/>
          </ac:spMkLst>
        </pc:spChg>
        <pc:spChg chg="mod">
          <ac:chgData name="BRUN Aurélien" userId="acf645f7-0bff-41a6-b08a-20f20e89ac6f" providerId="ADAL" clId="{601CB0BF-2845-4990-8134-FF6226B17901}" dt="2026-06-24T16:00:20.495" v="53" actId="571"/>
          <ac:spMkLst>
            <pc:docMk/>
            <pc:sldMk cId="174208090" sldId="267"/>
            <ac:spMk id="16" creationId="{F6988973-E851-61EE-2772-6F6A4A578BCC}"/>
          </ac:spMkLst>
        </pc:spChg>
        <pc:spChg chg="mod">
          <ac:chgData name="BRUN Aurélien" userId="acf645f7-0bff-41a6-b08a-20f20e89ac6f" providerId="ADAL" clId="{601CB0BF-2845-4990-8134-FF6226B17901}" dt="2026-06-24T16:00:28.135" v="55" actId="571"/>
          <ac:spMkLst>
            <pc:docMk/>
            <pc:sldMk cId="174208090" sldId="267"/>
            <ac:spMk id="18" creationId="{36284AA6-D917-E9ED-22D0-49F4640A4A53}"/>
          </ac:spMkLst>
        </pc:spChg>
        <pc:spChg chg="mod">
          <ac:chgData name="BRUN Aurélien" userId="acf645f7-0bff-41a6-b08a-20f20e89ac6f" providerId="ADAL" clId="{601CB0BF-2845-4990-8134-FF6226B17901}" dt="2026-06-24T16:00:28.135" v="55" actId="571"/>
          <ac:spMkLst>
            <pc:docMk/>
            <pc:sldMk cId="174208090" sldId="267"/>
            <ac:spMk id="19" creationId="{BE525AE2-15DB-D3BB-3D93-F0300D5C057B}"/>
          </ac:spMkLst>
        </pc:spChg>
        <pc:spChg chg="add mod">
          <ac:chgData name="BRUN Aurélien" userId="acf645f7-0bff-41a6-b08a-20f20e89ac6f" providerId="ADAL" clId="{601CB0BF-2845-4990-8134-FF6226B17901}" dt="2026-06-24T16:01:06.517" v="60"/>
          <ac:spMkLst>
            <pc:docMk/>
            <pc:sldMk cId="174208090" sldId="267"/>
            <ac:spMk id="20" creationId="{D038E530-D6E8-06A1-5813-A7F6531DE3A6}"/>
          </ac:spMkLst>
        </pc:spChg>
        <pc:grpChg chg="add mod">
          <ac:chgData name="BRUN Aurélien" userId="acf645f7-0bff-41a6-b08a-20f20e89ac6f" providerId="ADAL" clId="{601CB0BF-2845-4990-8134-FF6226B17901}" dt="2026-06-24T16:00:49.204" v="58" actId="1076"/>
          <ac:grpSpMkLst>
            <pc:docMk/>
            <pc:sldMk cId="174208090" sldId="267"/>
            <ac:grpSpMk id="10" creationId="{1EC03F47-0A36-FFCE-6895-30376D33A895}"/>
          </ac:grpSpMkLst>
        </pc:grpChg>
        <pc:grpChg chg="add mod">
          <ac:chgData name="BRUN Aurélien" userId="acf645f7-0bff-41a6-b08a-20f20e89ac6f" providerId="ADAL" clId="{601CB0BF-2845-4990-8134-FF6226B17901}" dt="2026-06-24T16:00:49.204" v="58" actId="1076"/>
          <ac:grpSpMkLst>
            <pc:docMk/>
            <pc:sldMk cId="174208090" sldId="267"/>
            <ac:grpSpMk id="11" creationId="{1CAC8B0E-9B07-4237-EDAF-995395FBB357}"/>
          </ac:grpSpMkLst>
        </pc:grpChg>
        <pc:grpChg chg="add mod">
          <ac:chgData name="BRUN Aurélien" userId="acf645f7-0bff-41a6-b08a-20f20e89ac6f" providerId="ADAL" clId="{601CB0BF-2845-4990-8134-FF6226B17901}" dt="2026-06-24T16:00:49.204" v="58" actId="1076"/>
          <ac:grpSpMkLst>
            <pc:docMk/>
            <pc:sldMk cId="174208090" sldId="267"/>
            <ac:grpSpMk id="14" creationId="{6703F8BF-6FEB-2DC0-8F86-B1F5C9E805F3}"/>
          </ac:grpSpMkLst>
        </pc:grpChg>
        <pc:grpChg chg="add mod">
          <ac:chgData name="BRUN Aurélien" userId="acf645f7-0bff-41a6-b08a-20f20e89ac6f" providerId="ADAL" clId="{601CB0BF-2845-4990-8134-FF6226B17901}" dt="2026-06-24T16:00:49.204" v="58" actId="1076"/>
          <ac:grpSpMkLst>
            <pc:docMk/>
            <pc:sldMk cId="174208090" sldId="267"/>
            <ac:grpSpMk id="17" creationId="{1E23F178-2FCD-5316-C7EF-F4D0CC34BAEE}"/>
          </ac:grpSpMkLst>
        </pc:grpChg>
      </pc:sldChg>
      <pc:sldChg chg="add del setBg">
        <pc:chgData name="BRUN Aurélien" userId="acf645f7-0bff-41a6-b08a-20f20e89ac6f" providerId="ADAL" clId="{601CB0BF-2845-4990-8134-FF6226B17901}" dt="2026-06-24T08:00:34.348" v="7" actId="47"/>
        <pc:sldMkLst>
          <pc:docMk/>
          <pc:sldMk cId="4275075310" sldId="2147480568"/>
        </pc:sldMkLst>
      </pc:sldChg>
      <pc:sldChg chg="add del setBg">
        <pc:chgData name="BRUN Aurélien" userId="acf645f7-0bff-41a6-b08a-20f20e89ac6f" providerId="ADAL" clId="{601CB0BF-2845-4990-8134-FF6226B17901}" dt="2026-06-24T08:00:33.128" v="6" actId="47"/>
        <pc:sldMkLst>
          <pc:docMk/>
          <pc:sldMk cId="2514050918" sldId="2147480569"/>
        </pc:sldMkLst>
      </pc:sldChg>
      <pc:sldMasterChg chg="delSldLayout">
        <pc:chgData name="BRUN Aurélien" userId="acf645f7-0bff-41a6-b08a-20f20e89ac6f" providerId="ADAL" clId="{601CB0BF-2845-4990-8134-FF6226B17901}" dt="2026-06-24T08:00:34.348" v="7" actId="47"/>
        <pc:sldMasterMkLst>
          <pc:docMk/>
          <pc:sldMasterMk cId="2209977519" sldId="2147483648"/>
        </pc:sldMasterMkLst>
        <pc:sldLayoutChg chg="del">
          <pc:chgData name="BRUN Aurélien" userId="acf645f7-0bff-41a6-b08a-20f20e89ac6f" providerId="ADAL" clId="{601CB0BF-2845-4990-8134-FF6226B17901}" dt="2026-06-24T08:00:34.348" v="7" actId="47"/>
          <pc:sldLayoutMkLst>
            <pc:docMk/>
            <pc:sldMasterMk cId="2209977519" sldId="2147483648"/>
            <pc:sldLayoutMk cId="1854562468"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506F21-1D6C-485E-9842-7297541E0811}"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BF786-22D2-42FC-A7FF-47E3FD91CC71}" type="slidenum">
              <a:rPr lang="en-US" smtClean="0"/>
              <a:t>‹#›</a:t>
            </a:fld>
            <a:endParaRPr lang="en-US"/>
          </a:p>
        </p:txBody>
      </p:sp>
    </p:spTree>
    <p:extLst>
      <p:ext uri="{BB962C8B-B14F-4D97-AF65-F5344CB8AC3E}">
        <p14:creationId xmlns:p14="http://schemas.microsoft.com/office/powerpoint/2010/main" val="874080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CBF786-22D2-42FC-A7FF-47E3FD91CC71}" type="slidenum">
              <a:rPr lang="en-US" smtClean="0"/>
              <a:t>4</a:t>
            </a:fld>
            <a:endParaRPr lang="en-US"/>
          </a:p>
        </p:txBody>
      </p:sp>
    </p:spTree>
    <p:extLst>
      <p:ext uri="{BB962C8B-B14F-4D97-AF65-F5344CB8AC3E}">
        <p14:creationId xmlns:p14="http://schemas.microsoft.com/office/powerpoint/2010/main" val="2497996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01200" y="0"/>
            <a:ext cx="2587752" cy="2286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784080" y="27432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784080" y="68580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784080" y="109728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784080" y="150876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287000" y="27432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287000" y="68580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287000" y="109728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287000" y="150876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789919" y="27432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789919" y="68580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789919" y="109728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789919" y="1508760"/>
            <a:ext cx="164592" cy="164592"/>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1828800"/>
            <a:ext cx="8686800" cy="1097280"/>
          </a:xfrm>
          <a:prstGeom prst="rect">
            <a:avLst/>
          </a:prstGeom>
          <a:noFill/>
        </p:spPr>
        <p:txBody>
          <a:bodyPr wrap="square">
            <a:spAutoFit/>
          </a:bodyPr>
          <a:lstStyle/>
          <a:p>
            <a:pPr algn="l"/>
            <a:r>
              <a:rPr sz="4000" b="1" i="0">
                <a:solidFill>
                  <a:srgbClr val="FFFFFF"/>
                </a:solidFill>
              </a:rPr>
              <a:t>Regulatory Framework Mapper</a:t>
            </a:r>
          </a:p>
        </p:txBody>
      </p:sp>
      <p:sp>
        <p:nvSpPr>
          <p:cNvPr id="18" name="TextBox 17"/>
          <p:cNvSpPr txBox="1"/>
          <p:nvPr/>
        </p:nvSpPr>
        <p:spPr>
          <a:xfrm>
            <a:off x="640080" y="2971800"/>
            <a:ext cx="8229600" cy="640080"/>
          </a:xfrm>
          <a:prstGeom prst="rect">
            <a:avLst/>
          </a:prstGeom>
          <a:noFill/>
        </p:spPr>
        <p:txBody>
          <a:bodyPr wrap="square">
            <a:spAutoFit/>
          </a:bodyPr>
          <a:lstStyle/>
          <a:p>
            <a:pPr algn="l"/>
            <a:r>
              <a:rPr sz="2200" b="0" i="0">
                <a:solidFill>
                  <a:srgbClr val="FF8C42"/>
                </a:solidFill>
              </a:rPr>
              <a:t>Architecture &amp; Workflow de l'Agent</a:t>
            </a:r>
          </a:p>
        </p:txBody>
      </p:sp>
      <p:sp>
        <p:nvSpPr>
          <p:cNvPr id="19" name="TextBox 18"/>
          <p:cNvSpPr txBox="1"/>
          <p:nvPr/>
        </p:nvSpPr>
        <p:spPr>
          <a:xfrm>
            <a:off x="640080" y="3657600"/>
            <a:ext cx="8229600" cy="914400"/>
          </a:xfrm>
          <a:prstGeom prst="rect">
            <a:avLst/>
          </a:prstGeom>
          <a:noFill/>
        </p:spPr>
        <p:txBody>
          <a:bodyPr wrap="square">
            <a:spAutoFit/>
          </a:bodyPr>
          <a:lstStyle/>
          <a:p>
            <a:pPr algn="l"/>
            <a:r>
              <a:rPr sz="1400" b="0" i="0">
                <a:solidFill>
                  <a:srgbClr val="CCCCCC"/>
                </a:solidFill>
              </a:rPr>
              <a:t>Cartographie automatique de référentiels réglementaires
via Azure OpenAI · Embeddings sémantiques · Analyse multi-dimensionnelle</a:t>
            </a:r>
          </a:p>
        </p:txBody>
      </p:sp>
      <p:sp>
        <p:nvSpPr>
          <p:cNvPr id="20" name="Rectangle 19"/>
          <p:cNvSpPr/>
          <p:nvPr/>
        </p:nvSpPr>
        <p:spPr>
          <a:xfrm>
            <a:off x="0" y="6309360"/>
            <a:ext cx="12188952" cy="54864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355080"/>
            <a:ext cx="5486400" cy="365760"/>
          </a:xfrm>
          <a:prstGeom prst="rect">
            <a:avLst/>
          </a:prstGeom>
          <a:noFill/>
        </p:spPr>
        <p:txBody>
          <a:bodyPr wrap="square">
            <a:spAutoFit/>
          </a:bodyPr>
          <a:lstStyle/>
          <a:p>
            <a:pPr algn="l"/>
            <a:r>
              <a:rPr sz="1000" b="0" i="0">
                <a:solidFill>
                  <a:srgbClr val="FFFFFF"/>
                </a:solidFill>
              </a:rPr>
              <a:t>Wavestone  |  2026  |  Confidentiel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9144000" cy="457200"/>
          </a:xfrm>
          <a:prstGeom prst="rect">
            <a:avLst/>
          </a:prstGeom>
          <a:noFill/>
        </p:spPr>
        <p:txBody>
          <a:bodyPr wrap="square">
            <a:spAutoFit/>
          </a:bodyPr>
          <a:lstStyle/>
          <a:p>
            <a:pPr algn="l"/>
            <a:r>
              <a:rPr sz="2000" b="1" i="0">
                <a:solidFill>
                  <a:srgbClr val="FFFFFF"/>
                </a:solidFill>
              </a:rPr>
              <a:t>Vue d'ensemble — Pipeline complet</a:t>
            </a:r>
          </a:p>
        </p:txBody>
      </p:sp>
      <p:sp>
        <p:nvSpPr>
          <p:cNvPr id="6" name="Rounded Rectangle 5"/>
          <p:cNvSpPr/>
          <p:nvPr/>
        </p:nvSpPr>
        <p:spPr>
          <a:xfrm>
            <a:off x="411480" y="914400"/>
            <a:ext cx="1737360" cy="438912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11480" y="914400"/>
            <a:ext cx="1737360" cy="77724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75488"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1E3A5F"/>
                </a:solidFill>
              </a:rPr>
              <a:t>01</a:t>
            </a:r>
          </a:p>
        </p:txBody>
      </p:sp>
      <p:sp>
        <p:nvSpPr>
          <p:cNvPr id="9" name="TextBox 8"/>
          <p:cNvSpPr txBox="1"/>
          <p:nvPr/>
        </p:nvSpPr>
        <p:spPr>
          <a:xfrm>
            <a:off x="905256" y="1024128"/>
            <a:ext cx="1188720" cy="594360"/>
          </a:xfrm>
          <a:prstGeom prst="rect">
            <a:avLst/>
          </a:prstGeom>
          <a:noFill/>
        </p:spPr>
        <p:txBody>
          <a:bodyPr wrap="square">
            <a:spAutoFit/>
          </a:bodyPr>
          <a:lstStyle/>
          <a:p>
            <a:pPr algn="l"/>
            <a:r>
              <a:rPr sz="1100" b="1" i="0">
                <a:solidFill>
                  <a:srgbClr val="FFFFFF"/>
                </a:solidFill>
              </a:rPr>
              <a:t>Prétraitement</a:t>
            </a:r>
          </a:p>
        </p:txBody>
      </p:sp>
      <p:sp>
        <p:nvSpPr>
          <p:cNvPr id="10" name="TextBox 9"/>
          <p:cNvSpPr txBox="1"/>
          <p:nvPr/>
        </p:nvSpPr>
        <p:spPr>
          <a:xfrm>
            <a:off x="521208" y="1828800"/>
            <a:ext cx="1572768" cy="3291840"/>
          </a:xfrm>
          <a:prstGeom prst="rect">
            <a:avLst/>
          </a:prstGeom>
          <a:noFill/>
        </p:spPr>
        <p:txBody>
          <a:bodyPr wrap="square">
            <a:spAutoFit/>
          </a:bodyPr>
          <a:lstStyle/>
          <a:p>
            <a:pPr algn="l"/>
            <a:r>
              <a:rPr sz="950" b="0" i="0">
                <a:solidFill>
                  <a:srgbClr val="4A4A6A"/>
                </a:solidFill>
              </a:rPr>
              <a:t>Lecture Excel
Harmonisation ENISA
Atomisation &amp; Champs
Embeddings</a:t>
            </a:r>
          </a:p>
        </p:txBody>
      </p:sp>
      <p:cxnSp>
        <p:nvCxnSpPr>
          <p:cNvPr id="11" name="Connector 10"/>
          <p:cNvCxnSpPr/>
          <p:nvPr/>
        </p:nvCxnSpPr>
        <p:spPr>
          <a:xfrm>
            <a:off x="2176272" y="3108960"/>
            <a:ext cx="146304"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50008" y="914400"/>
            <a:ext cx="1737360" cy="4389120"/>
          </a:xfrm>
          <a:prstGeom prst="round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350008" y="914400"/>
            <a:ext cx="1737360" cy="77724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14016"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86AB"/>
                </a:solidFill>
              </a:rPr>
              <a:t>02</a:t>
            </a:r>
          </a:p>
        </p:txBody>
      </p:sp>
      <p:sp>
        <p:nvSpPr>
          <p:cNvPr id="15" name="TextBox 14"/>
          <p:cNvSpPr txBox="1"/>
          <p:nvPr/>
        </p:nvSpPr>
        <p:spPr>
          <a:xfrm>
            <a:off x="2843784" y="1024128"/>
            <a:ext cx="1188720" cy="594360"/>
          </a:xfrm>
          <a:prstGeom prst="rect">
            <a:avLst/>
          </a:prstGeom>
          <a:noFill/>
        </p:spPr>
        <p:txBody>
          <a:bodyPr wrap="square">
            <a:spAutoFit/>
          </a:bodyPr>
          <a:lstStyle/>
          <a:p>
            <a:pPr algn="l"/>
            <a:r>
              <a:rPr sz="1100" b="1" i="0">
                <a:solidFill>
                  <a:srgbClr val="FFFFFF"/>
                </a:solidFill>
              </a:rPr>
              <a:t>Mapping directionnel</a:t>
            </a:r>
          </a:p>
        </p:txBody>
      </p:sp>
      <p:sp>
        <p:nvSpPr>
          <p:cNvPr id="16" name="TextBox 15"/>
          <p:cNvSpPr txBox="1"/>
          <p:nvPr/>
        </p:nvSpPr>
        <p:spPr>
          <a:xfrm>
            <a:off x="2459736" y="1828800"/>
            <a:ext cx="1572768" cy="3291840"/>
          </a:xfrm>
          <a:prstGeom prst="rect">
            <a:avLst/>
          </a:prstGeom>
          <a:noFill/>
        </p:spPr>
        <p:txBody>
          <a:bodyPr wrap="square">
            <a:spAutoFit/>
          </a:bodyPr>
          <a:lstStyle/>
          <a:p>
            <a:pPr algn="l"/>
            <a:r>
              <a:rPr sz="950" b="0" i="0">
                <a:solidFill>
                  <a:srgbClr val="4A4A6A"/>
                </a:solidFill>
              </a:rPr>
              <a:t>Scoring multi-dim.
Fusion RRF
Évaluation LLM
Cache décisions</a:t>
            </a:r>
          </a:p>
        </p:txBody>
      </p:sp>
      <p:cxnSp>
        <p:nvCxnSpPr>
          <p:cNvPr id="17" name="Connector 16"/>
          <p:cNvCxnSpPr/>
          <p:nvPr/>
        </p:nvCxnSpPr>
        <p:spPr>
          <a:xfrm>
            <a:off x="4114800" y="3108960"/>
            <a:ext cx="146304"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8536" y="914400"/>
            <a:ext cx="1737360" cy="4389120"/>
          </a:xfrm>
          <a:prstGeom prst="round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288536" y="914400"/>
            <a:ext cx="1737360" cy="777240"/>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352544"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3312"/>
                </a:solidFill>
              </a:rPr>
              <a:t>03</a:t>
            </a:r>
          </a:p>
        </p:txBody>
      </p:sp>
      <p:sp>
        <p:nvSpPr>
          <p:cNvPr id="21" name="TextBox 20"/>
          <p:cNvSpPr txBox="1"/>
          <p:nvPr/>
        </p:nvSpPr>
        <p:spPr>
          <a:xfrm>
            <a:off x="4782312" y="1024128"/>
            <a:ext cx="1188720" cy="594360"/>
          </a:xfrm>
          <a:prstGeom prst="rect">
            <a:avLst/>
          </a:prstGeom>
          <a:noFill/>
        </p:spPr>
        <p:txBody>
          <a:bodyPr wrap="square">
            <a:spAutoFit/>
          </a:bodyPr>
          <a:lstStyle/>
          <a:p>
            <a:pPr algn="l"/>
            <a:r>
              <a:rPr sz="1100" b="1" i="0">
                <a:solidFill>
                  <a:srgbClr val="FFFFFF"/>
                </a:solidFill>
              </a:rPr>
              <a:t>Juge final</a:t>
            </a:r>
          </a:p>
        </p:txBody>
      </p:sp>
      <p:sp>
        <p:nvSpPr>
          <p:cNvPr id="22" name="TextBox 21"/>
          <p:cNvSpPr txBox="1"/>
          <p:nvPr/>
        </p:nvSpPr>
        <p:spPr>
          <a:xfrm>
            <a:off x="4398264" y="1828800"/>
            <a:ext cx="1572768" cy="3291840"/>
          </a:xfrm>
          <a:prstGeom prst="rect">
            <a:avLst/>
          </a:prstGeom>
          <a:noFill/>
        </p:spPr>
        <p:txBody>
          <a:bodyPr wrap="square">
            <a:spAutoFit/>
          </a:bodyPr>
          <a:lstStyle/>
          <a:p>
            <a:pPr algn="l"/>
            <a:r>
              <a:rPr sz="950" b="0" i="0">
                <a:solidFill>
                  <a:srgbClr val="4A4A6A"/>
                </a:solidFill>
              </a:rPr>
              <a:t>Révision LLM batch
/catégorie ENISA
Correction FP/FN</a:t>
            </a:r>
          </a:p>
        </p:txBody>
      </p:sp>
      <p:cxnSp>
        <p:nvCxnSpPr>
          <p:cNvPr id="23" name="Connector 22"/>
          <p:cNvCxnSpPr/>
          <p:nvPr/>
        </p:nvCxnSpPr>
        <p:spPr>
          <a:xfrm>
            <a:off x="6053328" y="3108960"/>
            <a:ext cx="146304"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27064" y="914400"/>
            <a:ext cx="1737360" cy="4389120"/>
          </a:xfrm>
          <a:prstGeom prst="roundRect">
            <a:avLst/>
          </a:prstGeom>
          <a:solidFill>
            <a:srgbClr val="FFFFFF"/>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27064" y="914400"/>
            <a:ext cx="1737360" cy="77724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291072"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8E44AD"/>
                </a:solidFill>
              </a:rPr>
              <a:t>04</a:t>
            </a:r>
          </a:p>
        </p:txBody>
      </p:sp>
      <p:sp>
        <p:nvSpPr>
          <p:cNvPr id="27" name="TextBox 26"/>
          <p:cNvSpPr txBox="1"/>
          <p:nvPr/>
        </p:nvSpPr>
        <p:spPr>
          <a:xfrm>
            <a:off x="6720840" y="1024128"/>
            <a:ext cx="1188720" cy="594360"/>
          </a:xfrm>
          <a:prstGeom prst="rect">
            <a:avLst/>
          </a:prstGeom>
          <a:noFill/>
        </p:spPr>
        <p:txBody>
          <a:bodyPr wrap="square">
            <a:spAutoFit/>
          </a:bodyPr>
          <a:lstStyle/>
          <a:p>
            <a:pPr algn="l"/>
            <a:r>
              <a:rPr sz="1100" b="1" i="0">
                <a:solidFill>
                  <a:srgbClr val="FFFFFF"/>
                </a:solidFill>
              </a:rPr>
              <a:t>Synthèse parent</a:t>
            </a:r>
          </a:p>
        </p:txBody>
      </p:sp>
      <p:sp>
        <p:nvSpPr>
          <p:cNvPr id="28" name="TextBox 27"/>
          <p:cNvSpPr txBox="1"/>
          <p:nvPr/>
        </p:nvSpPr>
        <p:spPr>
          <a:xfrm>
            <a:off x="6336792" y="1828800"/>
            <a:ext cx="1572768" cy="3291840"/>
          </a:xfrm>
          <a:prstGeom prst="rect">
            <a:avLst/>
          </a:prstGeom>
          <a:noFill/>
        </p:spPr>
        <p:txBody>
          <a:bodyPr wrap="square">
            <a:spAutoFit/>
          </a:bodyPr>
          <a:lstStyle/>
          <a:p>
            <a:pPr algn="l"/>
            <a:r>
              <a:rPr sz="950" b="0" i="0">
                <a:solidFill>
                  <a:srgbClr val="4A4A6A"/>
                </a:solidFill>
              </a:rPr>
              <a:t>Agrégation atomes
Classification lacune
Texte synthèse LLM</a:t>
            </a:r>
          </a:p>
        </p:txBody>
      </p:sp>
      <p:cxnSp>
        <p:nvCxnSpPr>
          <p:cNvPr id="29" name="Connector 28"/>
          <p:cNvCxnSpPr/>
          <p:nvPr/>
        </p:nvCxnSpPr>
        <p:spPr>
          <a:xfrm>
            <a:off x="7991856" y="3108960"/>
            <a:ext cx="146304"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165592" y="914400"/>
            <a:ext cx="1737360" cy="438912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165592" y="914400"/>
            <a:ext cx="1737360" cy="7772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229600"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7AE60"/>
                </a:solidFill>
              </a:rPr>
              <a:t>05</a:t>
            </a:r>
          </a:p>
        </p:txBody>
      </p:sp>
      <p:sp>
        <p:nvSpPr>
          <p:cNvPr id="33" name="TextBox 32"/>
          <p:cNvSpPr txBox="1"/>
          <p:nvPr/>
        </p:nvSpPr>
        <p:spPr>
          <a:xfrm>
            <a:off x="8659368" y="1024128"/>
            <a:ext cx="1188720" cy="594360"/>
          </a:xfrm>
          <a:prstGeom prst="rect">
            <a:avLst/>
          </a:prstGeom>
          <a:noFill/>
        </p:spPr>
        <p:txBody>
          <a:bodyPr wrap="square">
            <a:spAutoFit/>
          </a:bodyPr>
          <a:lstStyle/>
          <a:p>
            <a:pPr algn="l"/>
            <a:r>
              <a:rPr sz="1100" b="1" i="0">
                <a:solidFill>
                  <a:srgbClr val="FFFFFF"/>
                </a:solidFill>
              </a:rPr>
              <a:t>Workbook Excel</a:t>
            </a:r>
          </a:p>
        </p:txBody>
      </p:sp>
      <p:sp>
        <p:nvSpPr>
          <p:cNvPr id="34" name="TextBox 33"/>
          <p:cNvSpPr txBox="1"/>
          <p:nvPr/>
        </p:nvSpPr>
        <p:spPr>
          <a:xfrm>
            <a:off x="8275320" y="1828800"/>
            <a:ext cx="1572768" cy="3291840"/>
          </a:xfrm>
          <a:prstGeom prst="rect">
            <a:avLst/>
          </a:prstGeom>
          <a:noFill/>
        </p:spPr>
        <p:txBody>
          <a:bodyPr wrap="square">
            <a:spAutoFit/>
          </a:bodyPr>
          <a:lstStyle/>
          <a:p>
            <a:pPr algn="l"/>
            <a:r>
              <a:rPr sz="950" b="0" i="0">
                <a:solidFill>
                  <a:srgbClr val="4A4A6A"/>
                </a:solidFill>
              </a:rPr>
              <a:t>8 onglets
Dashboard KPIs
Piste d'évidence</a:t>
            </a:r>
          </a:p>
        </p:txBody>
      </p:sp>
      <p:cxnSp>
        <p:nvCxnSpPr>
          <p:cNvPr id="35" name="Connector 34"/>
          <p:cNvCxnSpPr/>
          <p:nvPr/>
        </p:nvCxnSpPr>
        <p:spPr>
          <a:xfrm>
            <a:off x="9930384" y="3108960"/>
            <a:ext cx="146304"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104120" y="914400"/>
            <a:ext cx="1737360" cy="4389120"/>
          </a:xfrm>
          <a:prstGeom prst="roundRect">
            <a:avLst/>
          </a:prstGeom>
          <a:solidFill>
            <a:srgbClr val="FFFFFF"/>
          </a:solidFill>
          <a:ln w="19050">
            <a:solidFill>
              <a:srgbClr val="4A4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0104120" y="914400"/>
            <a:ext cx="1737360" cy="777240"/>
          </a:xfrm>
          <a:prstGeom prst="roundRect">
            <a:avLst/>
          </a:prstGeom>
          <a:solidFill>
            <a:srgbClr val="4A4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0168128"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4A4A6A"/>
                </a:solidFill>
              </a:rPr>
              <a:t>06</a:t>
            </a:r>
          </a:p>
        </p:txBody>
      </p:sp>
      <p:sp>
        <p:nvSpPr>
          <p:cNvPr id="39" name="TextBox 38"/>
          <p:cNvSpPr txBox="1"/>
          <p:nvPr/>
        </p:nvSpPr>
        <p:spPr>
          <a:xfrm>
            <a:off x="10597896" y="1024128"/>
            <a:ext cx="1188720" cy="594360"/>
          </a:xfrm>
          <a:prstGeom prst="rect">
            <a:avLst/>
          </a:prstGeom>
          <a:noFill/>
        </p:spPr>
        <p:txBody>
          <a:bodyPr wrap="square">
            <a:spAutoFit/>
          </a:bodyPr>
          <a:lstStyle/>
          <a:p>
            <a:pPr algn="l"/>
            <a:r>
              <a:rPr sz="1100" b="1" i="0">
                <a:solidFill>
                  <a:srgbClr val="FFFFFF"/>
                </a:solidFill>
              </a:rPr>
              <a:t>Rapport analyse</a:t>
            </a:r>
          </a:p>
        </p:txBody>
      </p:sp>
      <p:sp>
        <p:nvSpPr>
          <p:cNvPr id="40" name="TextBox 39"/>
          <p:cNvSpPr txBox="1"/>
          <p:nvPr/>
        </p:nvSpPr>
        <p:spPr>
          <a:xfrm>
            <a:off x="10213848" y="1828800"/>
            <a:ext cx="1572768" cy="3291840"/>
          </a:xfrm>
          <a:prstGeom prst="rect">
            <a:avLst/>
          </a:prstGeom>
          <a:noFill/>
        </p:spPr>
        <p:txBody>
          <a:bodyPr wrap="square">
            <a:spAutoFit/>
          </a:bodyPr>
          <a:lstStyle/>
          <a:p>
            <a:pPr algn="l"/>
            <a:r>
              <a:rPr sz="950" b="0" i="0">
                <a:solidFill>
                  <a:srgbClr val="4A4A6A"/>
                </a:solidFill>
              </a:rPr>
              <a:t>Logs JSONL
Stats &amp; timing
Markdown report</a:t>
            </a:r>
          </a:p>
        </p:txBody>
      </p:sp>
      <p:sp>
        <p:nvSpPr>
          <p:cNvPr id="41" name="Rectangle 40"/>
          <p:cNvSpPr/>
          <p:nvPr/>
        </p:nvSpPr>
        <p:spPr>
          <a:xfrm>
            <a:off x="228600" y="5577840"/>
            <a:ext cx="5029200" cy="411480"/>
          </a:xfrm>
          <a:prstGeom prst="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0040" y="5596128"/>
            <a:ext cx="4846320" cy="347472"/>
          </a:xfrm>
          <a:prstGeom prst="rect">
            <a:avLst/>
          </a:prstGeom>
          <a:noFill/>
        </p:spPr>
        <p:txBody>
          <a:bodyPr wrap="square">
            <a:spAutoFit/>
          </a:bodyPr>
          <a:lstStyle/>
          <a:p>
            <a:pPr algn="l"/>
            <a:r>
              <a:rPr sz="850" b="0" i="0">
                <a:solidFill>
                  <a:srgbClr val="1E3A5F"/>
                </a:solidFill>
              </a:rPr>
              <a:t>ENTRÉES  :  Framework A (xlsx)   ·   Framework B (xlsx)   ·   Guidelines RAG (pdf/txt/md)</a:t>
            </a:r>
          </a:p>
        </p:txBody>
      </p:sp>
      <p:sp>
        <p:nvSpPr>
          <p:cNvPr id="43" name="Rectangle 42"/>
          <p:cNvSpPr/>
          <p:nvPr/>
        </p:nvSpPr>
        <p:spPr>
          <a:xfrm>
            <a:off x="6858000" y="5577840"/>
            <a:ext cx="5120640" cy="411480"/>
          </a:xfrm>
          <a:prstGeom prst="rect">
            <a:avLst/>
          </a:prstGeom>
          <a:solidFill>
            <a:srgbClr val="EBF9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49440" y="5596128"/>
            <a:ext cx="4937760" cy="347472"/>
          </a:xfrm>
          <a:prstGeom prst="rect">
            <a:avLst/>
          </a:prstGeom>
          <a:noFill/>
        </p:spPr>
        <p:txBody>
          <a:bodyPr wrap="square">
            <a:spAutoFit/>
          </a:bodyPr>
          <a:lstStyle/>
          <a:p>
            <a:pPr algn="l"/>
            <a:r>
              <a:rPr sz="850" b="0" i="0">
                <a:solidFill>
                  <a:srgbClr val="1A5C32"/>
                </a:solidFill>
              </a:rPr>
              <a:t>SORTIES  :  mapping_{FrA}_{FrB}_{date}.xlsx   ·   run_{...}.jsonl   ·   log_analysis.md</a:t>
            </a:r>
          </a:p>
        </p:txBody>
      </p:sp>
      <p:sp>
        <p:nvSpPr>
          <p:cNvPr id="45" name="Rectangle 44"/>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5760" y="6400800"/>
            <a:ext cx="7315200" cy="365760"/>
          </a:xfrm>
          <a:prstGeom prst="rect">
            <a:avLst/>
          </a:prstGeom>
          <a:noFill/>
        </p:spPr>
        <p:txBody>
          <a:bodyPr wrap="square">
            <a:spAutoFit/>
          </a:bodyPr>
          <a:lstStyle/>
          <a:p>
            <a:pPr algn="l"/>
            <a:r>
              <a:rPr sz="900" b="0" i="0">
                <a:solidFill>
                  <a:srgbClr val="AAAAAA"/>
                </a:solidFill>
              </a:rPr>
              <a:t>Regulatory Framework Mapper  |  Architecture 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0058400" cy="457200"/>
          </a:xfrm>
          <a:prstGeom prst="rect">
            <a:avLst/>
          </a:prstGeom>
          <a:noFill/>
        </p:spPr>
        <p:txBody>
          <a:bodyPr wrap="square">
            <a:spAutoFit/>
          </a:bodyPr>
          <a:lstStyle/>
          <a:p>
            <a:pPr algn="l"/>
            <a:r>
              <a:rPr sz="1800" b="1" i="0">
                <a:solidFill>
                  <a:srgbClr val="FFFFFF"/>
                </a:solidFill>
              </a:rPr>
              <a:t>Pipeline détaillé — du Framework source à l'Excel de sortie</a:t>
            </a:r>
          </a:p>
        </p:txBody>
      </p:sp>
      <p:sp>
        <p:nvSpPr>
          <p:cNvPr id="6" name="Rounded Rectangle 5"/>
          <p:cNvSpPr/>
          <p:nvPr/>
        </p:nvSpPr>
        <p:spPr>
          <a:xfrm>
            <a:off x="338328" y="795528"/>
            <a:ext cx="1801368" cy="502920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38328" y="795528"/>
            <a:ext cx="1801368" cy="749808"/>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38328" y="1271016"/>
            <a:ext cx="1801368" cy="274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02336" y="886968"/>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E3A5F"/>
                </a:solidFill>
              </a:rPr>
              <a:t>01</a:t>
            </a:r>
          </a:p>
        </p:txBody>
      </p:sp>
      <p:sp>
        <p:nvSpPr>
          <p:cNvPr id="10" name="TextBox 9"/>
          <p:cNvSpPr txBox="1"/>
          <p:nvPr/>
        </p:nvSpPr>
        <p:spPr>
          <a:xfrm>
            <a:off x="841248" y="905256"/>
            <a:ext cx="1252728" cy="246221"/>
          </a:xfrm>
          <a:prstGeom prst="rect">
            <a:avLst/>
          </a:prstGeom>
          <a:noFill/>
        </p:spPr>
        <p:txBody>
          <a:bodyPr wrap="square">
            <a:spAutoFit/>
          </a:bodyPr>
          <a:lstStyle/>
          <a:p>
            <a:r>
              <a:rPr lang="en-US" sz="1000" b="1" dirty="0">
                <a:solidFill>
                  <a:srgbClr val="FFFFFF"/>
                </a:solidFill>
              </a:rPr>
              <a:t>Pre-treatment</a:t>
            </a:r>
            <a:endParaRPr sz="1000" b="1" i="0" dirty="0">
              <a:solidFill>
                <a:srgbClr val="FFFFFF"/>
              </a:solidFill>
            </a:endParaRPr>
          </a:p>
        </p:txBody>
      </p:sp>
      <p:sp>
        <p:nvSpPr>
          <p:cNvPr id="11" name="Rectangle 10"/>
          <p:cNvSpPr/>
          <p:nvPr/>
        </p:nvSpPr>
        <p:spPr>
          <a:xfrm>
            <a:off x="338328" y="1545336"/>
            <a:ext cx="1801368" cy="256032"/>
          </a:xfrm>
          <a:prstGeom prst="rect">
            <a:avLst/>
          </a:prstGeom>
          <a:solidFill>
            <a:srgbClr val="E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2336" y="1563624"/>
            <a:ext cx="1691640" cy="201168"/>
          </a:xfrm>
          <a:prstGeom prst="rect">
            <a:avLst/>
          </a:prstGeom>
          <a:noFill/>
        </p:spPr>
        <p:txBody>
          <a:bodyPr wrap="square">
            <a:spAutoFit/>
          </a:bodyPr>
          <a:lstStyle/>
          <a:p>
            <a:pPr algn="l"/>
            <a:r>
              <a:rPr sz="720" b="0" i="1">
                <a:solidFill>
                  <a:srgbClr val="1E3A5F"/>
                </a:solidFill>
              </a:rPr>
              <a:t>preprocessor.py  ·  embedder.py</a:t>
            </a:r>
          </a:p>
        </p:txBody>
      </p:sp>
      <p:sp>
        <p:nvSpPr>
          <p:cNvPr id="13" name="TextBox 12"/>
          <p:cNvSpPr txBox="1"/>
          <p:nvPr/>
        </p:nvSpPr>
        <p:spPr>
          <a:xfrm>
            <a:off x="411480" y="1856232"/>
            <a:ext cx="1673352" cy="2743200"/>
          </a:xfrm>
          <a:prstGeom prst="rect">
            <a:avLst/>
          </a:prstGeom>
          <a:noFill/>
        </p:spPr>
        <p:txBody>
          <a:bodyPr wrap="square">
            <a:spAutoFit/>
          </a:bodyPr>
          <a:lstStyle/>
          <a:p>
            <a:pPr algn="l"/>
            <a:r>
              <a:rPr sz="800" b="0" i="0">
                <a:solidFill>
                  <a:srgbClr val="1A1A2E"/>
                </a:solidFill>
              </a:rPr>
              <a:t>Lecture onglet Excel (colonnes configurables)
Mapping ID / Title / Requirement / Category
Normalisation → 13 catégories ENISA
  règles déterministes + LLM en fallback
Atomisation LLM (obligations unitaires)
Extraction 9 champs structurés par atome
  actor · action · object · condition
  deadline · evidence · obligation_type
Embeddings text-embedding-3-large (512d)</a:t>
            </a:r>
          </a:p>
        </p:txBody>
      </p:sp>
      <p:sp>
        <p:nvSpPr>
          <p:cNvPr id="14" name="Rectangle 13"/>
          <p:cNvSpPr/>
          <p:nvPr/>
        </p:nvSpPr>
        <p:spPr>
          <a:xfrm>
            <a:off x="429768" y="4672584"/>
            <a:ext cx="1618488"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2336" y="4727448"/>
            <a:ext cx="1691640" cy="475488"/>
          </a:xfrm>
          <a:prstGeom prst="rect">
            <a:avLst/>
          </a:prstGeom>
          <a:solidFill>
            <a:srgbClr val="F0F4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 y="4754880"/>
            <a:ext cx="1618488" cy="402336"/>
          </a:xfrm>
          <a:prstGeom prst="rect">
            <a:avLst/>
          </a:prstGeom>
          <a:noFill/>
        </p:spPr>
        <p:txBody>
          <a:bodyPr wrap="square">
            <a:spAutoFit/>
          </a:bodyPr>
          <a:lstStyle/>
          <a:p>
            <a:pPr algn="l"/>
            <a:r>
              <a:rPr sz="700" b="0" i="1">
                <a:solidFill>
                  <a:srgbClr val="1E3A5F"/>
                </a:solidFill>
              </a:rPr>
              <a:t>atomic_requirements_with_fields.json</a:t>
            </a:r>
          </a:p>
        </p:txBody>
      </p:sp>
      <p:sp>
        <p:nvSpPr>
          <p:cNvPr id="17" name="Rectangle 16"/>
          <p:cNvSpPr/>
          <p:nvPr/>
        </p:nvSpPr>
        <p:spPr>
          <a:xfrm>
            <a:off x="402336" y="5276088"/>
            <a:ext cx="169164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9768" y="5303520"/>
            <a:ext cx="1636776" cy="310896"/>
          </a:xfrm>
          <a:prstGeom prst="rect">
            <a:avLst/>
          </a:prstGeom>
          <a:noFill/>
        </p:spPr>
        <p:txBody>
          <a:bodyPr wrap="square">
            <a:spAutoFit/>
          </a:bodyPr>
          <a:lstStyle/>
          <a:p>
            <a:pPr algn="ctr"/>
            <a:r>
              <a:rPr sz="700" b="1" i="0">
                <a:solidFill>
                  <a:srgbClr val="FFFFFF"/>
                </a:solidFill>
              </a:rPr>
              <a:t>MAX_REQ • STRONG≥0.85 • BATCH=64</a:t>
            </a:r>
          </a:p>
        </p:txBody>
      </p:sp>
      <p:cxnSp>
        <p:nvCxnSpPr>
          <p:cNvPr id="19" name="Connector 18"/>
          <p:cNvCxnSpPr/>
          <p:nvPr/>
        </p:nvCxnSpPr>
        <p:spPr>
          <a:xfrm>
            <a:off x="2148840" y="3310128"/>
            <a:ext cx="132588" cy="0"/>
          </a:xfrm>
          <a:prstGeom prst="line">
            <a:avLst/>
          </a:prstGeom>
          <a:ln w="31750">
            <a:solidFill>
              <a:srgbClr val="4A4A6A"/>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290572" y="795528"/>
            <a:ext cx="1801368" cy="5029200"/>
          </a:xfrm>
          <a:prstGeom prst="round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290572" y="795528"/>
            <a:ext cx="1801368" cy="749808"/>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290572" y="1271016"/>
            <a:ext cx="1801368" cy="274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354580" y="886968"/>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E86AB"/>
                </a:solidFill>
              </a:rPr>
              <a:t>02</a:t>
            </a:r>
          </a:p>
        </p:txBody>
      </p:sp>
      <p:sp>
        <p:nvSpPr>
          <p:cNvPr id="24" name="TextBox 23"/>
          <p:cNvSpPr txBox="1"/>
          <p:nvPr/>
        </p:nvSpPr>
        <p:spPr>
          <a:xfrm>
            <a:off x="2793492" y="905256"/>
            <a:ext cx="1252728" cy="400110"/>
          </a:xfrm>
          <a:prstGeom prst="rect">
            <a:avLst/>
          </a:prstGeom>
          <a:noFill/>
        </p:spPr>
        <p:txBody>
          <a:bodyPr wrap="square">
            <a:spAutoFit/>
          </a:bodyPr>
          <a:lstStyle/>
          <a:p>
            <a:r>
              <a:rPr lang="en-US" sz="1000" b="1" dirty="0">
                <a:solidFill>
                  <a:srgbClr val="FFFFFF"/>
                </a:solidFill>
              </a:rPr>
              <a:t>Directional Mapping</a:t>
            </a:r>
            <a:endParaRPr sz="1000" b="1" i="0" dirty="0">
              <a:solidFill>
                <a:srgbClr val="FFFFFF"/>
              </a:solidFill>
            </a:endParaRPr>
          </a:p>
        </p:txBody>
      </p:sp>
      <p:sp>
        <p:nvSpPr>
          <p:cNvPr id="25" name="Rectangle 24"/>
          <p:cNvSpPr/>
          <p:nvPr/>
        </p:nvSpPr>
        <p:spPr>
          <a:xfrm>
            <a:off x="2290572" y="1545336"/>
            <a:ext cx="1801368" cy="256032"/>
          </a:xfrm>
          <a:prstGeom prst="rect">
            <a:avLst/>
          </a:prstGeom>
          <a:solidFill>
            <a:srgbClr val="E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354580" y="1563624"/>
            <a:ext cx="1691640" cy="201168"/>
          </a:xfrm>
          <a:prstGeom prst="rect">
            <a:avLst/>
          </a:prstGeom>
          <a:noFill/>
        </p:spPr>
        <p:txBody>
          <a:bodyPr wrap="square">
            <a:spAutoFit/>
          </a:bodyPr>
          <a:lstStyle/>
          <a:p>
            <a:pPr algn="l"/>
            <a:r>
              <a:rPr sz="720" b="0" i="1">
                <a:solidFill>
                  <a:srgbClr val="1E3A5F"/>
                </a:solidFill>
              </a:rPr>
              <a:t>matcher.py  ·  llm_evaluator.py</a:t>
            </a:r>
          </a:p>
        </p:txBody>
      </p:sp>
      <p:sp>
        <p:nvSpPr>
          <p:cNvPr id="27" name="TextBox 26"/>
          <p:cNvSpPr txBox="1"/>
          <p:nvPr/>
        </p:nvSpPr>
        <p:spPr>
          <a:xfrm>
            <a:off x="2363724" y="1856232"/>
            <a:ext cx="1673352" cy="2743200"/>
          </a:xfrm>
          <a:prstGeom prst="rect">
            <a:avLst/>
          </a:prstGeom>
          <a:noFill/>
        </p:spPr>
        <p:txBody>
          <a:bodyPr wrap="square">
            <a:spAutoFit/>
          </a:bodyPr>
          <a:lstStyle/>
          <a:p>
            <a:pPr algn="l"/>
            <a:r>
              <a:rPr sz="800" b="0" i="0">
                <a:solidFill>
                  <a:srgbClr val="1A1A2E"/>
                </a:solidFill>
              </a:rPr>
              <a:t>Score sémantique cosinus (×0.45)
Score structuré — 5 champs (×0.30)
Gate action/objet anti-FP (×0.20)
Control-type gate (×0.05)
Prior catégorie ENISA boost (×0.03)
Fusion RRF K=60 → score hybride
PROMPT_PAIRWISE_MATCH (Top-K candidats)
Verdict : full / mostly / partial / gap
Self-review optionnel (conf &lt; seuil)</a:t>
            </a:r>
          </a:p>
        </p:txBody>
      </p:sp>
      <p:sp>
        <p:nvSpPr>
          <p:cNvPr id="28" name="Rectangle 27"/>
          <p:cNvSpPr/>
          <p:nvPr/>
        </p:nvSpPr>
        <p:spPr>
          <a:xfrm>
            <a:off x="2382012" y="4672584"/>
            <a:ext cx="1618488"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354580" y="4727448"/>
            <a:ext cx="1691640" cy="475488"/>
          </a:xfrm>
          <a:prstGeom prst="rect">
            <a:avLst/>
          </a:prstGeom>
          <a:solidFill>
            <a:srgbClr val="F0F4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391156" y="4754880"/>
            <a:ext cx="1618488" cy="402336"/>
          </a:xfrm>
          <a:prstGeom prst="rect">
            <a:avLst/>
          </a:prstGeom>
          <a:noFill/>
        </p:spPr>
        <p:txBody>
          <a:bodyPr wrap="square">
            <a:spAutoFit/>
          </a:bodyPr>
          <a:lstStyle/>
          <a:p>
            <a:pPr algn="l"/>
            <a:r>
              <a:rPr sz="700" b="0" i="1">
                <a:solidFill>
                  <a:srgbClr val="1E3A5F"/>
                </a:solidFill>
              </a:rPr>
              <a:t>mapping_decisions_cache.jsonl</a:t>
            </a:r>
          </a:p>
        </p:txBody>
      </p:sp>
      <p:sp>
        <p:nvSpPr>
          <p:cNvPr id="31" name="Rectangle 30"/>
          <p:cNvSpPr/>
          <p:nvPr/>
        </p:nvSpPr>
        <p:spPr>
          <a:xfrm>
            <a:off x="2354580" y="5276088"/>
            <a:ext cx="1691640" cy="3657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382012" y="5303520"/>
            <a:ext cx="1636776" cy="310896"/>
          </a:xfrm>
          <a:prstGeom prst="rect">
            <a:avLst/>
          </a:prstGeom>
          <a:noFill/>
        </p:spPr>
        <p:txBody>
          <a:bodyPr wrap="square">
            <a:spAutoFit/>
          </a:bodyPr>
          <a:lstStyle/>
          <a:p>
            <a:pPr algn="ctr"/>
            <a:r>
              <a:rPr sz="700" b="1" i="0">
                <a:solidFill>
                  <a:srgbClr val="FFFFFF"/>
                </a:solidFill>
              </a:rPr>
              <a:t>SEM=0.45 • TOP_K=6 • MIN=0.04</a:t>
            </a:r>
          </a:p>
        </p:txBody>
      </p:sp>
      <p:cxnSp>
        <p:nvCxnSpPr>
          <p:cNvPr id="33" name="Connector 32"/>
          <p:cNvCxnSpPr/>
          <p:nvPr/>
        </p:nvCxnSpPr>
        <p:spPr>
          <a:xfrm>
            <a:off x="4101084" y="3310128"/>
            <a:ext cx="132588" cy="0"/>
          </a:xfrm>
          <a:prstGeom prst="line">
            <a:avLst/>
          </a:prstGeom>
          <a:ln w="31750">
            <a:solidFill>
              <a:srgbClr val="4A4A6A"/>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242816" y="795528"/>
            <a:ext cx="1801368" cy="5029200"/>
          </a:xfrm>
          <a:prstGeom prst="round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242816" y="795528"/>
            <a:ext cx="1801368" cy="749808"/>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42816" y="1271016"/>
            <a:ext cx="1801368" cy="27432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306824" y="886968"/>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E63312"/>
                </a:solidFill>
              </a:rPr>
              <a:t>03</a:t>
            </a:r>
          </a:p>
        </p:txBody>
      </p:sp>
      <p:sp>
        <p:nvSpPr>
          <p:cNvPr id="38" name="TextBox 37"/>
          <p:cNvSpPr txBox="1"/>
          <p:nvPr/>
        </p:nvSpPr>
        <p:spPr>
          <a:xfrm>
            <a:off x="4745736" y="905256"/>
            <a:ext cx="1252728" cy="246221"/>
          </a:xfrm>
          <a:prstGeom prst="rect">
            <a:avLst/>
          </a:prstGeom>
          <a:noFill/>
        </p:spPr>
        <p:txBody>
          <a:bodyPr wrap="square">
            <a:spAutoFit/>
          </a:bodyPr>
          <a:lstStyle/>
          <a:p>
            <a:r>
              <a:rPr lang="en-US" sz="1000" b="1" dirty="0">
                <a:solidFill>
                  <a:srgbClr val="FFFFFF"/>
                </a:solidFill>
              </a:rPr>
              <a:t>Final Judge</a:t>
            </a:r>
            <a:endParaRPr sz="1000" b="1" i="0" dirty="0">
              <a:solidFill>
                <a:srgbClr val="FFFFFF"/>
              </a:solidFill>
            </a:endParaRPr>
          </a:p>
        </p:txBody>
      </p:sp>
      <p:sp>
        <p:nvSpPr>
          <p:cNvPr id="39" name="Rectangle 38"/>
          <p:cNvSpPr/>
          <p:nvPr/>
        </p:nvSpPr>
        <p:spPr>
          <a:xfrm>
            <a:off x="4242816" y="1545336"/>
            <a:ext cx="1801368" cy="256032"/>
          </a:xfrm>
          <a:prstGeom prst="rect">
            <a:avLst/>
          </a:prstGeom>
          <a:solidFill>
            <a:srgbClr val="E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306824" y="1563624"/>
            <a:ext cx="1691640" cy="201168"/>
          </a:xfrm>
          <a:prstGeom prst="rect">
            <a:avLst/>
          </a:prstGeom>
          <a:noFill/>
        </p:spPr>
        <p:txBody>
          <a:bodyPr wrap="square">
            <a:spAutoFit/>
          </a:bodyPr>
          <a:lstStyle/>
          <a:p>
            <a:pPr algn="l"/>
            <a:r>
              <a:rPr sz="720" b="0" i="1">
                <a:solidFill>
                  <a:srgbClr val="1E3A5F"/>
                </a:solidFill>
              </a:rPr>
              <a:t>final_judge.py</a:t>
            </a:r>
          </a:p>
        </p:txBody>
      </p:sp>
      <p:sp>
        <p:nvSpPr>
          <p:cNvPr id="41" name="TextBox 40"/>
          <p:cNvSpPr txBox="1"/>
          <p:nvPr/>
        </p:nvSpPr>
        <p:spPr>
          <a:xfrm>
            <a:off x="4315968" y="1856232"/>
            <a:ext cx="1673352" cy="2743200"/>
          </a:xfrm>
          <a:prstGeom prst="rect">
            <a:avLst/>
          </a:prstGeom>
          <a:noFill/>
        </p:spPr>
        <p:txBody>
          <a:bodyPr wrap="square">
            <a:spAutoFit/>
          </a:bodyPr>
          <a:lstStyle/>
          <a:p>
            <a:pPr algn="l"/>
            <a:r>
              <a:rPr sz="800" b="0" i="0">
                <a:solidFill>
                  <a:srgbClr val="1A1A2E"/>
                </a:solidFill>
              </a:rPr>
              <a:t>Groupement décisions / catégorie ENISA
Batch 25 → PROMPT_FINAL_JUDGE
Mode ambiguous_only (conf &lt; 0.80)
Correction FP : exact → partial
Correction FN : true_gap → partial
Scores dimensionnels affinés
Journalisation des corrections
</a:t>
            </a:r>
          </a:p>
        </p:txBody>
      </p:sp>
      <p:sp>
        <p:nvSpPr>
          <p:cNvPr id="42" name="Rectangle 41"/>
          <p:cNvSpPr/>
          <p:nvPr/>
        </p:nvSpPr>
        <p:spPr>
          <a:xfrm>
            <a:off x="4334256" y="4672584"/>
            <a:ext cx="1618488"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306824" y="4727448"/>
            <a:ext cx="1691640" cy="475488"/>
          </a:xfrm>
          <a:prstGeom prst="rect">
            <a:avLst/>
          </a:prstGeom>
          <a:solidFill>
            <a:srgbClr val="F0F4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343400" y="4754880"/>
            <a:ext cx="1618488" cy="402336"/>
          </a:xfrm>
          <a:prstGeom prst="rect">
            <a:avLst/>
          </a:prstGeom>
          <a:noFill/>
        </p:spPr>
        <p:txBody>
          <a:bodyPr wrap="square">
            <a:spAutoFit/>
          </a:bodyPr>
          <a:lstStyle/>
          <a:p>
            <a:pPr algn="l"/>
            <a:r>
              <a:rPr sz="700" b="0" i="1">
                <a:solidFill>
                  <a:srgbClr val="1E3A5F"/>
                </a:solidFill>
              </a:rPr>
              <a:t>décisions révisées (en mémoire)</a:t>
            </a:r>
          </a:p>
        </p:txBody>
      </p:sp>
      <p:sp>
        <p:nvSpPr>
          <p:cNvPr id="45" name="Rectangle 44"/>
          <p:cNvSpPr/>
          <p:nvPr/>
        </p:nvSpPr>
        <p:spPr>
          <a:xfrm>
            <a:off x="4306824" y="5276088"/>
            <a:ext cx="1691640" cy="36576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334256" y="5303520"/>
            <a:ext cx="1636776" cy="310896"/>
          </a:xfrm>
          <a:prstGeom prst="rect">
            <a:avLst/>
          </a:prstGeom>
          <a:noFill/>
        </p:spPr>
        <p:txBody>
          <a:bodyPr wrap="square">
            <a:spAutoFit/>
          </a:bodyPr>
          <a:lstStyle/>
          <a:p>
            <a:pPr algn="ctr"/>
            <a:r>
              <a:rPr sz="700" b="1" i="0">
                <a:solidFill>
                  <a:srgbClr val="FFFFFF"/>
                </a:solidFill>
              </a:rPr>
              <a:t>BATCH=25 • AMBIGUOUS_ONLY • CONF=0.80</a:t>
            </a:r>
          </a:p>
        </p:txBody>
      </p:sp>
      <p:cxnSp>
        <p:nvCxnSpPr>
          <p:cNvPr id="47" name="Connector 46"/>
          <p:cNvCxnSpPr/>
          <p:nvPr/>
        </p:nvCxnSpPr>
        <p:spPr>
          <a:xfrm>
            <a:off x="6053328" y="3310128"/>
            <a:ext cx="132588" cy="0"/>
          </a:xfrm>
          <a:prstGeom prst="line">
            <a:avLst/>
          </a:prstGeom>
          <a:ln w="31750">
            <a:solidFill>
              <a:srgbClr val="4A4A6A"/>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195060" y="795528"/>
            <a:ext cx="1801368" cy="5029200"/>
          </a:xfrm>
          <a:prstGeom prst="roundRect">
            <a:avLst/>
          </a:prstGeom>
          <a:solidFill>
            <a:srgbClr val="FFFFFF"/>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195060" y="795528"/>
            <a:ext cx="1801368" cy="749808"/>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195060" y="1271016"/>
            <a:ext cx="1801368" cy="2743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6259068" y="886968"/>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8E44AD"/>
                </a:solidFill>
              </a:rPr>
              <a:t>04</a:t>
            </a:r>
          </a:p>
        </p:txBody>
      </p:sp>
      <p:sp>
        <p:nvSpPr>
          <p:cNvPr id="52" name="TextBox 51"/>
          <p:cNvSpPr txBox="1"/>
          <p:nvPr/>
        </p:nvSpPr>
        <p:spPr>
          <a:xfrm>
            <a:off x="6697980" y="905256"/>
            <a:ext cx="1252728" cy="246221"/>
          </a:xfrm>
          <a:prstGeom prst="rect">
            <a:avLst/>
          </a:prstGeom>
          <a:noFill/>
        </p:spPr>
        <p:txBody>
          <a:bodyPr wrap="square">
            <a:spAutoFit/>
          </a:bodyPr>
          <a:lstStyle/>
          <a:p>
            <a:r>
              <a:rPr lang="en-US" sz="1000" b="1" dirty="0">
                <a:solidFill>
                  <a:srgbClr val="FFFFFF"/>
                </a:solidFill>
              </a:rPr>
              <a:t>Parent summary</a:t>
            </a:r>
            <a:endParaRPr sz="1000" b="1" i="0" dirty="0">
              <a:solidFill>
                <a:srgbClr val="FFFFFF"/>
              </a:solidFill>
            </a:endParaRPr>
          </a:p>
        </p:txBody>
      </p:sp>
      <p:sp>
        <p:nvSpPr>
          <p:cNvPr id="53" name="Rectangle 52"/>
          <p:cNvSpPr/>
          <p:nvPr/>
        </p:nvSpPr>
        <p:spPr>
          <a:xfrm>
            <a:off x="6195060" y="1545336"/>
            <a:ext cx="1801368" cy="256032"/>
          </a:xfrm>
          <a:prstGeom prst="rect">
            <a:avLst/>
          </a:prstGeom>
          <a:solidFill>
            <a:srgbClr val="E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259068" y="1563624"/>
            <a:ext cx="1691640" cy="201168"/>
          </a:xfrm>
          <a:prstGeom prst="rect">
            <a:avLst/>
          </a:prstGeom>
          <a:noFill/>
        </p:spPr>
        <p:txBody>
          <a:bodyPr wrap="square">
            <a:spAutoFit/>
          </a:bodyPr>
          <a:lstStyle/>
          <a:p>
            <a:pPr algn="l"/>
            <a:r>
              <a:rPr sz="720" b="0" i="1">
                <a:solidFill>
                  <a:srgbClr val="1E3A5F"/>
                </a:solidFill>
              </a:rPr>
              <a:t>parent_gap_synthesis.py</a:t>
            </a:r>
          </a:p>
        </p:txBody>
      </p:sp>
      <p:sp>
        <p:nvSpPr>
          <p:cNvPr id="55" name="TextBox 54"/>
          <p:cNvSpPr txBox="1"/>
          <p:nvPr/>
        </p:nvSpPr>
        <p:spPr>
          <a:xfrm>
            <a:off x="6268212" y="1856232"/>
            <a:ext cx="1673352" cy="2743200"/>
          </a:xfrm>
          <a:prstGeom prst="rect">
            <a:avLst/>
          </a:prstGeom>
          <a:noFill/>
        </p:spPr>
        <p:txBody>
          <a:bodyPr wrap="square">
            <a:spAutoFit/>
          </a:bodyPr>
          <a:lstStyle/>
          <a:p>
            <a:pPr algn="l"/>
            <a:r>
              <a:rPr sz="800" b="0" i="0">
                <a:solidFill>
                  <a:srgbClr val="1A1A2E"/>
                </a:solidFill>
              </a:rPr>
              <a:t>Agrégation atomes → exigence parente
  [A1:full]+[A2:partial] → partial_gap
6 types de lacune parent classifiés :
  none · partial_gap · true_gap
  indirect_support · impl_detail · conflict
Synthèse textuelle lacune via LLM
Dédoublonnage items par dimension
Cache synthèse JSONL (thread-safe)
</a:t>
            </a:r>
          </a:p>
        </p:txBody>
      </p:sp>
      <p:sp>
        <p:nvSpPr>
          <p:cNvPr id="56" name="Rectangle 55"/>
          <p:cNvSpPr/>
          <p:nvPr/>
        </p:nvSpPr>
        <p:spPr>
          <a:xfrm>
            <a:off x="6286500" y="4672584"/>
            <a:ext cx="1618488"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259068" y="4727448"/>
            <a:ext cx="1691640" cy="475488"/>
          </a:xfrm>
          <a:prstGeom prst="rect">
            <a:avLst/>
          </a:prstGeom>
          <a:solidFill>
            <a:srgbClr val="F0F4FF"/>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295644" y="4754880"/>
            <a:ext cx="1618488" cy="402336"/>
          </a:xfrm>
          <a:prstGeom prst="rect">
            <a:avLst/>
          </a:prstGeom>
          <a:noFill/>
        </p:spPr>
        <p:txBody>
          <a:bodyPr wrap="square">
            <a:spAutoFit/>
          </a:bodyPr>
          <a:lstStyle/>
          <a:p>
            <a:pPr algn="l"/>
            <a:r>
              <a:rPr sz="700" b="0" i="1">
                <a:solidFill>
                  <a:srgbClr val="1E3A5F"/>
                </a:solidFill>
              </a:rPr>
              <a:t>parent_gap_synthesis_cache.jsonl</a:t>
            </a:r>
          </a:p>
        </p:txBody>
      </p:sp>
      <p:sp>
        <p:nvSpPr>
          <p:cNvPr id="59" name="Rectangle 58"/>
          <p:cNvSpPr/>
          <p:nvPr/>
        </p:nvSpPr>
        <p:spPr>
          <a:xfrm>
            <a:off x="6259068" y="5276088"/>
            <a:ext cx="1691640" cy="3657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86500" y="5303520"/>
            <a:ext cx="1636776" cy="310896"/>
          </a:xfrm>
          <a:prstGeom prst="rect">
            <a:avLst/>
          </a:prstGeom>
          <a:noFill/>
        </p:spPr>
        <p:txBody>
          <a:bodyPr wrap="square">
            <a:spAutoFit/>
          </a:bodyPr>
          <a:lstStyle/>
          <a:p>
            <a:pPr algn="ctr"/>
            <a:r>
              <a:rPr sz="700" b="1" i="0">
                <a:solidFill>
                  <a:srgbClr val="FFFFFF"/>
                </a:solidFill>
              </a:rPr>
              <a:t>SYNTHESIS_LLM • DEDUP dim.</a:t>
            </a:r>
          </a:p>
        </p:txBody>
      </p:sp>
      <p:cxnSp>
        <p:nvCxnSpPr>
          <p:cNvPr id="61" name="Connector 60"/>
          <p:cNvCxnSpPr/>
          <p:nvPr/>
        </p:nvCxnSpPr>
        <p:spPr>
          <a:xfrm>
            <a:off x="8005572" y="3310128"/>
            <a:ext cx="132588" cy="0"/>
          </a:xfrm>
          <a:prstGeom prst="line">
            <a:avLst/>
          </a:prstGeom>
          <a:ln w="31750">
            <a:solidFill>
              <a:srgbClr val="4A4A6A"/>
            </a:solidFill>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8147304" y="795528"/>
            <a:ext cx="1801368" cy="50292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8147304" y="795528"/>
            <a:ext cx="1801368" cy="749808"/>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8147304" y="1271016"/>
            <a:ext cx="1801368" cy="2743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8211312" y="886968"/>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7AE60"/>
                </a:solidFill>
              </a:rPr>
              <a:t>05</a:t>
            </a:r>
          </a:p>
        </p:txBody>
      </p:sp>
      <p:sp>
        <p:nvSpPr>
          <p:cNvPr id="66" name="TextBox 65"/>
          <p:cNvSpPr txBox="1"/>
          <p:nvPr/>
        </p:nvSpPr>
        <p:spPr>
          <a:xfrm>
            <a:off x="8650224" y="905256"/>
            <a:ext cx="1252728" cy="566928"/>
          </a:xfrm>
          <a:prstGeom prst="rect">
            <a:avLst/>
          </a:prstGeom>
          <a:noFill/>
        </p:spPr>
        <p:txBody>
          <a:bodyPr wrap="square">
            <a:spAutoFit/>
          </a:bodyPr>
          <a:lstStyle/>
          <a:p>
            <a:pPr algn="l"/>
            <a:r>
              <a:rPr sz="1000" b="1" i="0">
                <a:solidFill>
                  <a:srgbClr val="FFFFFF"/>
                </a:solidFill>
              </a:rPr>
              <a:t>Workbook Excel</a:t>
            </a:r>
          </a:p>
        </p:txBody>
      </p:sp>
      <p:sp>
        <p:nvSpPr>
          <p:cNvPr id="67" name="Rectangle 66"/>
          <p:cNvSpPr/>
          <p:nvPr/>
        </p:nvSpPr>
        <p:spPr>
          <a:xfrm>
            <a:off x="8147304" y="1545336"/>
            <a:ext cx="1801368" cy="256032"/>
          </a:xfrm>
          <a:prstGeom prst="rect">
            <a:avLst/>
          </a:prstGeom>
          <a:solidFill>
            <a:srgbClr val="E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11312" y="1563624"/>
            <a:ext cx="1691640" cy="201168"/>
          </a:xfrm>
          <a:prstGeom prst="rect">
            <a:avLst/>
          </a:prstGeom>
          <a:noFill/>
        </p:spPr>
        <p:txBody>
          <a:bodyPr wrap="square">
            <a:spAutoFit/>
          </a:bodyPr>
          <a:lstStyle/>
          <a:p>
            <a:pPr algn="l"/>
            <a:r>
              <a:rPr sz="720" b="0" i="1">
                <a:solidFill>
                  <a:srgbClr val="1E3A5F"/>
                </a:solidFill>
              </a:rPr>
              <a:t>output_writer.py</a:t>
            </a:r>
          </a:p>
        </p:txBody>
      </p:sp>
      <p:sp>
        <p:nvSpPr>
          <p:cNvPr id="69" name="TextBox 68"/>
          <p:cNvSpPr txBox="1"/>
          <p:nvPr/>
        </p:nvSpPr>
        <p:spPr>
          <a:xfrm>
            <a:off x="8220456" y="1856232"/>
            <a:ext cx="1673352" cy="2743200"/>
          </a:xfrm>
          <a:prstGeom prst="rect">
            <a:avLst/>
          </a:prstGeom>
          <a:noFill/>
        </p:spPr>
        <p:txBody>
          <a:bodyPr wrap="square">
            <a:spAutoFit/>
          </a:bodyPr>
          <a:lstStyle/>
          <a:p>
            <a:pPr algn="l"/>
            <a:r>
              <a:rPr sz="800" b="0" i="0">
                <a:solidFill>
                  <a:srgbClr val="1A1A2E"/>
                </a:solidFill>
              </a:rPr>
              <a:t>Onglet parent (12 colonnes structurées)
  Coverage Level · Gap · Priority
Onglets atomiques : scores dim. + rationale
Dashboard KPIs + graphiques auto
Coverage by Category (ENISA)
Category Quality diagnostics
Color scales + conditional formatting
Frozen headers + largeurs adaptées
Bidirectionnel : 8 onglets complets</a:t>
            </a:r>
          </a:p>
        </p:txBody>
      </p:sp>
      <p:sp>
        <p:nvSpPr>
          <p:cNvPr id="70" name="Rectangle 69"/>
          <p:cNvSpPr/>
          <p:nvPr/>
        </p:nvSpPr>
        <p:spPr>
          <a:xfrm>
            <a:off x="8238744" y="4672584"/>
            <a:ext cx="1618488"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8211312" y="4727448"/>
            <a:ext cx="1691640" cy="475488"/>
          </a:xfrm>
          <a:prstGeom prst="rect">
            <a:avLst/>
          </a:prstGeom>
          <a:solidFill>
            <a:srgbClr val="F0F4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247888" y="4754880"/>
            <a:ext cx="1618488" cy="402336"/>
          </a:xfrm>
          <a:prstGeom prst="rect">
            <a:avLst/>
          </a:prstGeom>
          <a:noFill/>
        </p:spPr>
        <p:txBody>
          <a:bodyPr wrap="square">
            <a:spAutoFit/>
          </a:bodyPr>
          <a:lstStyle/>
          <a:p>
            <a:pPr algn="l"/>
            <a:r>
              <a:rPr sz="700" b="0" i="1">
                <a:solidFill>
                  <a:srgbClr val="1E3A5F"/>
                </a:solidFill>
              </a:rPr>
              <a:t>mapping_{FrA}_{FrB}_{date}.xlsx</a:t>
            </a:r>
          </a:p>
        </p:txBody>
      </p:sp>
      <p:sp>
        <p:nvSpPr>
          <p:cNvPr id="73" name="Rectangle 72"/>
          <p:cNvSpPr/>
          <p:nvPr/>
        </p:nvSpPr>
        <p:spPr>
          <a:xfrm>
            <a:off x="8211312" y="5276088"/>
            <a:ext cx="1691640"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238744" y="5303520"/>
            <a:ext cx="1636776" cy="310896"/>
          </a:xfrm>
          <a:prstGeom prst="rect">
            <a:avLst/>
          </a:prstGeom>
          <a:noFill/>
        </p:spPr>
        <p:txBody>
          <a:bodyPr wrap="square">
            <a:spAutoFit/>
          </a:bodyPr>
          <a:lstStyle/>
          <a:p>
            <a:pPr algn="ctr"/>
            <a:r>
              <a:rPr sz="700" b="1" i="0">
                <a:solidFill>
                  <a:srgbClr val="FFFFFF"/>
                </a:solidFill>
              </a:rPr>
              <a:t>8 onglets • BIDIR optionnel</a:t>
            </a:r>
          </a:p>
        </p:txBody>
      </p:sp>
      <p:cxnSp>
        <p:nvCxnSpPr>
          <p:cNvPr id="75" name="Connector 74"/>
          <p:cNvCxnSpPr/>
          <p:nvPr/>
        </p:nvCxnSpPr>
        <p:spPr>
          <a:xfrm>
            <a:off x="9957816" y="3310128"/>
            <a:ext cx="132588" cy="0"/>
          </a:xfrm>
          <a:prstGeom prst="line">
            <a:avLst/>
          </a:prstGeom>
          <a:ln w="31750">
            <a:solidFill>
              <a:srgbClr val="4A4A6A"/>
            </a:solidFill>
          </a:ln>
        </p:spPr>
        <p:style>
          <a:lnRef idx="2">
            <a:schemeClr val="accent1"/>
          </a:lnRef>
          <a:fillRef idx="0">
            <a:schemeClr val="accent1"/>
          </a:fillRef>
          <a:effectRef idx="1">
            <a:schemeClr val="accent1"/>
          </a:effectRef>
          <a:fontRef idx="minor">
            <a:schemeClr val="tx1"/>
          </a:fontRef>
        </p:style>
      </p:cxnSp>
      <p:sp>
        <p:nvSpPr>
          <p:cNvPr id="76" name="Rounded Rectangle 75"/>
          <p:cNvSpPr/>
          <p:nvPr/>
        </p:nvSpPr>
        <p:spPr>
          <a:xfrm>
            <a:off x="10099548" y="795528"/>
            <a:ext cx="1801368" cy="5029200"/>
          </a:xfrm>
          <a:prstGeom prst="roundRect">
            <a:avLst/>
          </a:prstGeom>
          <a:solidFill>
            <a:srgbClr val="FFFFFF"/>
          </a:solidFill>
          <a:ln w="19050">
            <a:solidFill>
              <a:srgbClr val="4A4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10099548" y="795528"/>
            <a:ext cx="1801368" cy="749808"/>
          </a:xfrm>
          <a:prstGeom prst="roundRect">
            <a:avLst/>
          </a:prstGeom>
          <a:solidFill>
            <a:srgbClr val="4A4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099548" y="1271016"/>
            <a:ext cx="1801368" cy="274320"/>
          </a:xfrm>
          <a:prstGeom prst="rect">
            <a:avLst/>
          </a:prstGeom>
          <a:solidFill>
            <a:srgbClr val="4A4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10163556" y="886968"/>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4A4A6A"/>
                </a:solidFill>
              </a:rPr>
              <a:t>06</a:t>
            </a:r>
          </a:p>
        </p:txBody>
      </p:sp>
      <p:sp>
        <p:nvSpPr>
          <p:cNvPr id="80" name="TextBox 79"/>
          <p:cNvSpPr txBox="1"/>
          <p:nvPr/>
        </p:nvSpPr>
        <p:spPr>
          <a:xfrm>
            <a:off x="10602468" y="905256"/>
            <a:ext cx="1252728" cy="566928"/>
          </a:xfrm>
          <a:prstGeom prst="rect">
            <a:avLst/>
          </a:prstGeom>
          <a:noFill/>
        </p:spPr>
        <p:txBody>
          <a:bodyPr wrap="square">
            <a:spAutoFit/>
          </a:bodyPr>
          <a:lstStyle/>
          <a:p>
            <a:pPr algn="l"/>
            <a:r>
              <a:rPr sz="1000" b="1" i="0">
                <a:solidFill>
                  <a:srgbClr val="FFFFFF"/>
                </a:solidFill>
              </a:rPr>
              <a:t>Rapport analyse</a:t>
            </a:r>
          </a:p>
        </p:txBody>
      </p:sp>
      <p:sp>
        <p:nvSpPr>
          <p:cNvPr id="81" name="Rectangle 80"/>
          <p:cNvSpPr/>
          <p:nvPr/>
        </p:nvSpPr>
        <p:spPr>
          <a:xfrm>
            <a:off x="10099548" y="1545336"/>
            <a:ext cx="1801368" cy="256032"/>
          </a:xfrm>
          <a:prstGeom prst="rect">
            <a:avLst/>
          </a:prstGeom>
          <a:solidFill>
            <a:srgbClr val="E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163556" y="1563624"/>
            <a:ext cx="1691640" cy="201168"/>
          </a:xfrm>
          <a:prstGeom prst="rect">
            <a:avLst/>
          </a:prstGeom>
          <a:noFill/>
        </p:spPr>
        <p:txBody>
          <a:bodyPr wrap="square">
            <a:spAutoFit/>
          </a:bodyPr>
          <a:lstStyle/>
          <a:p>
            <a:pPr algn="l"/>
            <a:r>
              <a:rPr sz="720" b="0" i="1">
                <a:solidFill>
                  <a:srgbClr val="1E3A5F"/>
                </a:solidFill>
              </a:rPr>
              <a:t>log_analyzer.py</a:t>
            </a:r>
          </a:p>
        </p:txBody>
      </p:sp>
      <p:sp>
        <p:nvSpPr>
          <p:cNvPr id="83" name="TextBox 82"/>
          <p:cNvSpPr txBox="1"/>
          <p:nvPr/>
        </p:nvSpPr>
        <p:spPr>
          <a:xfrm>
            <a:off x="10172700" y="1856232"/>
            <a:ext cx="1673352" cy="2743200"/>
          </a:xfrm>
          <a:prstGeom prst="rect">
            <a:avLst/>
          </a:prstGeom>
          <a:noFill/>
        </p:spPr>
        <p:txBody>
          <a:bodyPr wrap="square">
            <a:spAutoFit/>
          </a:bodyPr>
          <a:lstStyle/>
          <a:p>
            <a:pPr algn="l"/>
            <a:r>
              <a:rPr sz="800" b="0" i="0">
                <a:solidFill>
                  <a:srgbClr val="1A1A2E"/>
                </a:solidFill>
              </a:rPr>
              <a:t>Log JSONL structuré par événement
Cache hit rate calculé par étape
Distribution scores et verdicts LLM
Statistiques corrections juge final
Timing par étape et par framework
Résumé erreurs et avertissements
Rapport Markdown auto-généré
</a:t>
            </a:r>
          </a:p>
        </p:txBody>
      </p:sp>
      <p:sp>
        <p:nvSpPr>
          <p:cNvPr id="84" name="Rectangle 83"/>
          <p:cNvSpPr/>
          <p:nvPr/>
        </p:nvSpPr>
        <p:spPr>
          <a:xfrm>
            <a:off x="10190988" y="4672584"/>
            <a:ext cx="1618488"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10163556" y="4727448"/>
            <a:ext cx="1691640" cy="475488"/>
          </a:xfrm>
          <a:prstGeom prst="rect">
            <a:avLst/>
          </a:prstGeom>
          <a:solidFill>
            <a:srgbClr val="F0F4FF"/>
          </a:solidFill>
          <a:ln w="19050">
            <a:solidFill>
              <a:srgbClr val="4A4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200132" y="4754880"/>
            <a:ext cx="1618488" cy="402336"/>
          </a:xfrm>
          <a:prstGeom prst="rect">
            <a:avLst/>
          </a:prstGeom>
          <a:noFill/>
        </p:spPr>
        <p:txBody>
          <a:bodyPr wrap="square">
            <a:spAutoFit/>
          </a:bodyPr>
          <a:lstStyle/>
          <a:p>
            <a:pPr algn="l"/>
            <a:r>
              <a:rPr sz="700" b="0" i="1">
                <a:solidFill>
                  <a:srgbClr val="1E3A5F"/>
                </a:solidFill>
              </a:rPr>
              <a:t>reports/log_analysis_{...}.md</a:t>
            </a:r>
          </a:p>
        </p:txBody>
      </p:sp>
      <p:sp>
        <p:nvSpPr>
          <p:cNvPr id="87" name="Rectangle 86"/>
          <p:cNvSpPr/>
          <p:nvPr/>
        </p:nvSpPr>
        <p:spPr>
          <a:xfrm>
            <a:off x="10163556" y="5276088"/>
            <a:ext cx="1691640" cy="365760"/>
          </a:xfrm>
          <a:prstGeom prst="rect">
            <a:avLst/>
          </a:prstGeom>
          <a:solidFill>
            <a:srgbClr val="4A4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0190988" y="5303520"/>
            <a:ext cx="1636776" cy="310896"/>
          </a:xfrm>
          <a:prstGeom prst="rect">
            <a:avLst/>
          </a:prstGeom>
          <a:noFill/>
        </p:spPr>
        <p:txBody>
          <a:bodyPr wrap="square">
            <a:spAutoFit/>
          </a:bodyPr>
          <a:lstStyle/>
          <a:p>
            <a:pPr algn="ctr"/>
            <a:r>
              <a:rPr sz="700" b="1" i="0">
                <a:solidFill>
                  <a:srgbClr val="FFFFFF"/>
                </a:solidFill>
              </a:rPr>
              <a:t>JSONL structuré • replay possible</a:t>
            </a:r>
          </a:p>
        </p:txBody>
      </p:sp>
      <p:sp>
        <p:nvSpPr>
          <p:cNvPr id="89" name="Rectangle 88"/>
          <p:cNvSpPr/>
          <p:nvPr/>
        </p:nvSpPr>
        <p:spPr>
          <a:xfrm>
            <a:off x="228600" y="5925312"/>
            <a:ext cx="4389120" cy="310896"/>
          </a:xfrm>
          <a:prstGeom prst="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320040" y="5943600"/>
            <a:ext cx="4206240" cy="256032"/>
          </a:xfrm>
          <a:prstGeom prst="rect">
            <a:avLst/>
          </a:prstGeom>
          <a:noFill/>
        </p:spPr>
        <p:txBody>
          <a:bodyPr wrap="square">
            <a:spAutoFit/>
          </a:bodyPr>
          <a:lstStyle/>
          <a:p>
            <a:pPr algn="l"/>
            <a:r>
              <a:rPr sz="750" b="0" i="0">
                <a:solidFill>
                  <a:srgbClr val="1E3A5F"/>
                </a:solidFill>
              </a:rPr>
              <a:t>ENTREES :  Framework A + B (.xlsx)   ·   Guidelines RAG (pdf / txt / md)</a:t>
            </a:r>
          </a:p>
        </p:txBody>
      </p:sp>
      <p:sp>
        <p:nvSpPr>
          <p:cNvPr id="91" name="Rectangle 90"/>
          <p:cNvSpPr/>
          <p:nvPr/>
        </p:nvSpPr>
        <p:spPr>
          <a:xfrm>
            <a:off x="7589520" y="5925312"/>
            <a:ext cx="4389120" cy="310896"/>
          </a:xfrm>
          <a:prstGeom prst="rect">
            <a:avLst/>
          </a:prstGeom>
          <a:solidFill>
            <a:srgbClr val="EBF9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7680960" y="5943600"/>
            <a:ext cx="4206240" cy="256032"/>
          </a:xfrm>
          <a:prstGeom prst="rect">
            <a:avLst/>
          </a:prstGeom>
          <a:noFill/>
        </p:spPr>
        <p:txBody>
          <a:bodyPr wrap="square">
            <a:spAutoFit/>
          </a:bodyPr>
          <a:lstStyle/>
          <a:p>
            <a:pPr algn="l"/>
            <a:r>
              <a:rPr sz="750" b="0" i="0">
                <a:solidFill>
                  <a:srgbClr val="1A5C32"/>
                </a:solidFill>
              </a:rPr>
              <a:t>SORTIES :  mapping_{FrA}_{FrB}_{date}.xlsx   ·   log_analysis_{...}.md</a:t>
            </a:r>
          </a:p>
        </p:txBody>
      </p:sp>
      <p:sp>
        <p:nvSpPr>
          <p:cNvPr id="93" name="Rectangle 92"/>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65760" y="6400800"/>
            <a:ext cx="7315200" cy="365760"/>
          </a:xfrm>
          <a:prstGeom prst="rect">
            <a:avLst/>
          </a:prstGeom>
          <a:noFill/>
        </p:spPr>
        <p:txBody>
          <a:bodyPr wrap="square">
            <a:spAutoFit/>
          </a:bodyPr>
          <a:lstStyle/>
          <a:p>
            <a:pPr algn="l"/>
            <a:r>
              <a:rPr sz="900" b="0" i="0">
                <a:solidFill>
                  <a:srgbClr val="AAAAAA"/>
                </a:solidFill>
              </a:rPr>
              <a:t>Regulatory Framework Mapper  |  Pipeline Détaillé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118872"/>
            <a:ext cx="438912" cy="438912"/>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rPr>
              <a:t>01</a:t>
            </a:r>
          </a:p>
        </p:txBody>
      </p:sp>
      <p:sp>
        <p:nvSpPr>
          <p:cNvPr id="6" name="TextBox 5"/>
          <p:cNvSpPr txBox="1"/>
          <p:nvPr/>
        </p:nvSpPr>
        <p:spPr>
          <a:xfrm>
            <a:off x="914400" y="109728"/>
            <a:ext cx="9144000" cy="457200"/>
          </a:xfrm>
          <a:prstGeom prst="rect">
            <a:avLst/>
          </a:prstGeom>
          <a:noFill/>
        </p:spPr>
        <p:txBody>
          <a:bodyPr wrap="square">
            <a:spAutoFit/>
          </a:bodyPr>
          <a:lstStyle/>
          <a:p>
            <a:pPr algn="l"/>
            <a:r>
              <a:rPr sz="2000" b="1" i="0">
                <a:solidFill>
                  <a:srgbClr val="FFFFFF"/>
                </a:solidFill>
              </a:rPr>
              <a:t>Étape 1 — Prétraitement des référentiels</a:t>
            </a:r>
          </a:p>
        </p:txBody>
      </p:sp>
      <p:sp>
        <p:nvSpPr>
          <p:cNvPr id="7" name="Rounded Rectangle 6"/>
          <p:cNvSpPr/>
          <p:nvPr/>
        </p:nvSpPr>
        <p:spPr>
          <a:xfrm>
            <a:off x="365760" y="914400"/>
            <a:ext cx="2148840" cy="4114800"/>
          </a:xfrm>
          <a:prstGeom prst="round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914400"/>
            <a:ext cx="2148840" cy="64008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0624"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E86AB"/>
                </a:solidFill>
              </a:rPr>
              <a:t>1a</a:t>
            </a:r>
          </a:p>
        </p:txBody>
      </p:sp>
      <p:sp>
        <p:nvSpPr>
          <p:cNvPr id="10" name="TextBox 9"/>
          <p:cNvSpPr txBox="1"/>
          <p:nvPr/>
        </p:nvSpPr>
        <p:spPr>
          <a:xfrm>
            <a:off x="859536" y="1024128"/>
            <a:ext cx="1600200" cy="530352"/>
          </a:xfrm>
          <a:prstGeom prst="rect">
            <a:avLst/>
          </a:prstGeom>
          <a:noFill/>
        </p:spPr>
        <p:txBody>
          <a:bodyPr wrap="square">
            <a:spAutoFit/>
          </a:bodyPr>
          <a:lstStyle/>
          <a:p>
            <a:pPr algn="l"/>
            <a:r>
              <a:rPr sz="1050" b="1" i="0">
                <a:solidFill>
                  <a:srgbClr val="FFFFFF"/>
                </a:solidFill>
              </a:rPr>
              <a:t>Lecture Excel</a:t>
            </a:r>
          </a:p>
        </p:txBody>
      </p:sp>
      <p:sp>
        <p:nvSpPr>
          <p:cNvPr id="11" name="TextBox 10"/>
          <p:cNvSpPr txBox="1"/>
          <p:nvPr/>
        </p:nvSpPr>
        <p:spPr>
          <a:xfrm>
            <a:off x="457200" y="1691640"/>
            <a:ext cx="1984248" cy="3200400"/>
          </a:xfrm>
          <a:prstGeom prst="rect">
            <a:avLst/>
          </a:prstGeom>
          <a:noFill/>
        </p:spPr>
        <p:txBody>
          <a:bodyPr wrap="square">
            <a:spAutoFit/>
          </a:bodyPr>
          <a:lstStyle/>
          <a:p>
            <a:pPr algn="l"/>
            <a:r>
              <a:rPr sz="900" b="0" i="0" dirty="0">
                <a:solidFill>
                  <a:srgbClr val="4A4A6A"/>
                </a:solidFill>
              </a:rPr>
              <a:t>Lecture de </a:t>
            </a:r>
            <a:r>
              <a:rPr sz="900" b="0" i="0" dirty="0" err="1">
                <a:solidFill>
                  <a:srgbClr val="4A4A6A"/>
                </a:solidFill>
              </a:rPr>
              <a:t>l'onglet</a:t>
            </a:r>
            <a:r>
              <a:rPr sz="900" b="0" i="0" dirty="0">
                <a:solidFill>
                  <a:srgbClr val="4A4A6A"/>
                </a:solidFill>
              </a:rPr>
              <a:t> Excel </a:t>
            </a:r>
            <a:r>
              <a:rPr sz="900" b="0" i="0" dirty="0" err="1">
                <a:solidFill>
                  <a:srgbClr val="4A4A6A"/>
                </a:solidFill>
              </a:rPr>
              <a:t>configuré</a:t>
            </a:r>
            <a:r>
              <a:rPr sz="900" b="0" i="0" dirty="0">
                <a:solidFill>
                  <a:srgbClr val="4A4A6A"/>
                </a:solidFill>
              </a:rPr>
              <a:t>
Mapping </a:t>
            </a:r>
            <a:r>
              <a:rPr sz="900" b="0" i="0" dirty="0" err="1">
                <a:solidFill>
                  <a:srgbClr val="4A4A6A"/>
                </a:solidFill>
              </a:rPr>
              <a:t>colonnes</a:t>
            </a:r>
            <a:r>
              <a:rPr sz="900" b="0" i="0" dirty="0">
                <a:solidFill>
                  <a:srgbClr val="4A4A6A"/>
                </a:solidFill>
              </a:rPr>
              <a:t> : ID · Title · Requirement · Category
</a:t>
            </a:r>
            <a:r>
              <a:rPr sz="900" b="0" i="0" dirty="0" err="1">
                <a:solidFill>
                  <a:srgbClr val="4A4A6A"/>
                </a:solidFill>
              </a:rPr>
              <a:t>Limite</a:t>
            </a:r>
            <a:r>
              <a:rPr sz="900" b="0" i="0" dirty="0">
                <a:solidFill>
                  <a:srgbClr val="4A4A6A"/>
                </a:solidFill>
              </a:rPr>
              <a:t> MAX_REQUIREMENTS_PER_FRAMEWORK</a:t>
            </a:r>
          </a:p>
        </p:txBody>
      </p:sp>
      <p:cxnSp>
        <p:nvCxnSpPr>
          <p:cNvPr id="12" name="Connector 11"/>
          <p:cNvCxnSpPr/>
          <p:nvPr/>
        </p:nvCxnSpPr>
        <p:spPr>
          <a:xfrm>
            <a:off x="2532888" y="2971800"/>
            <a:ext cx="137160"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51760" y="914400"/>
            <a:ext cx="2148840" cy="411480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651760" y="914400"/>
            <a:ext cx="2148840" cy="64008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06624"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E3A5F"/>
                </a:solidFill>
              </a:rPr>
              <a:t>1b</a:t>
            </a:r>
          </a:p>
        </p:txBody>
      </p:sp>
      <p:sp>
        <p:nvSpPr>
          <p:cNvPr id="16" name="TextBox 15"/>
          <p:cNvSpPr txBox="1"/>
          <p:nvPr/>
        </p:nvSpPr>
        <p:spPr>
          <a:xfrm>
            <a:off x="3145536" y="1024128"/>
            <a:ext cx="1600200" cy="530352"/>
          </a:xfrm>
          <a:prstGeom prst="rect">
            <a:avLst/>
          </a:prstGeom>
          <a:noFill/>
        </p:spPr>
        <p:txBody>
          <a:bodyPr wrap="square">
            <a:spAutoFit/>
          </a:bodyPr>
          <a:lstStyle/>
          <a:p>
            <a:pPr algn="l"/>
            <a:r>
              <a:rPr sz="1050" b="1" i="0">
                <a:solidFill>
                  <a:srgbClr val="FFFFFF"/>
                </a:solidFill>
              </a:rPr>
              <a:t>Harmonisation ENISA</a:t>
            </a:r>
          </a:p>
        </p:txBody>
      </p:sp>
      <p:sp>
        <p:nvSpPr>
          <p:cNvPr id="17" name="TextBox 16"/>
          <p:cNvSpPr txBox="1"/>
          <p:nvPr/>
        </p:nvSpPr>
        <p:spPr>
          <a:xfrm>
            <a:off x="2743200" y="1691640"/>
            <a:ext cx="1984248" cy="3200400"/>
          </a:xfrm>
          <a:prstGeom prst="rect">
            <a:avLst/>
          </a:prstGeom>
          <a:noFill/>
        </p:spPr>
        <p:txBody>
          <a:bodyPr wrap="square">
            <a:spAutoFit/>
          </a:bodyPr>
          <a:lstStyle/>
          <a:p>
            <a:pPr algn="l"/>
            <a:r>
              <a:rPr sz="900" b="0" i="0" dirty="0" err="1">
                <a:solidFill>
                  <a:srgbClr val="4A4A6A"/>
                </a:solidFill>
              </a:rPr>
              <a:t>Normalisation</a:t>
            </a:r>
            <a:r>
              <a:rPr sz="900" b="0" i="0" dirty="0">
                <a:solidFill>
                  <a:srgbClr val="4A4A6A"/>
                </a:solidFill>
              </a:rPr>
              <a:t> vers les 13 </a:t>
            </a:r>
            <a:r>
              <a:rPr sz="900" b="0" i="0" dirty="0" err="1">
                <a:solidFill>
                  <a:srgbClr val="4A4A6A"/>
                </a:solidFill>
              </a:rPr>
              <a:t>catégories</a:t>
            </a:r>
            <a:r>
              <a:rPr sz="900" b="0" i="0" dirty="0">
                <a:solidFill>
                  <a:srgbClr val="4A4A6A"/>
                </a:solidFill>
              </a:rPr>
              <a:t> ENISA
① </a:t>
            </a:r>
            <a:r>
              <a:rPr sz="900" b="0" i="0" dirty="0" err="1">
                <a:solidFill>
                  <a:srgbClr val="4A4A6A"/>
                </a:solidFill>
              </a:rPr>
              <a:t>Règles</a:t>
            </a:r>
            <a:r>
              <a:rPr sz="900" b="0" i="0" dirty="0">
                <a:solidFill>
                  <a:srgbClr val="4A4A6A"/>
                </a:solidFill>
              </a:rPr>
              <a:t> </a:t>
            </a:r>
            <a:r>
              <a:rPr sz="900" b="0" i="0" dirty="0" err="1">
                <a:solidFill>
                  <a:srgbClr val="4A4A6A"/>
                </a:solidFill>
              </a:rPr>
              <a:t>déterministes</a:t>
            </a:r>
            <a:r>
              <a:rPr sz="900" b="0" i="0" dirty="0">
                <a:solidFill>
                  <a:srgbClr val="4A4A6A"/>
                </a:solidFill>
              </a:rPr>
              <a:t> (category_overrides.xlsx)
② LLM </a:t>
            </a:r>
            <a:r>
              <a:rPr sz="900" b="0" i="0" dirty="0" err="1">
                <a:solidFill>
                  <a:srgbClr val="4A4A6A"/>
                </a:solidFill>
              </a:rPr>
              <a:t>en</a:t>
            </a:r>
            <a:r>
              <a:rPr sz="900" b="0" i="0" dirty="0">
                <a:solidFill>
                  <a:srgbClr val="4A4A6A"/>
                </a:solidFill>
              </a:rPr>
              <a:t> fallback (PROMPT_CATEGORY_HARMONIZATION)
</a:t>
            </a:r>
            <a:r>
              <a:rPr sz="900" b="0" i="0" dirty="0" err="1">
                <a:solidFill>
                  <a:srgbClr val="4A4A6A"/>
                </a:solidFill>
              </a:rPr>
              <a:t>Seuils</a:t>
            </a:r>
            <a:r>
              <a:rPr sz="900" b="0" i="0" dirty="0">
                <a:solidFill>
                  <a:srgbClr val="4A4A6A"/>
                </a:solidFill>
              </a:rPr>
              <a:t> : strong ≥ 0.85 · medium ≥ 0.60</a:t>
            </a:r>
          </a:p>
        </p:txBody>
      </p:sp>
      <p:cxnSp>
        <p:nvCxnSpPr>
          <p:cNvPr id="18" name="Connector 17"/>
          <p:cNvCxnSpPr/>
          <p:nvPr/>
        </p:nvCxnSpPr>
        <p:spPr>
          <a:xfrm>
            <a:off x="4818888" y="2971800"/>
            <a:ext cx="137160"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37760" y="914400"/>
            <a:ext cx="2148840" cy="4114800"/>
          </a:xfrm>
          <a:prstGeom prst="round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937760" y="914400"/>
            <a:ext cx="2148840" cy="640080"/>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992624"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E63312"/>
                </a:solidFill>
              </a:rPr>
              <a:t>1c</a:t>
            </a:r>
          </a:p>
        </p:txBody>
      </p:sp>
      <p:sp>
        <p:nvSpPr>
          <p:cNvPr id="22" name="TextBox 21"/>
          <p:cNvSpPr txBox="1"/>
          <p:nvPr/>
        </p:nvSpPr>
        <p:spPr>
          <a:xfrm>
            <a:off x="5431536" y="1024128"/>
            <a:ext cx="1600200" cy="530352"/>
          </a:xfrm>
          <a:prstGeom prst="rect">
            <a:avLst/>
          </a:prstGeom>
          <a:noFill/>
        </p:spPr>
        <p:txBody>
          <a:bodyPr wrap="square">
            <a:spAutoFit/>
          </a:bodyPr>
          <a:lstStyle/>
          <a:p>
            <a:pPr algn="l"/>
            <a:r>
              <a:rPr sz="1050" b="1" i="0" dirty="0" err="1">
                <a:solidFill>
                  <a:srgbClr val="FFFFFF"/>
                </a:solidFill>
              </a:rPr>
              <a:t>Atomisation</a:t>
            </a:r>
            <a:endParaRPr sz="1050" b="1" i="0" dirty="0">
              <a:solidFill>
                <a:srgbClr val="FFFFFF"/>
              </a:solidFill>
            </a:endParaRPr>
          </a:p>
        </p:txBody>
      </p:sp>
      <p:sp>
        <p:nvSpPr>
          <p:cNvPr id="23" name="TextBox 22"/>
          <p:cNvSpPr txBox="1"/>
          <p:nvPr/>
        </p:nvSpPr>
        <p:spPr>
          <a:xfrm>
            <a:off x="5029200" y="1691640"/>
            <a:ext cx="1984248" cy="3200400"/>
          </a:xfrm>
          <a:prstGeom prst="rect">
            <a:avLst/>
          </a:prstGeom>
          <a:noFill/>
        </p:spPr>
        <p:txBody>
          <a:bodyPr wrap="square">
            <a:spAutoFit/>
          </a:bodyPr>
          <a:lstStyle/>
          <a:p>
            <a:pPr algn="l"/>
            <a:r>
              <a:rPr sz="900" b="0" i="0">
                <a:solidFill>
                  <a:srgbClr val="4A4A6A"/>
                </a:solidFill>
              </a:rPr>
              <a:t>LLM (PROMPT_ATOMIZE) : découpe chaque exigence
complexe en obligations unitaires (atomes)
Ex. : 1 exigence → [A1] accès · [A2] audit · [A3] formation</a:t>
            </a:r>
          </a:p>
        </p:txBody>
      </p:sp>
      <p:cxnSp>
        <p:nvCxnSpPr>
          <p:cNvPr id="24" name="Connector 23"/>
          <p:cNvCxnSpPr/>
          <p:nvPr/>
        </p:nvCxnSpPr>
        <p:spPr>
          <a:xfrm>
            <a:off x="7104888" y="2971800"/>
            <a:ext cx="137160"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23760" y="914400"/>
            <a:ext cx="2148840" cy="4114800"/>
          </a:xfrm>
          <a:prstGeom prst="roundRect">
            <a:avLst/>
          </a:prstGeom>
          <a:solidFill>
            <a:srgbClr val="FFFFFF"/>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223760" y="914400"/>
            <a:ext cx="2148840" cy="64008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278624"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8E44AD"/>
                </a:solidFill>
              </a:rPr>
              <a:t>1d</a:t>
            </a:r>
          </a:p>
        </p:txBody>
      </p:sp>
      <p:sp>
        <p:nvSpPr>
          <p:cNvPr id="28" name="TextBox 27"/>
          <p:cNvSpPr txBox="1"/>
          <p:nvPr/>
        </p:nvSpPr>
        <p:spPr>
          <a:xfrm>
            <a:off x="7717536" y="1024128"/>
            <a:ext cx="1600200" cy="530352"/>
          </a:xfrm>
          <a:prstGeom prst="rect">
            <a:avLst/>
          </a:prstGeom>
          <a:noFill/>
        </p:spPr>
        <p:txBody>
          <a:bodyPr wrap="square">
            <a:spAutoFit/>
          </a:bodyPr>
          <a:lstStyle/>
          <a:p>
            <a:pPr algn="l"/>
            <a:r>
              <a:rPr sz="1050" b="1" i="0">
                <a:solidFill>
                  <a:srgbClr val="FFFFFF"/>
                </a:solidFill>
              </a:rPr>
              <a:t>Extraction de champs</a:t>
            </a:r>
          </a:p>
        </p:txBody>
      </p:sp>
      <p:sp>
        <p:nvSpPr>
          <p:cNvPr id="29" name="TextBox 28"/>
          <p:cNvSpPr txBox="1"/>
          <p:nvPr/>
        </p:nvSpPr>
        <p:spPr>
          <a:xfrm>
            <a:off x="7315200" y="1691640"/>
            <a:ext cx="1984248" cy="3200400"/>
          </a:xfrm>
          <a:prstGeom prst="rect">
            <a:avLst/>
          </a:prstGeom>
          <a:noFill/>
        </p:spPr>
        <p:txBody>
          <a:bodyPr wrap="square">
            <a:spAutoFit/>
          </a:bodyPr>
          <a:lstStyle/>
          <a:p>
            <a:pPr algn="l"/>
            <a:r>
              <a:rPr sz="900" b="0" i="0">
                <a:solidFill>
                  <a:srgbClr val="4A4A6A"/>
                </a:solidFill>
              </a:rPr>
              <a:t>LLM (PROMPT_EXTRACT_FIELDS) par atome :
actor · action · object · condition · deadline
evidence · obligation_type · control_type · keywords</a:t>
            </a:r>
          </a:p>
        </p:txBody>
      </p:sp>
      <p:cxnSp>
        <p:nvCxnSpPr>
          <p:cNvPr id="30" name="Connector 29"/>
          <p:cNvCxnSpPr/>
          <p:nvPr/>
        </p:nvCxnSpPr>
        <p:spPr>
          <a:xfrm>
            <a:off x="9390888" y="2971800"/>
            <a:ext cx="137160" cy="0"/>
          </a:xfrm>
          <a:prstGeom prst="line">
            <a:avLst/>
          </a:prstGeom>
          <a:ln w="25400">
            <a:solidFill>
              <a:srgbClr val="4A4A6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09760" y="914400"/>
            <a:ext cx="2148840" cy="41148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509760" y="914400"/>
            <a:ext cx="2148840" cy="6400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564624" y="1005840"/>
            <a:ext cx="384048"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7AE60"/>
                </a:solidFill>
              </a:rPr>
              <a:t>1e</a:t>
            </a:r>
          </a:p>
        </p:txBody>
      </p:sp>
      <p:sp>
        <p:nvSpPr>
          <p:cNvPr id="34" name="TextBox 33"/>
          <p:cNvSpPr txBox="1"/>
          <p:nvPr/>
        </p:nvSpPr>
        <p:spPr>
          <a:xfrm>
            <a:off x="10003536" y="1024128"/>
            <a:ext cx="1600200" cy="530352"/>
          </a:xfrm>
          <a:prstGeom prst="rect">
            <a:avLst/>
          </a:prstGeom>
          <a:noFill/>
        </p:spPr>
        <p:txBody>
          <a:bodyPr wrap="square">
            <a:spAutoFit/>
          </a:bodyPr>
          <a:lstStyle/>
          <a:p>
            <a:pPr algn="l"/>
            <a:r>
              <a:rPr sz="1050" b="1" i="0">
                <a:solidFill>
                  <a:srgbClr val="FFFFFF"/>
                </a:solidFill>
              </a:rPr>
              <a:t>Embeddings</a:t>
            </a:r>
          </a:p>
        </p:txBody>
      </p:sp>
      <p:sp>
        <p:nvSpPr>
          <p:cNvPr id="35" name="TextBox 34"/>
          <p:cNvSpPr txBox="1"/>
          <p:nvPr/>
        </p:nvSpPr>
        <p:spPr>
          <a:xfrm>
            <a:off x="9601200" y="1691640"/>
            <a:ext cx="1984248" cy="3200400"/>
          </a:xfrm>
          <a:prstGeom prst="rect">
            <a:avLst/>
          </a:prstGeom>
          <a:noFill/>
        </p:spPr>
        <p:txBody>
          <a:bodyPr wrap="square">
            <a:spAutoFit/>
          </a:bodyPr>
          <a:lstStyle/>
          <a:p>
            <a:pPr algn="l"/>
            <a:r>
              <a:rPr sz="900" b="0" i="0">
                <a:solidFill>
                  <a:srgbClr val="4A4A6A"/>
                </a:solidFill>
              </a:rPr>
              <a:t>Azure OpenAI : text-embedding-3-large
512 dimensions par atome
Batches de 64 · Cosinus pour similarité</a:t>
            </a:r>
          </a:p>
        </p:txBody>
      </p:sp>
      <p:sp>
        <p:nvSpPr>
          <p:cNvPr id="36" name="Rectangle 35"/>
          <p:cNvSpPr/>
          <p:nvPr/>
        </p:nvSpPr>
        <p:spPr>
          <a:xfrm>
            <a:off x="365760" y="5257800"/>
            <a:ext cx="11430000" cy="685800"/>
          </a:xfrm>
          <a:prstGeom prst="rect">
            <a:avLst/>
          </a:prstGeom>
          <a:solidFill>
            <a:srgbClr val="FFF8E1"/>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5285232"/>
            <a:ext cx="11155680" cy="594360"/>
          </a:xfrm>
          <a:prstGeom prst="rect">
            <a:avLst/>
          </a:prstGeom>
          <a:noFill/>
        </p:spPr>
        <p:txBody>
          <a:bodyPr wrap="square">
            <a:spAutoFit/>
          </a:bodyPr>
          <a:lstStyle/>
          <a:p>
            <a:pPr algn="l"/>
            <a:r>
              <a:rPr sz="850" b="0" i="0">
                <a:solidFill>
                  <a:srgbClr val="7D6A00"/>
                </a:solidFill>
              </a:rPr>
              <a:t>💾  Cache  :  docs/cache/{framework_key}/  →  category_harmonization.json  ·  atomized_requirements.json  ·  atomic_requirements_with_fields.json  ·  atomic_requirements.json
Validation SHA256 du fichier source (STRICT_INPUT_CACHE_VALIDATION=true) — prévient la réutilisation silencieuse d'un cache obsolète</a:t>
            </a:r>
          </a:p>
        </p:txBody>
      </p:sp>
      <p:sp>
        <p:nvSpPr>
          <p:cNvPr id="38" name="Rectangle 37"/>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5760" y="6400800"/>
            <a:ext cx="7315200" cy="365760"/>
          </a:xfrm>
          <a:prstGeom prst="rect">
            <a:avLst/>
          </a:prstGeom>
          <a:noFill/>
        </p:spPr>
        <p:txBody>
          <a:bodyPr wrap="square">
            <a:spAutoFit/>
          </a:bodyPr>
          <a:lstStyle/>
          <a:p>
            <a:pPr algn="l"/>
            <a:r>
              <a:rPr sz="900" b="0" i="0">
                <a:solidFill>
                  <a:srgbClr val="AAAAAA"/>
                </a:solidFill>
              </a:rPr>
              <a:t>Regulatory Framework Mapper  |  Étape 1 : Prétraitement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3">
            <a:extLst>
              <a:ext uri="{FF2B5EF4-FFF2-40B4-BE49-F238E27FC236}">
                <a16:creationId xmlns:a16="http://schemas.microsoft.com/office/drawing/2014/main" id="{6128FD78-06ED-0809-0580-A8FB2CC99879}"/>
              </a:ext>
            </a:extLst>
          </p:cNvPr>
          <p:cNvSpPr>
            <a:spLocks/>
          </p:cNvSpPr>
          <p:nvPr/>
        </p:nvSpPr>
        <p:spPr>
          <a:xfrm>
            <a:off x="619078" y="3583538"/>
            <a:ext cx="1438322" cy="411480"/>
          </a:xfrm>
          <a:prstGeom prst="roundRect">
            <a:avLst/>
          </a:prstGeom>
          <a:solidFill>
            <a:srgbClr val="EAF8F0"/>
          </a:solidFill>
          <a:ln w="15240">
            <a:solidFill>
              <a:srgbClr val="2E8B57"/>
            </a:solidFill>
          </a:ln>
        </p:spPr>
        <p:style>
          <a:lnRef idx="1">
            <a:schemeClr val="accent1"/>
          </a:lnRef>
          <a:fillRef idx="3">
            <a:schemeClr val="accent1"/>
          </a:fillRef>
          <a:effectRef idx="2">
            <a:schemeClr val="accent1"/>
          </a:effectRef>
          <a:fontRef idx="minor">
            <a:schemeClr val="lt1"/>
          </a:fontRef>
        </p:style>
        <p:txBody>
          <a:bodyPr wrap="square" lIns="127000" tIns="50800" rIns="101600" bIns="50800" rtlCol="0" anchor="ctr"/>
          <a:lstStyle/>
          <a:p>
            <a:pPr algn="l"/>
            <a:r>
              <a:rPr lang="en-US" sz="1400" b="1" noProof="0" dirty="0">
                <a:solidFill>
                  <a:srgbClr val="2E8B57"/>
                </a:solidFill>
              </a:rPr>
              <a:t>Framework B</a:t>
            </a:r>
          </a:p>
        </p:txBody>
      </p:sp>
      <p:sp>
        <p:nvSpPr>
          <p:cNvPr id="3" name="Rounded Rectangle 13">
            <a:extLst>
              <a:ext uri="{FF2B5EF4-FFF2-40B4-BE49-F238E27FC236}">
                <a16:creationId xmlns:a16="http://schemas.microsoft.com/office/drawing/2014/main" id="{4FFFF554-B6F8-4339-2AD3-38EF217A3CDB}"/>
              </a:ext>
            </a:extLst>
          </p:cNvPr>
          <p:cNvSpPr>
            <a:spLocks/>
          </p:cNvSpPr>
          <p:nvPr/>
        </p:nvSpPr>
        <p:spPr>
          <a:xfrm>
            <a:off x="619078" y="2451503"/>
            <a:ext cx="1438322" cy="411480"/>
          </a:xfrm>
          <a:prstGeom prst="roundRect">
            <a:avLst/>
          </a:prstGeom>
          <a:solidFill>
            <a:srgbClr val="EAF8F0"/>
          </a:solidFill>
          <a:ln w="15240">
            <a:solidFill>
              <a:srgbClr val="2E8B57"/>
            </a:solidFill>
          </a:ln>
        </p:spPr>
        <p:style>
          <a:lnRef idx="1">
            <a:schemeClr val="accent1"/>
          </a:lnRef>
          <a:fillRef idx="3">
            <a:schemeClr val="accent1"/>
          </a:fillRef>
          <a:effectRef idx="2">
            <a:schemeClr val="accent1"/>
          </a:effectRef>
          <a:fontRef idx="minor">
            <a:schemeClr val="lt1"/>
          </a:fontRef>
        </p:style>
        <p:txBody>
          <a:bodyPr wrap="square" lIns="127000" tIns="50800" rIns="101600" bIns="50800" rtlCol="0" anchor="ctr"/>
          <a:lstStyle/>
          <a:p>
            <a:pPr algn="l"/>
            <a:r>
              <a:rPr lang="en-US" sz="1400" b="1" noProof="0" dirty="0">
                <a:solidFill>
                  <a:srgbClr val="2E8B57"/>
                </a:solidFill>
              </a:rPr>
              <a:t>Framework A </a:t>
            </a:r>
          </a:p>
        </p:txBody>
      </p:sp>
      <p:grpSp>
        <p:nvGrpSpPr>
          <p:cNvPr id="10" name="Group 9">
            <a:extLst>
              <a:ext uri="{FF2B5EF4-FFF2-40B4-BE49-F238E27FC236}">
                <a16:creationId xmlns:a16="http://schemas.microsoft.com/office/drawing/2014/main" id="{1EC03F47-0A36-FFCE-6895-30376D33A895}"/>
              </a:ext>
            </a:extLst>
          </p:cNvPr>
          <p:cNvGrpSpPr/>
          <p:nvPr/>
        </p:nvGrpSpPr>
        <p:grpSpPr>
          <a:xfrm>
            <a:off x="2626830" y="1675079"/>
            <a:ext cx="1726510" cy="1552848"/>
            <a:chOff x="3382203" y="1518393"/>
            <a:chExt cx="1995841" cy="1552848"/>
          </a:xfrm>
        </p:grpSpPr>
        <p:sp>
          <p:nvSpPr>
            <p:cNvPr id="4" name="Rounded Rectangle 11">
              <a:extLst>
                <a:ext uri="{FF2B5EF4-FFF2-40B4-BE49-F238E27FC236}">
                  <a16:creationId xmlns:a16="http://schemas.microsoft.com/office/drawing/2014/main" id="{6C16E600-222D-BF79-65BF-3400CBBCC5E1}"/>
                </a:ext>
              </a:extLst>
            </p:cNvPr>
            <p:cNvSpPr>
              <a:spLocks/>
            </p:cNvSpPr>
            <p:nvPr/>
          </p:nvSpPr>
          <p:spPr>
            <a:xfrm>
              <a:off x="3382203" y="1518393"/>
              <a:ext cx="1995841" cy="411480"/>
            </a:xfrm>
            <a:prstGeom prst="roundRect">
              <a:avLst/>
            </a:prstGeom>
            <a:solidFill>
              <a:srgbClr val="EAF3FF"/>
            </a:solidFill>
            <a:ln w="15240">
              <a:solidFill>
                <a:srgbClr val="2072B8"/>
              </a:solidFill>
            </a:ln>
          </p:spPr>
          <p:style>
            <a:lnRef idx="1">
              <a:schemeClr val="accent1"/>
            </a:lnRef>
            <a:fillRef idx="3">
              <a:schemeClr val="accent1"/>
            </a:fillRef>
            <a:effectRef idx="2">
              <a:schemeClr val="accent1"/>
            </a:effectRef>
            <a:fontRef idx="minor">
              <a:schemeClr val="lt1"/>
            </a:fontRef>
          </p:style>
          <p:txBody>
            <a:bodyPr wrap="square" lIns="127000" tIns="50800" rIns="101600" bIns="50800" rtlCol="0" anchor="ctr"/>
            <a:lstStyle/>
            <a:p>
              <a:pPr algn="l"/>
              <a:r>
                <a:rPr lang="en-US" sz="1400" b="1" noProof="0" dirty="0">
                  <a:solidFill>
                    <a:srgbClr val="2072B8"/>
                  </a:solidFill>
                </a:rPr>
                <a:t>Software Supply Chain</a:t>
              </a:r>
            </a:p>
          </p:txBody>
        </p:sp>
        <p:sp>
          <p:nvSpPr>
            <p:cNvPr id="5" name="Rounded Rectangle 12">
              <a:extLst>
                <a:ext uri="{FF2B5EF4-FFF2-40B4-BE49-F238E27FC236}">
                  <a16:creationId xmlns:a16="http://schemas.microsoft.com/office/drawing/2014/main" id="{25E0E4BB-B70A-6054-0004-898E3CDEEEC7}"/>
                </a:ext>
              </a:extLst>
            </p:cNvPr>
            <p:cNvSpPr>
              <a:spLocks/>
            </p:cNvSpPr>
            <p:nvPr/>
          </p:nvSpPr>
          <p:spPr>
            <a:xfrm>
              <a:off x="3382203" y="1955272"/>
              <a:ext cx="1995841" cy="1115969"/>
            </a:xfrm>
            <a:prstGeom prst="roundRect">
              <a:avLst/>
            </a:prstGeom>
            <a:solidFill>
              <a:srgbClr val="FFFFFF"/>
            </a:solidFill>
            <a:ln w="12700">
              <a:solidFill>
                <a:srgbClr val="2072B8"/>
              </a:solidFill>
            </a:ln>
          </p:spPr>
          <p:style>
            <a:lnRef idx="1">
              <a:schemeClr val="accent1"/>
            </a:lnRef>
            <a:fillRef idx="3">
              <a:schemeClr val="accent1"/>
            </a:fillRef>
            <a:effectRef idx="2">
              <a:schemeClr val="accent1"/>
            </a:effectRef>
            <a:fontRef idx="minor">
              <a:schemeClr val="lt1"/>
            </a:fontRef>
          </p:style>
          <p:txBody>
            <a:bodyPr wrap="square" lIns="127000" tIns="76200" rIns="101600" bIns="50800" rtlCol="0" anchor="ctr">
              <a:noAutofit/>
            </a:bodyPr>
            <a:lstStyle/>
            <a:p>
              <a:pPr marL="171450" indent="-171450" algn="l">
                <a:spcBef>
                  <a:spcPts val="0"/>
                </a:spcBef>
                <a:spcAft>
                  <a:spcPts val="0"/>
                </a:spcAft>
                <a:buFont typeface="Arial" panose="020B0604020202020204" pitchFamily="34" charset="0"/>
                <a:buChar char="•"/>
              </a:pPr>
              <a:r>
                <a:rPr lang="en-US" sz="1000" noProof="0" dirty="0">
                  <a:solidFill>
                    <a:srgbClr val="333333"/>
                  </a:solidFill>
                </a:rPr>
                <a:t>SBOM Management Platform</a:t>
              </a:r>
            </a:p>
            <a:p>
              <a:pPr marL="171450" indent="-171450" algn="l">
                <a:spcBef>
                  <a:spcPts val="0"/>
                </a:spcBef>
                <a:spcAft>
                  <a:spcPts val="0"/>
                </a:spcAft>
                <a:buFont typeface="Arial" panose="020B0604020202020204" pitchFamily="34" charset="0"/>
                <a:buChar char="•"/>
              </a:pPr>
              <a:r>
                <a:rPr lang="en-US" sz="1000" noProof="0" dirty="0">
                  <a:solidFill>
                    <a:srgbClr val="333333"/>
                  </a:solidFill>
                </a:rPr>
                <a:t>Software Supply Chain Security</a:t>
              </a:r>
            </a:p>
            <a:p>
              <a:pPr marL="171450" indent="-171450" algn="l">
                <a:spcBef>
                  <a:spcPts val="0"/>
                </a:spcBef>
                <a:spcAft>
                  <a:spcPts val="0"/>
                </a:spcAft>
                <a:buFont typeface="Arial" panose="020B0604020202020204" pitchFamily="34" charset="0"/>
                <a:buChar char="•"/>
              </a:pPr>
              <a:r>
                <a:rPr lang="en-US" sz="1000" noProof="0" dirty="0" err="1">
                  <a:solidFill>
                    <a:srgbClr val="333333"/>
                  </a:solidFill>
                </a:rPr>
                <a:t>DevSecOps</a:t>
              </a:r>
              <a:r>
                <a:rPr lang="en-US" sz="1000" noProof="0" dirty="0">
                  <a:solidFill>
                    <a:srgbClr val="333333"/>
                  </a:solidFill>
                </a:rPr>
                <a:t> – CI/CD security platform</a:t>
              </a:r>
            </a:p>
            <a:p>
              <a:pPr marL="171450" indent="-171450" algn="l">
                <a:spcBef>
                  <a:spcPts val="0"/>
                </a:spcBef>
                <a:spcAft>
                  <a:spcPts val="0"/>
                </a:spcAft>
                <a:buFont typeface="Arial" panose="020B0604020202020204" pitchFamily="34" charset="0"/>
                <a:buChar char="•"/>
              </a:pPr>
              <a:r>
                <a:rPr lang="en-US" sz="1000" noProof="0" dirty="0">
                  <a:solidFill>
                    <a:srgbClr val="333333"/>
                  </a:solidFill>
                </a:rPr>
                <a:t>SCA</a:t>
              </a:r>
            </a:p>
          </p:txBody>
        </p:sp>
      </p:grpSp>
      <p:grpSp>
        <p:nvGrpSpPr>
          <p:cNvPr id="11" name="Group 10">
            <a:extLst>
              <a:ext uri="{FF2B5EF4-FFF2-40B4-BE49-F238E27FC236}">
                <a16:creationId xmlns:a16="http://schemas.microsoft.com/office/drawing/2014/main" id="{1CAC8B0E-9B07-4237-EDAF-995395FBB357}"/>
              </a:ext>
            </a:extLst>
          </p:cNvPr>
          <p:cNvGrpSpPr/>
          <p:nvPr/>
        </p:nvGrpSpPr>
        <p:grpSpPr>
          <a:xfrm>
            <a:off x="4694169" y="1675079"/>
            <a:ext cx="1726510" cy="1552848"/>
            <a:chOff x="3382203" y="1518393"/>
            <a:chExt cx="1995841" cy="1552848"/>
          </a:xfrm>
        </p:grpSpPr>
        <p:sp>
          <p:nvSpPr>
            <p:cNvPr id="12" name="Rounded Rectangle 11">
              <a:extLst>
                <a:ext uri="{FF2B5EF4-FFF2-40B4-BE49-F238E27FC236}">
                  <a16:creationId xmlns:a16="http://schemas.microsoft.com/office/drawing/2014/main" id="{90B83977-9E69-64C5-879E-C9C651483026}"/>
                </a:ext>
              </a:extLst>
            </p:cNvPr>
            <p:cNvSpPr>
              <a:spLocks/>
            </p:cNvSpPr>
            <p:nvPr/>
          </p:nvSpPr>
          <p:spPr>
            <a:xfrm>
              <a:off x="3382203" y="1518393"/>
              <a:ext cx="1995841" cy="411480"/>
            </a:xfrm>
            <a:prstGeom prst="roundRect">
              <a:avLst/>
            </a:prstGeom>
            <a:solidFill>
              <a:srgbClr val="EAF3FF"/>
            </a:solidFill>
            <a:ln w="15240">
              <a:solidFill>
                <a:srgbClr val="2072B8"/>
              </a:solidFill>
            </a:ln>
          </p:spPr>
          <p:style>
            <a:lnRef idx="1">
              <a:schemeClr val="accent1"/>
            </a:lnRef>
            <a:fillRef idx="3">
              <a:schemeClr val="accent1"/>
            </a:fillRef>
            <a:effectRef idx="2">
              <a:schemeClr val="accent1"/>
            </a:effectRef>
            <a:fontRef idx="minor">
              <a:schemeClr val="lt1"/>
            </a:fontRef>
          </p:style>
          <p:txBody>
            <a:bodyPr wrap="square" lIns="127000" tIns="50800" rIns="101600" bIns="50800" rtlCol="0" anchor="ctr"/>
            <a:lstStyle/>
            <a:p>
              <a:pPr algn="l"/>
              <a:r>
                <a:rPr lang="en-US" sz="1400" b="1" noProof="0" dirty="0">
                  <a:solidFill>
                    <a:srgbClr val="2072B8"/>
                  </a:solidFill>
                </a:rPr>
                <a:t>Software Supply Chain</a:t>
              </a:r>
            </a:p>
          </p:txBody>
        </p:sp>
        <p:sp>
          <p:nvSpPr>
            <p:cNvPr id="13" name="Rounded Rectangle 12">
              <a:extLst>
                <a:ext uri="{FF2B5EF4-FFF2-40B4-BE49-F238E27FC236}">
                  <a16:creationId xmlns:a16="http://schemas.microsoft.com/office/drawing/2014/main" id="{1C557F45-5860-F83B-EE0E-B595CC608125}"/>
                </a:ext>
              </a:extLst>
            </p:cNvPr>
            <p:cNvSpPr>
              <a:spLocks/>
            </p:cNvSpPr>
            <p:nvPr/>
          </p:nvSpPr>
          <p:spPr>
            <a:xfrm>
              <a:off x="3382203" y="1955272"/>
              <a:ext cx="1995841" cy="1115969"/>
            </a:xfrm>
            <a:prstGeom prst="roundRect">
              <a:avLst/>
            </a:prstGeom>
            <a:solidFill>
              <a:srgbClr val="FFFFFF"/>
            </a:solidFill>
            <a:ln w="12700">
              <a:solidFill>
                <a:srgbClr val="2072B8"/>
              </a:solidFill>
            </a:ln>
          </p:spPr>
          <p:style>
            <a:lnRef idx="1">
              <a:schemeClr val="accent1"/>
            </a:lnRef>
            <a:fillRef idx="3">
              <a:schemeClr val="accent1"/>
            </a:fillRef>
            <a:effectRef idx="2">
              <a:schemeClr val="accent1"/>
            </a:effectRef>
            <a:fontRef idx="minor">
              <a:schemeClr val="lt1"/>
            </a:fontRef>
          </p:style>
          <p:txBody>
            <a:bodyPr wrap="square" lIns="127000" tIns="76200" rIns="101600" bIns="50800" rtlCol="0" anchor="ctr">
              <a:noAutofit/>
            </a:bodyPr>
            <a:lstStyle/>
            <a:p>
              <a:pPr marL="171450" indent="-171450" algn="l">
                <a:spcBef>
                  <a:spcPts val="0"/>
                </a:spcBef>
                <a:spcAft>
                  <a:spcPts val="0"/>
                </a:spcAft>
                <a:buFont typeface="Arial" panose="020B0604020202020204" pitchFamily="34" charset="0"/>
                <a:buChar char="•"/>
              </a:pPr>
              <a:r>
                <a:rPr lang="en-US" sz="1000" noProof="0" dirty="0">
                  <a:solidFill>
                    <a:srgbClr val="333333"/>
                  </a:solidFill>
                </a:rPr>
                <a:t>SBOM Management Platform</a:t>
              </a:r>
            </a:p>
            <a:p>
              <a:pPr marL="171450" indent="-171450" algn="l">
                <a:spcBef>
                  <a:spcPts val="0"/>
                </a:spcBef>
                <a:spcAft>
                  <a:spcPts val="0"/>
                </a:spcAft>
                <a:buFont typeface="Arial" panose="020B0604020202020204" pitchFamily="34" charset="0"/>
                <a:buChar char="•"/>
              </a:pPr>
              <a:r>
                <a:rPr lang="en-US" sz="1000" noProof="0" dirty="0">
                  <a:solidFill>
                    <a:srgbClr val="333333"/>
                  </a:solidFill>
                </a:rPr>
                <a:t>Software Supply Chain Security</a:t>
              </a:r>
            </a:p>
            <a:p>
              <a:pPr marL="171450" indent="-171450" algn="l">
                <a:spcBef>
                  <a:spcPts val="0"/>
                </a:spcBef>
                <a:spcAft>
                  <a:spcPts val="0"/>
                </a:spcAft>
                <a:buFont typeface="Arial" panose="020B0604020202020204" pitchFamily="34" charset="0"/>
                <a:buChar char="•"/>
              </a:pPr>
              <a:r>
                <a:rPr lang="en-US" sz="1000" noProof="0" dirty="0" err="1">
                  <a:solidFill>
                    <a:srgbClr val="333333"/>
                  </a:solidFill>
                </a:rPr>
                <a:t>DevSecOps</a:t>
              </a:r>
              <a:r>
                <a:rPr lang="en-US" sz="1000" noProof="0" dirty="0">
                  <a:solidFill>
                    <a:srgbClr val="333333"/>
                  </a:solidFill>
                </a:rPr>
                <a:t> – CI/CD security platform</a:t>
              </a:r>
            </a:p>
            <a:p>
              <a:pPr marL="171450" indent="-171450" algn="l">
                <a:spcBef>
                  <a:spcPts val="0"/>
                </a:spcBef>
                <a:spcAft>
                  <a:spcPts val="0"/>
                </a:spcAft>
                <a:buFont typeface="Arial" panose="020B0604020202020204" pitchFamily="34" charset="0"/>
                <a:buChar char="•"/>
              </a:pPr>
              <a:r>
                <a:rPr lang="en-US" sz="1000" noProof="0" dirty="0">
                  <a:solidFill>
                    <a:srgbClr val="333333"/>
                  </a:solidFill>
                </a:rPr>
                <a:t>SCA</a:t>
              </a:r>
            </a:p>
          </p:txBody>
        </p:sp>
      </p:grpSp>
      <p:grpSp>
        <p:nvGrpSpPr>
          <p:cNvPr id="14" name="Group 13">
            <a:extLst>
              <a:ext uri="{FF2B5EF4-FFF2-40B4-BE49-F238E27FC236}">
                <a16:creationId xmlns:a16="http://schemas.microsoft.com/office/drawing/2014/main" id="{6703F8BF-6FEB-2DC0-8F86-B1F5C9E805F3}"/>
              </a:ext>
            </a:extLst>
          </p:cNvPr>
          <p:cNvGrpSpPr/>
          <p:nvPr/>
        </p:nvGrpSpPr>
        <p:grpSpPr>
          <a:xfrm>
            <a:off x="8769212" y="1675079"/>
            <a:ext cx="1726510" cy="1552848"/>
            <a:chOff x="3382203" y="1518393"/>
            <a:chExt cx="1995841" cy="1552848"/>
          </a:xfrm>
        </p:grpSpPr>
        <p:sp>
          <p:nvSpPr>
            <p:cNvPr id="15" name="Rounded Rectangle 11">
              <a:extLst>
                <a:ext uri="{FF2B5EF4-FFF2-40B4-BE49-F238E27FC236}">
                  <a16:creationId xmlns:a16="http://schemas.microsoft.com/office/drawing/2014/main" id="{31E91F74-D986-19BA-7CFE-7FE33020A9B9}"/>
                </a:ext>
              </a:extLst>
            </p:cNvPr>
            <p:cNvSpPr>
              <a:spLocks/>
            </p:cNvSpPr>
            <p:nvPr/>
          </p:nvSpPr>
          <p:spPr>
            <a:xfrm>
              <a:off x="3382203" y="1518393"/>
              <a:ext cx="1995841" cy="411480"/>
            </a:xfrm>
            <a:prstGeom prst="roundRect">
              <a:avLst/>
            </a:prstGeom>
            <a:solidFill>
              <a:srgbClr val="EAF3FF"/>
            </a:solidFill>
            <a:ln w="15240">
              <a:solidFill>
                <a:srgbClr val="2072B8"/>
              </a:solidFill>
            </a:ln>
          </p:spPr>
          <p:style>
            <a:lnRef idx="1">
              <a:schemeClr val="accent1"/>
            </a:lnRef>
            <a:fillRef idx="3">
              <a:schemeClr val="accent1"/>
            </a:fillRef>
            <a:effectRef idx="2">
              <a:schemeClr val="accent1"/>
            </a:effectRef>
            <a:fontRef idx="minor">
              <a:schemeClr val="lt1"/>
            </a:fontRef>
          </p:style>
          <p:txBody>
            <a:bodyPr wrap="square" lIns="127000" tIns="50800" rIns="101600" bIns="50800" rtlCol="0" anchor="ctr"/>
            <a:lstStyle/>
            <a:p>
              <a:pPr algn="l"/>
              <a:r>
                <a:rPr lang="en-US" sz="1400" b="1" noProof="0" dirty="0">
                  <a:solidFill>
                    <a:srgbClr val="2072B8"/>
                  </a:solidFill>
                </a:rPr>
                <a:t>Software Supply Chain</a:t>
              </a:r>
            </a:p>
          </p:txBody>
        </p:sp>
        <p:sp>
          <p:nvSpPr>
            <p:cNvPr id="16" name="Rounded Rectangle 12">
              <a:extLst>
                <a:ext uri="{FF2B5EF4-FFF2-40B4-BE49-F238E27FC236}">
                  <a16:creationId xmlns:a16="http://schemas.microsoft.com/office/drawing/2014/main" id="{F6988973-E851-61EE-2772-6F6A4A578BCC}"/>
                </a:ext>
              </a:extLst>
            </p:cNvPr>
            <p:cNvSpPr>
              <a:spLocks/>
            </p:cNvSpPr>
            <p:nvPr/>
          </p:nvSpPr>
          <p:spPr>
            <a:xfrm>
              <a:off x="3382203" y="1955272"/>
              <a:ext cx="1995841" cy="1115969"/>
            </a:xfrm>
            <a:prstGeom prst="roundRect">
              <a:avLst/>
            </a:prstGeom>
            <a:solidFill>
              <a:srgbClr val="FFFFFF"/>
            </a:solidFill>
            <a:ln w="12700">
              <a:solidFill>
                <a:srgbClr val="2072B8"/>
              </a:solidFill>
            </a:ln>
          </p:spPr>
          <p:style>
            <a:lnRef idx="1">
              <a:schemeClr val="accent1"/>
            </a:lnRef>
            <a:fillRef idx="3">
              <a:schemeClr val="accent1"/>
            </a:fillRef>
            <a:effectRef idx="2">
              <a:schemeClr val="accent1"/>
            </a:effectRef>
            <a:fontRef idx="minor">
              <a:schemeClr val="lt1"/>
            </a:fontRef>
          </p:style>
          <p:txBody>
            <a:bodyPr wrap="square" lIns="127000" tIns="76200" rIns="101600" bIns="50800" rtlCol="0" anchor="ctr">
              <a:noAutofit/>
            </a:bodyPr>
            <a:lstStyle/>
            <a:p>
              <a:pPr marL="171450" indent="-171450" algn="l">
                <a:spcBef>
                  <a:spcPts val="0"/>
                </a:spcBef>
                <a:spcAft>
                  <a:spcPts val="0"/>
                </a:spcAft>
                <a:buFont typeface="Arial" panose="020B0604020202020204" pitchFamily="34" charset="0"/>
                <a:buChar char="•"/>
              </a:pPr>
              <a:r>
                <a:rPr lang="en-US" sz="1000" noProof="0" dirty="0">
                  <a:solidFill>
                    <a:srgbClr val="333333"/>
                  </a:solidFill>
                </a:rPr>
                <a:t>SBOM Management Platform</a:t>
              </a:r>
            </a:p>
            <a:p>
              <a:pPr marL="171450" indent="-171450" algn="l">
                <a:spcBef>
                  <a:spcPts val="0"/>
                </a:spcBef>
                <a:spcAft>
                  <a:spcPts val="0"/>
                </a:spcAft>
                <a:buFont typeface="Arial" panose="020B0604020202020204" pitchFamily="34" charset="0"/>
                <a:buChar char="•"/>
              </a:pPr>
              <a:r>
                <a:rPr lang="en-US" sz="1000" noProof="0" dirty="0">
                  <a:solidFill>
                    <a:srgbClr val="333333"/>
                  </a:solidFill>
                </a:rPr>
                <a:t>Software Supply Chain Security</a:t>
              </a:r>
            </a:p>
            <a:p>
              <a:pPr marL="171450" indent="-171450" algn="l">
                <a:spcBef>
                  <a:spcPts val="0"/>
                </a:spcBef>
                <a:spcAft>
                  <a:spcPts val="0"/>
                </a:spcAft>
                <a:buFont typeface="Arial" panose="020B0604020202020204" pitchFamily="34" charset="0"/>
                <a:buChar char="•"/>
              </a:pPr>
              <a:r>
                <a:rPr lang="en-US" sz="1000" noProof="0" dirty="0" err="1">
                  <a:solidFill>
                    <a:srgbClr val="333333"/>
                  </a:solidFill>
                </a:rPr>
                <a:t>DevSecOps</a:t>
              </a:r>
              <a:r>
                <a:rPr lang="en-US" sz="1000" noProof="0" dirty="0">
                  <a:solidFill>
                    <a:srgbClr val="333333"/>
                  </a:solidFill>
                </a:rPr>
                <a:t> – CI/CD security platform</a:t>
              </a:r>
            </a:p>
            <a:p>
              <a:pPr marL="171450" indent="-171450" algn="l">
                <a:spcBef>
                  <a:spcPts val="0"/>
                </a:spcBef>
                <a:spcAft>
                  <a:spcPts val="0"/>
                </a:spcAft>
                <a:buFont typeface="Arial" panose="020B0604020202020204" pitchFamily="34" charset="0"/>
                <a:buChar char="•"/>
              </a:pPr>
              <a:r>
                <a:rPr lang="en-US" sz="1000" noProof="0" dirty="0">
                  <a:solidFill>
                    <a:srgbClr val="333333"/>
                  </a:solidFill>
                </a:rPr>
                <a:t>SCA</a:t>
              </a:r>
            </a:p>
          </p:txBody>
        </p:sp>
      </p:grpSp>
      <p:grpSp>
        <p:nvGrpSpPr>
          <p:cNvPr id="17" name="Group 16">
            <a:extLst>
              <a:ext uri="{FF2B5EF4-FFF2-40B4-BE49-F238E27FC236}">
                <a16:creationId xmlns:a16="http://schemas.microsoft.com/office/drawing/2014/main" id="{1E23F178-2FCD-5316-C7EF-F4D0CC34BAEE}"/>
              </a:ext>
            </a:extLst>
          </p:cNvPr>
          <p:cNvGrpSpPr/>
          <p:nvPr/>
        </p:nvGrpSpPr>
        <p:grpSpPr>
          <a:xfrm>
            <a:off x="6592542" y="1675079"/>
            <a:ext cx="1726510" cy="1552848"/>
            <a:chOff x="3382203" y="1518393"/>
            <a:chExt cx="1995841" cy="1552848"/>
          </a:xfrm>
        </p:grpSpPr>
        <p:sp>
          <p:nvSpPr>
            <p:cNvPr id="18" name="Rounded Rectangle 11">
              <a:extLst>
                <a:ext uri="{FF2B5EF4-FFF2-40B4-BE49-F238E27FC236}">
                  <a16:creationId xmlns:a16="http://schemas.microsoft.com/office/drawing/2014/main" id="{36284AA6-D917-E9ED-22D0-49F4640A4A53}"/>
                </a:ext>
              </a:extLst>
            </p:cNvPr>
            <p:cNvSpPr>
              <a:spLocks/>
            </p:cNvSpPr>
            <p:nvPr/>
          </p:nvSpPr>
          <p:spPr>
            <a:xfrm>
              <a:off x="3382203" y="1518393"/>
              <a:ext cx="1995841" cy="411480"/>
            </a:xfrm>
            <a:prstGeom prst="roundRect">
              <a:avLst/>
            </a:prstGeom>
            <a:solidFill>
              <a:srgbClr val="EAF3FF"/>
            </a:solidFill>
            <a:ln w="15240">
              <a:solidFill>
                <a:srgbClr val="2072B8"/>
              </a:solidFill>
            </a:ln>
          </p:spPr>
          <p:style>
            <a:lnRef idx="1">
              <a:schemeClr val="accent1"/>
            </a:lnRef>
            <a:fillRef idx="3">
              <a:schemeClr val="accent1"/>
            </a:fillRef>
            <a:effectRef idx="2">
              <a:schemeClr val="accent1"/>
            </a:effectRef>
            <a:fontRef idx="minor">
              <a:schemeClr val="lt1"/>
            </a:fontRef>
          </p:style>
          <p:txBody>
            <a:bodyPr wrap="square" lIns="127000" tIns="50800" rIns="101600" bIns="50800" rtlCol="0" anchor="ctr"/>
            <a:lstStyle/>
            <a:p>
              <a:pPr algn="l"/>
              <a:r>
                <a:rPr lang="en-US" sz="1400" b="1" noProof="0" dirty="0">
                  <a:solidFill>
                    <a:srgbClr val="2072B8"/>
                  </a:solidFill>
                </a:rPr>
                <a:t>Software Supply Chain</a:t>
              </a:r>
            </a:p>
          </p:txBody>
        </p:sp>
        <p:sp>
          <p:nvSpPr>
            <p:cNvPr id="19" name="Rounded Rectangle 12">
              <a:extLst>
                <a:ext uri="{FF2B5EF4-FFF2-40B4-BE49-F238E27FC236}">
                  <a16:creationId xmlns:a16="http://schemas.microsoft.com/office/drawing/2014/main" id="{BE525AE2-15DB-D3BB-3D93-F0300D5C057B}"/>
                </a:ext>
              </a:extLst>
            </p:cNvPr>
            <p:cNvSpPr>
              <a:spLocks/>
            </p:cNvSpPr>
            <p:nvPr/>
          </p:nvSpPr>
          <p:spPr>
            <a:xfrm>
              <a:off x="3382203" y="1955272"/>
              <a:ext cx="1995841" cy="1115969"/>
            </a:xfrm>
            <a:prstGeom prst="roundRect">
              <a:avLst/>
            </a:prstGeom>
            <a:solidFill>
              <a:srgbClr val="FFFFFF"/>
            </a:solidFill>
            <a:ln w="12700">
              <a:solidFill>
                <a:srgbClr val="2072B8"/>
              </a:solidFill>
            </a:ln>
          </p:spPr>
          <p:style>
            <a:lnRef idx="1">
              <a:schemeClr val="accent1"/>
            </a:lnRef>
            <a:fillRef idx="3">
              <a:schemeClr val="accent1"/>
            </a:fillRef>
            <a:effectRef idx="2">
              <a:schemeClr val="accent1"/>
            </a:effectRef>
            <a:fontRef idx="minor">
              <a:schemeClr val="lt1"/>
            </a:fontRef>
          </p:style>
          <p:txBody>
            <a:bodyPr wrap="square" lIns="127000" tIns="76200" rIns="101600" bIns="50800" rtlCol="0" anchor="ctr">
              <a:noAutofit/>
            </a:bodyPr>
            <a:lstStyle/>
            <a:p>
              <a:pPr marL="171450" indent="-171450" algn="l">
                <a:spcBef>
                  <a:spcPts val="0"/>
                </a:spcBef>
                <a:spcAft>
                  <a:spcPts val="0"/>
                </a:spcAft>
                <a:buFont typeface="Arial" panose="020B0604020202020204" pitchFamily="34" charset="0"/>
                <a:buChar char="•"/>
              </a:pPr>
              <a:r>
                <a:rPr lang="en-US" sz="1000" noProof="0" dirty="0">
                  <a:solidFill>
                    <a:srgbClr val="333333"/>
                  </a:solidFill>
                </a:rPr>
                <a:t>SBOM Management Platform</a:t>
              </a:r>
            </a:p>
            <a:p>
              <a:pPr marL="171450" indent="-171450" algn="l">
                <a:spcBef>
                  <a:spcPts val="0"/>
                </a:spcBef>
                <a:spcAft>
                  <a:spcPts val="0"/>
                </a:spcAft>
                <a:buFont typeface="Arial" panose="020B0604020202020204" pitchFamily="34" charset="0"/>
                <a:buChar char="•"/>
              </a:pPr>
              <a:r>
                <a:rPr lang="en-US" sz="1000" noProof="0" dirty="0">
                  <a:solidFill>
                    <a:srgbClr val="333333"/>
                  </a:solidFill>
                </a:rPr>
                <a:t>Software Supply Chain Security</a:t>
              </a:r>
            </a:p>
            <a:p>
              <a:pPr marL="171450" indent="-171450" algn="l">
                <a:spcBef>
                  <a:spcPts val="0"/>
                </a:spcBef>
                <a:spcAft>
                  <a:spcPts val="0"/>
                </a:spcAft>
                <a:buFont typeface="Arial" panose="020B0604020202020204" pitchFamily="34" charset="0"/>
                <a:buChar char="•"/>
              </a:pPr>
              <a:r>
                <a:rPr lang="en-US" sz="1000" noProof="0" dirty="0" err="1">
                  <a:solidFill>
                    <a:srgbClr val="333333"/>
                  </a:solidFill>
                </a:rPr>
                <a:t>DevSecOps</a:t>
              </a:r>
              <a:r>
                <a:rPr lang="en-US" sz="1000" noProof="0" dirty="0">
                  <a:solidFill>
                    <a:srgbClr val="333333"/>
                  </a:solidFill>
                </a:rPr>
                <a:t> – CI/CD security platform</a:t>
              </a:r>
            </a:p>
            <a:p>
              <a:pPr marL="171450" indent="-171450" algn="l">
                <a:spcBef>
                  <a:spcPts val="0"/>
                </a:spcBef>
                <a:spcAft>
                  <a:spcPts val="0"/>
                </a:spcAft>
                <a:buFont typeface="Arial" panose="020B0604020202020204" pitchFamily="34" charset="0"/>
                <a:buChar char="•"/>
              </a:pPr>
              <a:r>
                <a:rPr lang="en-US" sz="1000" noProof="0" dirty="0">
                  <a:solidFill>
                    <a:srgbClr val="333333"/>
                  </a:solidFill>
                </a:rPr>
                <a:t>SCA</a:t>
              </a:r>
            </a:p>
          </p:txBody>
        </p:sp>
      </p:grpSp>
    </p:spTree>
    <p:extLst>
      <p:ext uri="{BB962C8B-B14F-4D97-AF65-F5344CB8AC3E}">
        <p14:creationId xmlns:p14="http://schemas.microsoft.com/office/powerpoint/2010/main" val="174208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109728"/>
            <a:ext cx="11430000" cy="457200"/>
          </a:xfrm>
          <a:prstGeom prst="rect">
            <a:avLst/>
          </a:prstGeom>
          <a:noFill/>
        </p:spPr>
        <p:txBody>
          <a:bodyPr wrap="square">
            <a:spAutoFit/>
          </a:bodyPr>
          <a:lstStyle/>
          <a:p>
            <a:pPr algn="l"/>
            <a:r>
              <a:rPr sz="2000" b="1" i="0">
                <a:solidFill>
                  <a:srgbClr val="FFFFFF"/>
                </a:solidFill>
              </a:rPr>
              <a:t>Classification ENISA — Taxonomie Pivot Cybersécurité</a:t>
            </a:r>
          </a:p>
        </p:txBody>
      </p:sp>
      <p:sp>
        <p:nvSpPr>
          <p:cNvPr id="6" name="Rectangle 5"/>
          <p:cNvSpPr/>
          <p:nvPr/>
        </p:nvSpPr>
        <p:spPr>
          <a:xfrm>
            <a:off x="320040" y="777240"/>
            <a:ext cx="5623560" cy="5532120"/>
          </a:xfrm>
          <a:prstGeom prst="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822960"/>
            <a:ext cx="5440680" cy="320040"/>
          </a:xfrm>
          <a:prstGeom prst="rect">
            <a:avLst/>
          </a:prstGeom>
          <a:noFill/>
        </p:spPr>
        <p:txBody>
          <a:bodyPr wrap="square">
            <a:spAutoFit/>
          </a:bodyPr>
          <a:lstStyle/>
          <a:p>
            <a:pPr algn="l"/>
            <a:r>
              <a:rPr sz="1100" b="1" i="0">
                <a:solidFill>
                  <a:srgbClr val="1E3A5F"/>
                </a:solidFill>
              </a:rPr>
              <a:t>13 Catégories Cybersécurité (Taxonomie ENISA / NIS2)</a:t>
            </a:r>
          </a:p>
        </p:txBody>
      </p:sp>
      <p:sp>
        <p:nvSpPr>
          <p:cNvPr id="8" name="Rectangle 7"/>
          <p:cNvSpPr/>
          <p:nvPr/>
        </p:nvSpPr>
        <p:spPr>
          <a:xfrm>
            <a:off x="411480" y="1216152"/>
            <a:ext cx="347472" cy="31089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234440"/>
            <a:ext cx="347472" cy="274320"/>
          </a:xfrm>
          <a:prstGeom prst="rect">
            <a:avLst/>
          </a:prstGeom>
          <a:noFill/>
        </p:spPr>
        <p:txBody>
          <a:bodyPr wrap="square">
            <a:spAutoFit/>
          </a:bodyPr>
          <a:lstStyle/>
          <a:p>
            <a:pPr algn="ctr"/>
            <a:r>
              <a:rPr sz="750" b="1" i="0">
                <a:solidFill>
                  <a:srgbClr val="FFFFFF"/>
                </a:solidFill>
              </a:rPr>
              <a:t>01</a:t>
            </a:r>
          </a:p>
        </p:txBody>
      </p:sp>
      <p:sp>
        <p:nvSpPr>
          <p:cNvPr id="10" name="TextBox 9"/>
          <p:cNvSpPr txBox="1"/>
          <p:nvPr/>
        </p:nvSpPr>
        <p:spPr>
          <a:xfrm>
            <a:off x="804672" y="1234440"/>
            <a:ext cx="2286000" cy="310896"/>
          </a:xfrm>
          <a:prstGeom prst="rect">
            <a:avLst/>
          </a:prstGeom>
          <a:noFill/>
        </p:spPr>
        <p:txBody>
          <a:bodyPr wrap="square">
            <a:spAutoFit/>
          </a:bodyPr>
          <a:lstStyle/>
          <a:p>
            <a:pPr algn="l"/>
            <a:r>
              <a:rPr sz="850" b="0" i="0">
                <a:solidFill>
                  <a:srgbClr val="1A1A2E"/>
                </a:solidFill>
              </a:rPr>
              <a:t>Governance &amp; Risk Management</a:t>
            </a:r>
          </a:p>
        </p:txBody>
      </p:sp>
      <p:sp>
        <p:nvSpPr>
          <p:cNvPr id="11" name="Rectangle 10"/>
          <p:cNvSpPr/>
          <p:nvPr/>
        </p:nvSpPr>
        <p:spPr>
          <a:xfrm>
            <a:off x="411480" y="1600200"/>
            <a:ext cx="347472" cy="31089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1618488"/>
            <a:ext cx="347472" cy="274320"/>
          </a:xfrm>
          <a:prstGeom prst="rect">
            <a:avLst/>
          </a:prstGeom>
          <a:noFill/>
        </p:spPr>
        <p:txBody>
          <a:bodyPr wrap="square">
            <a:spAutoFit/>
          </a:bodyPr>
          <a:lstStyle/>
          <a:p>
            <a:pPr algn="ctr"/>
            <a:r>
              <a:rPr sz="750" b="1" i="0">
                <a:solidFill>
                  <a:srgbClr val="FFFFFF"/>
                </a:solidFill>
              </a:rPr>
              <a:t>02</a:t>
            </a:r>
          </a:p>
        </p:txBody>
      </p:sp>
      <p:sp>
        <p:nvSpPr>
          <p:cNvPr id="13" name="TextBox 12"/>
          <p:cNvSpPr txBox="1"/>
          <p:nvPr/>
        </p:nvSpPr>
        <p:spPr>
          <a:xfrm>
            <a:off x="804672" y="1618488"/>
            <a:ext cx="2286000" cy="310896"/>
          </a:xfrm>
          <a:prstGeom prst="rect">
            <a:avLst/>
          </a:prstGeom>
          <a:noFill/>
        </p:spPr>
        <p:txBody>
          <a:bodyPr wrap="square">
            <a:spAutoFit/>
          </a:bodyPr>
          <a:lstStyle/>
          <a:p>
            <a:pPr algn="l"/>
            <a:r>
              <a:rPr sz="850" b="0" i="0">
                <a:solidFill>
                  <a:srgbClr val="1A1A2E"/>
                </a:solidFill>
              </a:rPr>
              <a:t>Legal &amp; Compliance</a:t>
            </a:r>
          </a:p>
        </p:txBody>
      </p:sp>
      <p:sp>
        <p:nvSpPr>
          <p:cNvPr id="14" name="Rectangle 13"/>
          <p:cNvSpPr/>
          <p:nvPr/>
        </p:nvSpPr>
        <p:spPr>
          <a:xfrm>
            <a:off x="411480" y="1984248"/>
            <a:ext cx="347472" cy="31089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2002536"/>
            <a:ext cx="347472" cy="274320"/>
          </a:xfrm>
          <a:prstGeom prst="rect">
            <a:avLst/>
          </a:prstGeom>
          <a:noFill/>
        </p:spPr>
        <p:txBody>
          <a:bodyPr wrap="square">
            <a:spAutoFit/>
          </a:bodyPr>
          <a:lstStyle/>
          <a:p>
            <a:pPr algn="ctr"/>
            <a:r>
              <a:rPr sz="750" b="1" i="0">
                <a:solidFill>
                  <a:srgbClr val="FFFFFF"/>
                </a:solidFill>
              </a:rPr>
              <a:t>03</a:t>
            </a:r>
          </a:p>
        </p:txBody>
      </p:sp>
      <p:sp>
        <p:nvSpPr>
          <p:cNvPr id="16" name="TextBox 15"/>
          <p:cNvSpPr txBox="1"/>
          <p:nvPr/>
        </p:nvSpPr>
        <p:spPr>
          <a:xfrm>
            <a:off x="804672" y="2002536"/>
            <a:ext cx="2286000" cy="310896"/>
          </a:xfrm>
          <a:prstGeom prst="rect">
            <a:avLst/>
          </a:prstGeom>
          <a:noFill/>
        </p:spPr>
        <p:txBody>
          <a:bodyPr wrap="square">
            <a:spAutoFit/>
          </a:bodyPr>
          <a:lstStyle/>
          <a:p>
            <a:pPr algn="l"/>
            <a:r>
              <a:rPr sz="850" b="0" i="0">
                <a:solidFill>
                  <a:srgbClr val="1A1A2E"/>
                </a:solidFill>
              </a:rPr>
              <a:t>Asset Management</a:t>
            </a:r>
          </a:p>
        </p:txBody>
      </p:sp>
      <p:sp>
        <p:nvSpPr>
          <p:cNvPr id="17" name="Rectangle 16"/>
          <p:cNvSpPr/>
          <p:nvPr/>
        </p:nvSpPr>
        <p:spPr>
          <a:xfrm>
            <a:off x="411480" y="2368296"/>
            <a:ext cx="347472" cy="31089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2386584"/>
            <a:ext cx="347472" cy="274320"/>
          </a:xfrm>
          <a:prstGeom prst="rect">
            <a:avLst/>
          </a:prstGeom>
          <a:noFill/>
        </p:spPr>
        <p:txBody>
          <a:bodyPr wrap="square">
            <a:spAutoFit/>
          </a:bodyPr>
          <a:lstStyle/>
          <a:p>
            <a:pPr algn="ctr"/>
            <a:r>
              <a:rPr sz="750" b="1" i="0">
                <a:solidFill>
                  <a:srgbClr val="FFFFFF"/>
                </a:solidFill>
              </a:rPr>
              <a:t>04</a:t>
            </a:r>
          </a:p>
        </p:txBody>
      </p:sp>
      <p:sp>
        <p:nvSpPr>
          <p:cNvPr id="19" name="TextBox 18"/>
          <p:cNvSpPr txBox="1"/>
          <p:nvPr/>
        </p:nvSpPr>
        <p:spPr>
          <a:xfrm>
            <a:off x="804672" y="2386584"/>
            <a:ext cx="2286000" cy="310896"/>
          </a:xfrm>
          <a:prstGeom prst="rect">
            <a:avLst/>
          </a:prstGeom>
          <a:noFill/>
        </p:spPr>
        <p:txBody>
          <a:bodyPr wrap="square">
            <a:spAutoFit/>
          </a:bodyPr>
          <a:lstStyle/>
          <a:p>
            <a:pPr algn="l"/>
            <a:r>
              <a:rPr sz="850" b="0" i="0">
                <a:solidFill>
                  <a:srgbClr val="1A1A2E"/>
                </a:solidFill>
              </a:rPr>
              <a:t>Identity &amp; Access Management</a:t>
            </a:r>
          </a:p>
        </p:txBody>
      </p:sp>
      <p:sp>
        <p:nvSpPr>
          <p:cNvPr id="20" name="Rectangle 19"/>
          <p:cNvSpPr/>
          <p:nvPr/>
        </p:nvSpPr>
        <p:spPr>
          <a:xfrm>
            <a:off x="411480" y="2752344"/>
            <a:ext cx="347472" cy="31089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770632"/>
            <a:ext cx="347472" cy="274320"/>
          </a:xfrm>
          <a:prstGeom prst="rect">
            <a:avLst/>
          </a:prstGeom>
          <a:noFill/>
        </p:spPr>
        <p:txBody>
          <a:bodyPr wrap="square">
            <a:spAutoFit/>
          </a:bodyPr>
          <a:lstStyle/>
          <a:p>
            <a:pPr algn="ctr"/>
            <a:r>
              <a:rPr sz="750" b="1" i="0">
                <a:solidFill>
                  <a:srgbClr val="FFFFFF"/>
                </a:solidFill>
              </a:rPr>
              <a:t>05</a:t>
            </a:r>
          </a:p>
        </p:txBody>
      </p:sp>
      <p:sp>
        <p:nvSpPr>
          <p:cNvPr id="22" name="TextBox 21"/>
          <p:cNvSpPr txBox="1"/>
          <p:nvPr/>
        </p:nvSpPr>
        <p:spPr>
          <a:xfrm>
            <a:off x="804672" y="2770632"/>
            <a:ext cx="2286000" cy="310896"/>
          </a:xfrm>
          <a:prstGeom prst="rect">
            <a:avLst/>
          </a:prstGeom>
          <a:noFill/>
        </p:spPr>
        <p:txBody>
          <a:bodyPr wrap="square">
            <a:spAutoFit/>
          </a:bodyPr>
          <a:lstStyle/>
          <a:p>
            <a:pPr algn="l"/>
            <a:r>
              <a:rPr sz="850" b="0" i="0">
                <a:solidFill>
                  <a:srgbClr val="1A1A2E"/>
                </a:solidFill>
              </a:rPr>
              <a:t>Cryptography &amp; Key Management</a:t>
            </a:r>
          </a:p>
        </p:txBody>
      </p:sp>
      <p:sp>
        <p:nvSpPr>
          <p:cNvPr id="23" name="Rectangle 22"/>
          <p:cNvSpPr/>
          <p:nvPr/>
        </p:nvSpPr>
        <p:spPr>
          <a:xfrm>
            <a:off x="411480" y="3136392"/>
            <a:ext cx="347472" cy="31089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154680"/>
            <a:ext cx="347472" cy="274320"/>
          </a:xfrm>
          <a:prstGeom prst="rect">
            <a:avLst/>
          </a:prstGeom>
          <a:noFill/>
        </p:spPr>
        <p:txBody>
          <a:bodyPr wrap="square">
            <a:spAutoFit/>
          </a:bodyPr>
          <a:lstStyle/>
          <a:p>
            <a:pPr algn="ctr"/>
            <a:r>
              <a:rPr sz="750" b="1" i="0">
                <a:solidFill>
                  <a:srgbClr val="FFFFFF"/>
                </a:solidFill>
              </a:rPr>
              <a:t>06</a:t>
            </a:r>
          </a:p>
        </p:txBody>
      </p:sp>
      <p:sp>
        <p:nvSpPr>
          <p:cNvPr id="25" name="TextBox 24"/>
          <p:cNvSpPr txBox="1"/>
          <p:nvPr/>
        </p:nvSpPr>
        <p:spPr>
          <a:xfrm>
            <a:off x="804672" y="3154680"/>
            <a:ext cx="2286000" cy="310896"/>
          </a:xfrm>
          <a:prstGeom prst="rect">
            <a:avLst/>
          </a:prstGeom>
          <a:noFill/>
        </p:spPr>
        <p:txBody>
          <a:bodyPr wrap="square">
            <a:spAutoFit/>
          </a:bodyPr>
          <a:lstStyle/>
          <a:p>
            <a:pPr algn="l"/>
            <a:r>
              <a:rPr sz="850" b="0" i="0">
                <a:solidFill>
                  <a:srgbClr val="1A1A2E"/>
                </a:solidFill>
              </a:rPr>
              <a:t>Physical &amp; Environmental Security</a:t>
            </a:r>
          </a:p>
        </p:txBody>
      </p:sp>
      <p:sp>
        <p:nvSpPr>
          <p:cNvPr id="26" name="Rectangle 25"/>
          <p:cNvSpPr/>
          <p:nvPr/>
        </p:nvSpPr>
        <p:spPr>
          <a:xfrm>
            <a:off x="411480" y="3520440"/>
            <a:ext cx="347472" cy="31089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538728"/>
            <a:ext cx="347472" cy="274320"/>
          </a:xfrm>
          <a:prstGeom prst="rect">
            <a:avLst/>
          </a:prstGeom>
          <a:noFill/>
        </p:spPr>
        <p:txBody>
          <a:bodyPr wrap="square">
            <a:spAutoFit/>
          </a:bodyPr>
          <a:lstStyle/>
          <a:p>
            <a:pPr algn="ctr"/>
            <a:r>
              <a:rPr sz="750" b="1" i="0">
                <a:solidFill>
                  <a:srgbClr val="FFFFFF"/>
                </a:solidFill>
              </a:rPr>
              <a:t>07</a:t>
            </a:r>
          </a:p>
        </p:txBody>
      </p:sp>
      <p:sp>
        <p:nvSpPr>
          <p:cNvPr id="28" name="TextBox 27"/>
          <p:cNvSpPr txBox="1"/>
          <p:nvPr/>
        </p:nvSpPr>
        <p:spPr>
          <a:xfrm>
            <a:off x="804672" y="3538728"/>
            <a:ext cx="2286000" cy="310896"/>
          </a:xfrm>
          <a:prstGeom prst="rect">
            <a:avLst/>
          </a:prstGeom>
          <a:noFill/>
        </p:spPr>
        <p:txBody>
          <a:bodyPr wrap="square">
            <a:spAutoFit/>
          </a:bodyPr>
          <a:lstStyle/>
          <a:p>
            <a:pPr algn="l"/>
            <a:r>
              <a:rPr sz="850" b="0" i="0">
                <a:solidFill>
                  <a:srgbClr val="1A1A2E"/>
                </a:solidFill>
              </a:rPr>
              <a:t>Network Security</a:t>
            </a:r>
          </a:p>
        </p:txBody>
      </p:sp>
      <p:sp>
        <p:nvSpPr>
          <p:cNvPr id="29" name="Rectangle 28"/>
          <p:cNvSpPr/>
          <p:nvPr/>
        </p:nvSpPr>
        <p:spPr>
          <a:xfrm>
            <a:off x="3200400" y="1216152"/>
            <a:ext cx="347472" cy="31089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0" y="1234440"/>
            <a:ext cx="347472" cy="274320"/>
          </a:xfrm>
          <a:prstGeom prst="rect">
            <a:avLst/>
          </a:prstGeom>
          <a:noFill/>
        </p:spPr>
        <p:txBody>
          <a:bodyPr wrap="square">
            <a:spAutoFit/>
          </a:bodyPr>
          <a:lstStyle/>
          <a:p>
            <a:pPr algn="ctr"/>
            <a:r>
              <a:rPr sz="750" b="1" i="0">
                <a:solidFill>
                  <a:srgbClr val="FFFFFF"/>
                </a:solidFill>
              </a:rPr>
              <a:t>08</a:t>
            </a:r>
          </a:p>
        </p:txBody>
      </p:sp>
      <p:sp>
        <p:nvSpPr>
          <p:cNvPr id="31" name="TextBox 30"/>
          <p:cNvSpPr txBox="1"/>
          <p:nvPr/>
        </p:nvSpPr>
        <p:spPr>
          <a:xfrm>
            <a:off x="3593592" y="1234440"/>
            <a:ext cx="2286000" cy="310896"/>
          </a:xfrm>
          <a:prstGeom prst="rect">
            <a:avLst/>
          </a:prstGeom>
          <a:noFill/>
        </p:spPr>
        <p:txBody>
          <a:bodyPr wrap="square">
            <a:spAutoFit/>
          </a:bodyPr>
          <a:lstStyle/>
          <a:p>
            <a:pPr algn="l"/>
            <a:r>
              <a:rPr sz="850" b="0" i="0">
                <a:solidFill>
                  <a:srgbClr val="1A1A2E"/>
                </a:solidFill>
              </a:rPr>
              <a:t>Application Security</a:t>
            </a:r>
          </a:p>
        </p:txBody>
      </p:sp>
      <p:sp>
        <p:nvSpPr>
          <p:cNvPr id="32" name="Rectangle 31"/>
          <p:cNvSpPr/>
          <p:nvPr/>
        </p:nvSpPr>
        <p:spPr>
          <a:xfrm>
            <a:off x="3200400" y="1600200"/>
            <a:ext cx="347472" cy="31089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0" y="1618488"/>
            <a:ext cx="347472" cy="274320"/>
          </a:xfrm>
          <a:prstGeom prst="rect">
            <a:avLst/>
          </a:prstGeom>
          <a:noFill/>
        </p:spPr>
        <p:txBody>
          <a:bodyPr wrap="square">
            <a:spAutoFit/>
          </a:bodyPr>
          <a:lstStyle/>
          <a:p>
            <a:pPr algn="ctr"/>
            <a:r>
              <a:rPr sz="750" b="1" i="0">
                <a:solidFill>
                  <a:srgbClr val="FFFFFF"/>
                </a:solidFill>
              </a:rPr>
              <a:t>09</a:t>
            </a:r>
          </a:p>
        </p:txBody>
      </p:sp>
      <p:sp>
        <p:nvSpPr>
          <p:cNvPr id="34" name="TextBox 33"/>
          <p:cNvSpPr txBox="1"/>
          <p:nvPr/>
        </p:nvSpPr>
        <p:spPr>
          <a:xfrm>
            <a:off x="3593592" y="1618488"/>
            <a:ext cx="2286000" cy="310896"/>
          </a:xfrm>
          <a:prstGeom prst="rect">
            <a:avLst/>
          </a:prstGeom>
          <a:noFill/>
        </p:spPr>
        <p:txBody>
          <a:bodyPr wrap="square">
            <a:spAutoFit/>
          </a:bodyPr>
          <a:lstStyle/>
          <a:p>
            <a:pPr algn="l"/>
            <a:r>
              <a:rPr sz="850" b="0" i="0">
                <a:solidFill>
                  <a:srgbClr val="1A1A2E"/>
                </a:solidFill>
              </a:rPr>
              <a:t>Incident Management</a:t>
            </a:r>
          </a:p>
        </p:txBody>
      </p:sp>
      <p:sp>
        <p:nvSpPr>
          <p:cNvPr id="35" name="Rectangle 34"/>
          <p:cNvSpPr/>
          <p:nvPr/>
        </p:nvSpPr>
        <p:spPr>
          <a:xfrm>
            <a:off x="3200400" y="1984248"/>
            <a:ext cx="347472" cy="31089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00400" y="2002536"/>
            <a:ext cx="347472" cy="274320"/>
          </a:xfrm>
          <a:prstGeom prst="rect">
            <a:avLst/>
          </a:prstGeom>
          <a:noFill/>
        </p:spPr>
        <p:txBody>
          <a:bodyPr wrap="square">
            <a:spAutoFit/>
          </a:bodyPr>
          <a:lstStyle/>
          <a:p>
            <a:pPr algn="ctr"/>
            <a:r>
              <a:rPr sz="750" b="1" i="0">
                <a:solidFill>
                  <a:srgbClr val="FFFFFF"/>
                </a:solidFill>
              </a:rPr>
              <a:t>10</a:t>
            </a:r>
          </a:p>
        </p:txBody>
      </p:sp>
      <p:sp>
        <p:nvSpPr>
          <p:cNvPr id="37" name="TextBox 36"/>
          <p:cNvSpPr txBox="1"/>
          <p:nvPr/>
        </p:nvSpPr>
        <p:spPr>
          <a:xfrm>
            <a:off x="3593592" y="2002536"/>
            <a:ext cx="2286000" cy="310896"/>
          </a:xfrm>
          <a:prstGeom prst="rect">
            <a:avLst/>
          </a:prstGeom>
          <a:noFill/>
        </p:spPr>
        <p:txBody>
          <a:bodyPr wrap="square">
            <a:spAutoFit/>
          </a:bodyPr>
          <a:lstStyle/>
          <a:p>
            <a:pPr algn="l"/>
            <a:r>
              <a:rPr sz="850" b="0" i="0">
                <a:solidFill>
                  <a:srgbClr val="1A1A2E"/>
                </a:solidFill>
              </a:rPr>
              <a:t>Business Continuity &amp; DR</a:t>
            </a:r>
          </a:p>
        </p:txBody>
      </p:sp>
      <p:sp>
        <p:nvSpPr>
          <p:cNvPr id="38" name="Rectangle 37"/>
          <p:cNvSpPr/>
          <p:nvPr/>
        </p:nvSpPr>
        <p:spPr>
          <a:xfrm>
            <a:off x="3200400" y="2368296"/>
            <a:ext cx="347472" cy="31089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0400" y="2386584"/>
            <a:ext cx="347472" cy="274320"/>
          </a:xfrm>
          <a:prstGeom prst="rect">
            <a:avLst/>
          </a:prstGeom>
          <a:noFill/>
        </p:spPr>
        <p:txBody>
          <a:bodyPr wrap="square">
            <a:spAutoFit/>
          </a:bodyPr>
          <a:lstStyle/>
          <a:p>
            <a:pPr algn="ctr"/>
            <a:r>
              <a:rPr sz="750" b="1" i="0">
                <a:solidFill>
                  <a:srgbClr val="FFFFFF"/>
                </a:solidFill>
              </a:rPr>
              <a:t>11</a:t>
            </a:r>
          </a:p>
        </p:txBody>
      </p:sp>
      <p:sp>
        <p:nvSpPr>
          <p:cNvPr id="40" name="TextBox 39"/>
          <p:cNvSpPr txBox="1"/>
          <p:nvPr/>
        </p:nvSpPr>
        <p:spPr>
          <a:xfrm>
            <a:off x="3593592" y="2386584"/>
            <a:ext cx="2286000" cy="310896"/>
          </a:xfrm>
          <a:prstGeom prst="rect">
            <a:avLst/>
          </a:prstGeom>
          <a:noFill/>
        </p:spPr>
        <p:txBody>
          <a:bodyPr wrap="square">
            <a:spAutoFit/>
          </a:bodyPr>
          <a:lstStyle/>
          <a:p>
            <a:pPr algn="l"/>
            <a:r>
              <a:rPr sz="850" b="0" i="0">
                <a:solidFill>
                  <a:srgbClr val="1A1A2E"/>
                </a:solidFill>
              </a:rPr>
              <a:t>Supply Chain Security</a:t>
            </a:r>
          </a:p>
        </p:txBody>
      </p:sp>
      <p:sp>
        <p:nvSpPr>
          <p:cNvPr id="41" name="Rectangle 40"/>
          <p:cNvSpPr/>
          <p:nvPr/>
        </p:nvSpPr>
        <p:spPr>
          <a:xfrm>
            <a:off x="3200400" y="2752344"/>
            <a:ext cx="347472" cy="31089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00400" y="2770632"/>
            <a:ext cx="347472" cy="274320"/>
          </a:xfrm>
          <a:prstGeom prst="rect">
            <a:avLst/>
          </a:prstGeom>
          <a:noFill/>
        </p:spPr>
        <p:txBody>
          <a:bodyPr wrap="square">
            <a:spAutoFit/>
          </a:bodyPr>
          <a:lstStyle/>
          <a:p>
            <a:pPr algn="ctr"/>
            <a:r>
              <a:rPr sz="750" b="1" i="0">
                <a:solidFill>
                  <a:srgbClr val="FFFFFF"/>
                </a:solidFill>
              </a:rPr>
              <a:t>12</a:t>
            </a:r>
          </a:p>
        </p:txBody>
      </p:sp>
      <p:sp>
        <p:nvSpPr>
          <p:cNvPr id="43" name="TextBox 42"/>
          <p:cNvSpPr txBox="1"/>
          <p:nvPr/>
        </p:nvSpPr>
        <p:spPr>
          <a:xfrm>
            <a:off x="3593592" y="2770632"/>
            <a:ext cx="2286000" cy="310896"/>
          </a:xfrm>
          <a:prstGeom prst="rect">
            <a:avLst/>
          </a:prstGeom>
          <a:noFill/>
        </p:spPr>
        <p:txBody>
          <a:bodyPr wrap="square">
            <a:spAutoFit/>
          </a:bodyPr>
          <a:lstStyle/>
          <a:p>
            <a:pPr algn="l"/>
            <a:r>
              <a:rPr sz="850" b="0" i="0">
                <a:solidFill>
                  <a:srgbClr val="1A1A2E"/>
                </a:solidFill>
              </a:rPr>
              <a:t>Security Monitoring &amp; Logging</a:t>
            </a:r>
          </a:p>
        </p:txBody>
      </p:sp>
      <p:sp>
        <p:nvSpPr>
          <p:cNvPr id="44" name="Rectangle 43"/>
          <p:cNvSpPr/>
          <p:nvPr/>
        </p:nvSpPr>
        <p:spPr>
          <a:xfrm>
            <a:off x="3200400" y="3136392"/>
            <a:ext cx="347472" cy="31089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00400" y="3154680"/>
            <a:ext cx="347472" cy="274320"/>
          </a:xfrm>
          <a:prstGeom prst="rect">
            <a:avLst/>
          </a:prstGeom>
          <a:noFill/>
        </p:spPr>
        <p:txBody>
          <a:bodyPr wrap="square">
            <a:spAutoFit/>
          </a:bodyPr>
          <a:lstStyle/>
          <a:p>
            <a:pPr algn="ctr"/>
            <a:r>
              <a:rPr sz="750" b="1" i="0">
                <a:solidFill>
                  <a:srgbClr val="FFFFFF"/>
                </a:solidFill>
              </a:rPr>
              <a:t>13</a:t>
            </a:r>
          </a:p>
        </p:txBody>
      </p:sp>
      <p:sp>
        <p:nvSpPr>
          <p:cNvPr id="46" name="TextBox 45"/>
          <p:cNvSpPr txBox="1"/>
          <p:nvPr/>
        </p:nvSpPr>
        <p:spPr>
          <a:xfrm>
            <a:off x="3593592" y="3154680"/>
            <a:ext cx="2286000" cy="310896"/>
          </a:xfrm>
          <a:prstGeom prst="rect">
            <a:avLst/>
          </a:prstGeom>
          <a:noFill/>
        </p:spPr>
        <p:txBody>
          <a:bodyPr wrap="square">
            <a:spAutoFit/>
          </a:bodyPr>
          <a:lstStyle/>
          <a:p>
            <a:pPr algn="l"/>
            <a:r>
              <a:rPr sz="850" b="0" i="0">
                <a:solidFill>
                  <a:srgbClr val="1A1A2E"/>
                </a:solidFill>
              </a:rPr>
              <a:t>Awareness &amp; Training</a:t>
            </a:r>
          </a:p>
        </p:txBody>
      </p:sp>
      <p:sp>
        <p:nvSpPr>
          <p:cNvPr id="47" name="Rectangle 46"/>
          <p:cNvSpPr/>
          <p:nvPr/>
        </p:nvSpPr>
        <p:spPr>
          <a:xfrm>
            <a:off x="411480" y="4005072"/>
            <a:ext cx="5440680" cy="438912"/>
          </a:xfrm>
          <a:prstGeom prst="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2920" y="4032504"/>
            <a:ext cx="5257800" cy="365760"/>
          </a:xfrm>
          <a:prstGeom prst="rect">
            <a:avLst/>
          </a:prstGeom>
          <a:noFill/>
        </p:spPr>
        <p:txBody>
          <a:bodyPr wrap="square">
            <a:spAutoFit/>
          </a:bodyPr>
          <a:lstStyle/>
          <a:p>
            <a:pPr algn="l"/>
            <a:r>
              <a:rPr sz="850" b="0" i="0">
                <a:solidFill>
                  <a:srgbClr val="1E3A5F"/>
                </a:solidFill>
              </a:rPr>
              <a:t>Résultat : primary_category  ·  secondary_categories (max 2)  ·  confidence  ·  status</a:t>
            </a:r>
          </a:p>
        </p:txBody>
      </p:sp>
      <p:sp>
        <p:nvSpPr>
          <p:cNvPr id="49" name="Rectangle 48"/>
          <p:cNvSpPr/>
          <p:nvPr/>
        </p:nvSpPr>
        <p:spPr>
          <a:xfrm>
            <a:off x="411480" y="4526280"/>
            <a:ext cx="1627632" cy="2743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38912" y="4544568"/>
            <a:ext cx="1572768" cy="237744"/>
          </a:xfrm>
          <a:prstGeom prst="rect">
            <a:avLst/>
          </a:prstGeom>
          <a:noFill/>
        </p:spPr>
        <p:txBody>
          <a:bodyPr wrap="square">
            <a:spAutoFit/>
          </a:bodyPr>
          <a:lstStyle/>
          <a:p>
            <a:pPr algn="l"/>
            <a:r>
              <a:rPr sz="750" b="1" i="0">
                <a:solidFill>
                  <a:srgbClr val="FFFFFF"/>
                </a:solidFill>
              </a:rPr>
              <a:t>validated</a:t>
            </a:r>
          </a:p>
        </p:txBody>
      </p:sp>
      <p:sp>
        <p:nvSpPr>
          <p:cNvPr id="51" name="TextBox 50"/>
          <p:cNvSpPr txBox="1"/>
          <p:nvPr/>
        </p:nvSpPr>
        <p:spPr>
          <a:xfrm>
            <a:off x="2084831" y="4544568"/>
            <a:ext cx="3703320" cy="274320"/>
          </a:xfrm>
          <a:prstGeom prst="rect">
            <a:avLst/>
          </a:prstGeom>
          <a:noFill/>
        </p:spPr>
        <p:txBody>
          <a:bodyPr wrap="square">
            <a:spAutoFit/>
          </a:bodyPr>
          <a:lstStyle/>
          <a:p>
            <a:pPr algn="l"/>
            <a:r>
              <a:rPr sz="800" b="0" i="0">
                <a:solidFill>
                  <a:srgbClr val="4A4A6A"/>
                </a:solidFill>
              </a:rPr>
              <a:t>conf &gt;= 0.85 et margin &gt;= 0.15</a:t>
            </a:r>
          </a:p>
        </p:txBody>
      </p:sp>
      <p:sp>
        <p:nvSpPr>
          <p:cNvPr id="52" name="Rectangle 51"/>
          <p:cNvSpPr/>
          <p:nvPr/>
        </p:nvSpPr>
        <p:spPr>
          <a:xfrm>
            <a:off x="411480" y="4873752"/>
            <a:ext cx="1627632" cy="2743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38912" y="4892040"/>
            <a:ext cx="1572768" cy="237744"/>
          </a:xfrm>
          <a:prstGeom prst="rect">
            <a:avLst/>
          </a:prstGeom>
          <a:noFill/>
        </p:spPr>
        <p:txBody>
          <a:bodyPr wrap="square">
            <a:spAutoFit/>
          </a:bodyPr>
          <a:lstStyle/>
          <a:p>
            <a:pPr algn="l"/>
            <a:r>
              <a:rPr sz="750" b="1" i="0">
                <a:solidFill>
                  <a:srgbClr val="FFFFFF"/>
                </a:solidFill>
              </a:rPr>
              <a:t>medium_confidence</a:t>
            </a:r>
          </a:p>
        </p:txBody>
      </p:sp>
      <p:sp>
        <p:nvSpPr>
          <p:cNvPr id="54" name="TextBox 53"/>
          <p:cNvSpPr txBox="1"/>
          <p:nvPr/>
        </p:nvSpPr>
        <p:spPr>
          <a:xfrm>
            <a:off x="2084831" y="4892040"/>
            <a:ext cx="3703320" cy="274320"/>
          </a:xfrm>
          <a:prstGeom prst="rect">
            <a:avLst/>
          </a:prstGeom>
          <a:noFill/>
        </p:spPr>
        <p:txBody>
          <a:bodyPr wrap="square">
            <a:spAutoFit/>
          </a:bodyPr>
          <a:lstStyle/>
          <a:p>
            <a:pPr algn="l"/>
            <a:r>
              <a:rPr sz="800" b="0" i="0">
                <a:solidFill>
                  <a:srgbClr val="4A4A6A"/>
                </a:solidFill>
              </a:rPr>
              <a:t>0.65 &lt;= conf &lt; 0.85</a:t>
            </a:r>
          </a:p>
        </p:txBody>
      </p:sp>
      <p:sp>
        <p:nvSpPr>
          <p:cNvPr id="55" name="Rectangle 54"/>
          <p:cNvSpPr/>
          <p:nvPr/>
        </p:nvSpPr>
        <p:spPr>
          <a:xfrm>
            <a:off x="411480" y="5221224"/>
            <a:ext cx="1627632" cy="27432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38912" y="5239512"/>
            <a:ext cx="1572768" cy="237744"/>
          </a:xfrm>
          <a:prstGeom prst="rect">
            <a:avLst/>
          </a:prstGeom>
          <a:noFill/>
        </p:spPr>
        <p:txBody>
          <a:bodyPr wrap="square">
            <a:spAutoFit/>
          </a:bodyPr>
          <a:lstStyle/>
          <a:p>
            <a:pPr algn="l"/>
            <a:r>
              <a:rPr sz="750" b="1" i="0">
                <a:solidFill>
                  <a:srgbClr val="FFFFFF"/>
                </a:solidFill>
              </a:rPr>
              <a:t>multi_domain</a:t>
            </a:r>
          </a:p>
        </p:txBody>
      </p:sp>
      <p:sp>
        <p:nvSpPr>
          <p:cNvPr id="57" name="TextBox 56"/>
          <p:cNvSpPr txBox="1"/>
          <p:nvPr/>
        </p:nvSpPr>
        <p:spPr>
          <a:xfrm>
            <a:off x="2084831" y="5239512"/>
            <a:ext cx="3703320" cy="274320"/>
          </a:xfrm>
          <a:prstGeom prst="rect">
            <a:avLst/>
          </a:prstGeom>
          <a:noFill/>
        </p:spPr>
        <p:txBody>
          <a:bodyPr wrap="square">
            <a:spAutoFit/>
          </a:bodyPr>
          <a:lstStyle/>
          <a:p>
            <a:pPr algn="l"/>
            <a:r>
              <a:rPr sz="800" b="0" i="0">
                <a:solidFill>
                  <a:srgbClr val="4A4A6A"/>
                </a:solidFill>
              </a:rPr>
              <a:t>2 categories proches (margin &lt; 0.15)</a:t>
            </a:r>
          </a:p>
        </p:txBody>
      </p:sp>
      <p:sp>
        <p:nvSpPr>
          <p:cNvPr id="58" name="Rectangle 57"/>
          <p:cNvSpPr/>
          <p:nvPr/>
        </p:nvSpPr>
        <p:spPr>
          <a:xfrm>
            <a:off x="411480" y="5568696"/>
            <a:ext cx="1627632"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38912" y="5586984"/>
            <a:ext cx="1572768" cy="237744"/>
          </a:xfrm>
          <a:prstGeom prst="rect">
            <a:avLst/>
          </a:prstGeom>
          <a:noFill/>
        </p:spPr>
        <p:txBody>
          <a:bodyPr wrap="square">
            <a:spAutoFit/>
          </a:bodyPr>
          <a:lstStyle/>
          <a:p>
            <a:pPr algn="l"/>
            <a:r>
              <a:rPr sz="750" b="1" i="0">
                <a:solidFill>
                  <a:srgbClr val="FFFFFF"/>
                </a:solidFill>
              </a:rPr>
              <a:t>low_confidence</a:t>
            </a:r>
          </a:p>
        </p:txBody>
      </p:sp>
      <p:sp>
        <p:nvSpPr>
          <p:cNvPr id="60" name="TextBox 59"/>
          <p:cNvSpPr txBox="1"/>
          <p:nvPr/>
        </p:nvSpPr>
        <p:spPr>
          <a:xfrm>
            <a:off x="2084831" y="5586984"/>
            <a:ext cx="3703320" cy="274320"/>
          </a:xfrm>
          <a:prstGeom prst="rect">
            <a:avLst/>
          </a:prstGeom>
          <a:noFill/>
        </p:spPr>
        <p:txBody>
          <a:bodyPr wrap="square">
            <a:spAutoFit/>
          </a:bodyPr>
          <a:lstStyle/>
          <a:p>
            <a:pPr algn="l"/>
            <a:r>
              <a:rPr sz="800" b="0" i="0">
                <a:solidFill>
                  <a:srgbClr val="4A4A6A"/>
                </a:solidFill>
              </a:rPr>
              <a:t>conf &lt; 0.65  -&gt;  LLM fallback</a:t>
            </a:r>
          </a:p>
        </p:txBody>
      </p:sp>
      <p:sp>
        <p:nvSpPr>
          <p:cNvPr id="61" name="Rectangle 60"/>
          <p:cNvSpPr/>
          <p:nvPr/>
        </p:nvSpPr>
        <p:spPr>
          <a:xfrm>
            <a:off x="6080760" y="777240"/>
            <a:ext cx="5760720" cy="3017520"/>
          </a:xfrm>
          <a:prstGeom prst="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172200" y="822960"/>
            <a:ext cx="5577840" cy="320040"/>
          </a:xfrm>
          <a:prstGeom prst="rect">
            <a:avLst/>
          </a:prstGeom>
          <a:noFill/>
        </p:spPr>
        <p:txBody>
          <a:bodyPr wrap="square">
            <a:spAutoFit/>
          </a:bodyPr>
          <a:lstStyle/>
          <a:p>
            <a:pPr algn="l"/>
            <a:r>
              <a:rPr sz="1100" b="1" i="0">
                <a:solidFill>
                  <a:srgbClr val="1A1A2E"/>
                </a:solidFill>
              </a:rPr>
              <a:t>Processus de classification (4 etapes sequentielles)</a:t>
            </a:r>
          </a:p>
        </p:txBody>
      </p:sp>
      <p:sp>
        <p:nvSpPr>
          <p:cNvPr id="63" name="Rectangle 62"/>
          <p:cNvSpPr/>
          <p:nvPr/>
        </p:nvSpPr>
        <p:spPr>
          <a:xfrm>
            <a:off x="6172200" y="1216152"/>
            <a:ext cx="384048" cy="4754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172200" y="1289304"/>
            <a:ext cx="384048" cy="329184"/>
          </a:xfrm>
          <a:prstGeom prst="rect">
            <a:avLst/>
          </a:prstGeom>
          <a:noFill/>
        </p:spPr>
        <p:txBody>
          <a:bodyPr wrap="square">
            <a:spAutoFit/>
          </a:bodyPr>
          <a:lstStyle/>
          <a:p>
            <a:pPr algn="ctr"/>
            <a:r>
              <a:rPr sz="1300" b="1" i="0">
                <a:solidFill>
                  <a:srgbClr val="FFFFFF"/>
                </a:solidFill>
              </a:rPr>
              <a:t>1</a:t>
            </a:r>
          </a:p>
        </p:txBody>
      </p:sp>
      <p:sp>
        <p:nvSpPr>
          <p:cNvPr id="65" name="Rectangle 64"/>
          <p:cNvSpPr/>
          <p:nvPr/>
        </p:nvSpPr>
        <p:spPr>
          <a:xfrm>
            <a:off x="6601968" y="1216152"/>
            <a:ext cx="5148072" cy="475488"/>
          </a:xfrm>
          <a:prstGeom prst="rect">
            <a:avLst/>
          </a:prstGeom>
          <a:solidFill>
            <a:srgbClr val="F8F8F8"/>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693408" y="1234440"/>
            <a:ext cx="4983480" cy="201168"/>
          </a:xfrm>
          <a:prstGeom prst="rect">
            <a:avLst/>
          </a:prstGeom>
          <a:noFill/>
        </p:spPr>
        <p:txBody>
          <a:bodyPr wrap="square">
            <a:spAutoFit/>
          </a:bodyPr>
          <a:lstStyle/>
          <a:p>
            <a:pPr algn="l"/>
            <a:r>
              <a:rPr sz="950" b="1" i="0">
                <a:solidFill>
                  <a:srgbClr val="1A1A2E"/>
                </a:solidFill>
              </a:rPr>
              <a:t>exact_match</a:t>
            </a:r>
          </a:p>
        </p:txBody>
      </p:sp>
      <p:sp>
        <p:nvSpPr>
          <p:cNvPr id="67" name="TextBox 66"/>
          <p:cNvSpPr txBox="1"/>
          <p:nvPr/>
        </p:nvSpPr>
        <p:spPr>
          <a:xfrm>
            <a:off x="6693408" y="1453896"/>
            <a:ext cx="4983480" cy="201168"/>
          </a:xfrm>
          <a:prstGeom prst="rect">
            <a:avLst/>
          </a:prstGeom>
          <a:noFill/>
        </p:spPr>
        <p:txBody>
          <a:bodyPr wrap="square">
            <a:spAutoFit/>
          </a:bodyPr>
          <a:lstStyle/>
          <a:p>
            <a:pPr algn="l"/>
            <a:r>
              <a:rPr sz="850" b="0" i="0">
                <a:solidFill>
                  <a:srgbClr val="4A4A6A"/>
                </a:solidFill>
              </a:rPr>
              <a:t>Correspondance mot-cle exacte  -&gt;  conf = 1.0</a:t>
            </a:r>
          </a:p>
        </p:txBody>
      </p:sp>
      <p:sp>
        <p:nvSpPr>
          <p:cNvPr id="68" name="Rectangle 67"/>
          <p:cNvSpPr/>
          <p:nvPr/>
        </p:nvSpPr>
        <p:spPr>
          <a:xfrm>
            <a:off x="6172200" y="1801368"/>
            <a:ext cx="384048" cy="475488"/>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172200" y="1874520"/>
            <a:ext cx="384048" cy="329184"/>
          </a:xfrm>
          <a:prstGeom prst="rect">
            <a:avLst/>
          </a:prstGeom>
          <a:noFill/>
        </p:spPr>
        <p:txBody>
          <a:bodyPr wrap="square">
            <a:spAutoFit/>
          </a:bodyPr>
          <a:lstStyle/>
          <a:p>
            <a:pPr algn="ctr"/>
            <a:r>
              <a:rPr sz="1300" b="1" i="0">
                <a:solidFill>
                  <a:srgbClr val="FFFFFF"/>
                </a:solidFill>
              </a:rPr>
              <a:t>2</a:t>
            </a:r>
          </a:p>
        </p:txBody>
      </p:sp>
      <p:sp>
        <p:nvSpPr>
          <p:cNvPr id="70" name="Rectangle 69"/>
          <p:cNvSpPr/>
          <p:nvPr/>
        </p:nvSpPr>
        <p:spPr>
          <a:xfrm>
            <a:off x="6601968" y="1801368"/>
            <a:ext cx="5148072" cy="475488"/>
          </a:xfrm>
          <a:prstGeom prst="rect">
            <a:avLst/>
          </a:prstGeom>
          <a:solidFill>
            <a:srgbClr val="F8F8F8"/>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693408" y="1819656"/>
            <a:ext cx="4983480" cy="201168"/>
          </a:xfrm>
          <a:prstGeom prst="rect">
            <a:avLst/>
          </a:prstGeom>
          <a:noFill/>
        </p:spPr>
        <p:txBody>
          <a:bodyPr wrap="square">
            <a:spAutoFit/>
          </a:bodyPr>
          <a:lstStyle/>
          <a:p>
            <a:pPr algn="l"/>
            <a:r>
              <a:rPr sz="950" b="1" i="0">
                <a:solidFill>
                  <a:srgbClr val="1A1A2E"/>
                </a:solidFill>
              </a:rPr>
              <a:t>override_rules</a:t>
            </a:r>
          </a:p>
        </p:txBody>
      </p:sp>
      <p:sp>
        <p:nvSpPr>
          <p:cNvPr id="72" name="TextBox 71"/>
          <p:cNvSpPr txBox="1"/>
          <p:nvPr/>
        </p:nvSpPr>
        <p:spPr>
          <a:xfrm>
            <a:off x="6693408" y="2039112"/>
            <a:ext cx="4983480" cy="201168"/>
          </a:xfrm>
          <a:prstGeom prst="rect">
            <a:avLst/>
          </a:prstGeom>
          <a:noFill/>
        </p:spPr>
        <p:txBody>
          <a:bodyPr wrap="square">
            <a:spAutoFit/>
          </a:bodyPr>
          <a:lstStyle/>
          <a:p>
            <a:pPr algn="l"/>
            <a:r>
              <a:rPr sz="850" b="0" i="0">
                <a:solidFill>
                  <a:srgbClr val="4A4A6A"/>
                </a:solidFill>
              </a:rPr>
              <a:t>Regles BUILTIN_RULES (deterministes)  -&gt;  conf &gt;= 0.98</a:t>
            </a:r>
          </a:p>
        </p:txBody>
      </p:sp>
      <p:sp>
        <p:nvSpPr>
          <p:cNvPr id="73" name="Rectangle 72"/>
          <p:cNvSpPr/>
          <p:nvPr/>
        </p:nvSpPr>
        <p:spPr>
          <a:xfrm>
            <a:off x="6172200" y="2386584"/>
            <a:ext cx="384048" cy="4754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172200" y="2459736"/>
            <a:ext cx="384048" cy="329184"/>
          </a:xfrm>
          <a:prstGeom prst="rect">
            <a:avLst/>
          </a:prstGeom>
          <a:noFill/>
        </p:spPr>
        <p:txBody>
          <a:bodyPr wrap="square">
            <a:spAutoFit/>
          </a:bodyPr>
          <a:lstStyle/>
          <a:p>
            <a:pPr algn="ctr"/>
            <a:r>
              <a:rPr sz="1300" b="1" i="0">
                <a:solidFill>
                  <a:srgbClr val="FFFFFF"/>
                </a:solidFill>
              </a:rPr>
              <a:t>3</a:t>
            </a:r>
          </a:p>
        </p:txBody>
      </p:sp>
      <p:sp>
        <p:nvSpPr>
          <p:cNvPr id="75" name="Rectangle 74"/>
          <p:cNvSpPr/>
          <p:nvPr/>
        </p:nvSpPr>
        <p:spPr>
          <a:xfrm>
            <a:off x="6601968" y="2386584"/>
            <a:ext cx="5148072" cy="475488"/>
          </a:xfrm>
          <a:prstGeom prst="rect">
            <a:avLst/>
          </a:prstGeom>
          <a:solidFill>
            <a:srgbClr val="F8F8F8"/>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693408" y="2404872"/>
            <a:ext cx="4983480" cy="201168"/>
          </a:xfrm>
          <a:prstGeom prst="rect">
            <a:avLst/>
          </a:prstGeom>
          <a:noFill/>
        </p:spPr>
        <p:txBody>
          <a:bodyPr wrap="square">
            <a:spAutoFit/>
          </a:bodyPr>
          <a:lstStyle/>
          <a:p>
            <a:pPr algn="l"/>
            <a:r>
              <a:rPr sz="950" b="1" i="0">
                <a:solidFill>
                  <a:srgbClr val="1A1A2E"/>
                </a:solidFill>
              </a:rPr>
              <a:t>deterministic_score</a:t>
            </a:r>
          </a:p>
        </p:txBody>
      </p:sp>
      <p:sp>
        <p:nvSpPr>
          <p:cNvPr id="77" name="TextBox 76"/>
          <p:cNvSpPr txBox="1"/>
          <p:nvPr/>
        </p:nvSpPr>
        <p:spPr>
          <a:xfrm>
            <a:off x="6693408" y="2624328"/>
            <a:ext cx="4983480" cy="201168"/>
          </a:xfrm>
          <a:prstGeom prst="rect">
            <a:avLst/>
          </a:prstGeom>
          <a:noFill/>
        </p:spPr>
        <p:txBody>
          <a:bodyPr wrap="square">
            <a:spAutoFit/>
          </a:bodyPr>
          <a:lstStyle/>
          <a:p>
            <a:pPr algn="l"/>
            <a:r>
              <a:rPr sz="850" b="0" i="0">
                <a:solidFill>
                  <a:srgbClr val="4A4A6A"/>
                </a:solidFill>
              </a:rPr>
              <a:t>Score TF-IDF pondere  -&gt;  conf variable, classement marge</a:t>
            </a:r>
          </a:p>
        </p:txBody>
      </p:sp>
      <p:sp>
        <p:nvSpPr>
          <p:cNvPr id="78" name="Rectangle 77"/>
          <p:cNvSpPr/>
          <p:nvPr/>
        </p:nvSpPr>
        <p:spPr>
          <a:xfrm>
            <a:off x="6172200" y="2971800"/>
            <a:ext cx="384048" cy="475488"/>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172200" y="3044952"/>
            <a:ext cx="384048" cy="329184"/>
          </a:xfrm>
          <a:prstGeom prst="rect">
            <a:avLst/>
          </a:prstGeom>
          <a:noFill/>
        </p:spPr>
        <p:txBody>
          <a:bodyPr wrap="square">
            <a:spAutoFit/>
          </a:bodyPr>
          <a:lstStyle/>
          <a:p>
            <a:pPr algn="ctr"/>
            <a:r>
              <a:rPr sz="1300" b="1" i="0">
                <a:solidFill>
                  <a:srgbClr val="FFFFFF"/>
                </a:solidFill>
              </a:rPr>
              <a:t>4</a:t>
            </a:r>
          </a:p>
        </p:txBody>
      </p:sp>
      <p:sp>
        <p:nvSpPr>
          <p:cNvPr id="80" name="Rectangle 79"/>
          <p:cNvSpPr/>
          <p:nvPr/>
        </p:nvSpPr>
        <p:spPr>
          <a:xfrm>
            <a:off x="6601968" y="2971800"/>
            <a:ext cx="5148072" cy="475488"/>
          </a:xfrm>
          <a:prstGeom prst="rect">
            <a:avLst/>
          </a:prstGeom>
          <a:solidFill>
            <a:srgbClr val="F8F8F8"/>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693408" y="2990088"/>
            <a:ext cx="4983480" cy="201168"/>
          </a:xfrm>
          <a:prstGeom prst="rect">
            <a:avLst/>
          </a:prstGeom>
          <a:noFill/>
        </p:spPr>
        <p:txBody>
          <a:bodyPr wrap="square">
            <a:spAutoFit/>
          </a:bodyPr>
          <a:lstStyle/>
          <a:p>
            <a:pPr algn="l"/>
            <a:r>
              <a:rPr sz="950" b="1" i="0">
                <a:solidFill>
                  <a:srgbClr val="1A1A2E"/>
                </a:solidFill>
              </a:rPr>
              <a:t>LLM fallback</a:t>
            </a:r>
          </a:p>
        </p:txBody>
      </p:sp>
      <p:sp>
        <p:nvSpPr>
          <p:cNvPr id="82" name="TextBox 81"/>
          <p:cNvSpPr txBox="1"/>
          <p:nvPr/>
        </p:nvSpPr>
        <p:spPr>
          <a:xfrm>
            <a:off x="6693408" y="3209544"/>
            <a:ext cx="4983480" cy="201168"/>
          </a:xfrm>
          <a:prstGeom prst="rect">
            <a:avLst/>
          </a:prstGeom>
          <a:noFill/>
        </p:spPr>
        <p:txBody>
          <a:bodyPr wrap="square">
            <a:spAutoFit/>
          </a:bodyPr>
          <a:lstStyle/>
          <a:p>
            <a:pPr algn="l"/>
            <a:r>
              <a:rPr sz="850" b="0" i="0">
                <a:solidFill>
                  <a:srgbClr val="4A4A6A"/>
                </a:solidFill>
              </a:rPr>
              <a:t>Si conf &lt; 0.85 OU margin &lt; 0.15  -&gt;  appel Azure OpenAI</a:t>
            </a:r>
          </a:p>
        </p:txBody>
      </p:sp>
      <p:sp>
        <p:nvSpPr>
          <p:cNvPr id="83" name="Rectangle 82"/>
          <p:cNvSpPr/>
          <p:nvPr/>
        </p:nvSpPr>
        <p:spPr>
          <a:xfrm>
            <a:off x="6080760" y="3904487"/>
            <a:ext cx="5760720" cy="2404872"/>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172200" y="3950208"/>
            <a:ext cx="5577840" cy="320040"/>
          </a:xfrm>
          <a:prstGeom prst="rect">
            <a:avLst/>
          </a:prstGeom>
          <a:noFill/>
        </p:spPr>
        <p:txBody>
          <a:bodyPr wrap="square">
            <a:spAutoFit/>
          </a:bodyPr>
          <a:lstStyle/>
          <a:p>
            <a:pPr algn="l"/>
            <a:r>
              <a:rPr sz="1100" b="1" i="0">
                <a:solidFill>
                  <a:srgbClr val="27AE60"/>
                </a:solidFill>
              </a:rPr>
              <a:t>Utilisation de l'ENISA dans le pipeline</a:t>
            </a:r>
          </a:p>
        </p:txBody>
      </p:sp>
      <p:sp>
        <p:nvSpPr>
          <p:cNvPr id="85" name="Rectangle 84"/>
          <p:cNvSpPr/>
          <p:nvPr/>
        </p:nvSpPr>
        <p:spPr>
          <a:xfrm>
            <a:off x="6172200" y="4361688"/>
            <a:ext cx="2724912" cy="868680"/>
          </a:xfrm>
          <a:prstGeom prst="rect">
            <a:avLst/>
          </a:prstGeom>
          <a:solidFill>
            <a:srgbClr val="F0FBF4"/>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245352" y="4398264"/>
            <a:ext cx="2596896" cy="237744"/>
          </a:xfrm>
          <a:prstGeom prst="rect">
            <a:avLst/>
          </a:prstGeom>
          <a:noFill/>
        </p:spPr>
        <p:txBody>
          <a:bodyPr wrap="square">
            <a:spAutoFit/>
          </a:bodyPr>
          <a:lstStyle/>
          <a:p>
            <a:pPr algn="l"/>
            <a:r>
              <a:rPr sz="950" b="1" i="0">
                <a:solidFill>
                  <a:srgbClr val="27AE60"/>
                </a:solidFill>
              </a:rPr>
              <a:t>Pivot A &lt;-&gt; B</a:t>
            </a:r>
          </a:p>
        </p:txBody>
      </p:sp>
      <p:sp>
        <p:nvSpPr>
          <p:cNvPr id="87" name="TextBox 86"/>
          <p:cNvSpPr txBox="1"/>
          <p:nvPr/>
        </p:nvSpPr>
        <p:spPr>
          <a:xfrm>
            <a:off x="6245352" y="4636008"/>
            <a:ext cx="2596896" cy="548640"/>
          </a:xfrm>
          <a:prstGeom prst="rect">
            <a:avLst/>
          </a:prstGeom>
          <a:noFill/>
        </p:spPr>
        <p:txBody>
          <a:bodyPr wrap="square">
            <a:spAutoFit/>
          </a:bodyPr>
          <a:lstStyle/>
          <a:p>
            <a:pPr algn="l"/>
            <a:r>
              <a:rPr sz="800" b="0" i="0">
                <a:solidFill>
                  <a:srgbClr val="4A4A6A"/>
                </a:solidFill>
              </a:rPr>
              <a:t>Classification independante de chaque exigence
Regroupe les paires de meme categorie ENISA</a:t>
            </a:r>
          </a:p>
        </p:txBody>
      </p:sp>
      <p:sp>
        <p:nvSpPr>
          <p:cNvPr id="88" name="Rectangle 87"/>
          <p:cNvSpPr/>
          <p:nvPr/>
        </p:nvSpPr>
        <p:spPr>
          <a:xfrm>
            <a:off x="9025128" y="4361688"/>
            <a:ext cx="2724912" cy="868680"/>
          </a:xfrm>
          <a:prstGeom prst="rect">
            <a:avLst/>
          </a:prstGeom>
          <a:solidFill>
            <a:srgbClr val="F0FBF4"/>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098280" y="4398264"/>
            <a:ext cx="2596896" cy="237744"/>
          </a:xfrm>
          <a:prstGeom prst="rect">
            <a:avLst/>
          </a:prstGeom>
          <a:noFill/>
        </p:spPr>
        <p:txBody>
          <a:bodyPr wrap="square">
            <a:spAutoFit/>
          </a:bodyPr>
          <a:lstStyle/>
          <a:p>
            <a:pPr algn="l"/>
            <a:r>
              <a:rPr sz="950" b="1" i="0">
                <a:solidFill>
                  <a:srgbClr val="27AE60"/>
                </a:solidFill>
              </a:rPr>
              <a:t>Prior ENISA  (poids x0.03)</a:t>
            </a:r>
          </a:p>
        </p:txBody>
      </p:sp>
      <p:sp>
        <p:nvSpPr>
          <p:cNvPr id="90" name="TextBox 89"/>
          <p:cNvSpPr txBox="1"/>
          <p:nvPr/>
        </p:nvSpPr>
        <p:spPr>
          <a:xfrm>
            <a:off x="9098280" y="4636008"/>
            <a:ext cx="2596896" cy="548640"/>
          </a:xfrm>
          <a:prstGeom prst="rect">
            <a:avLst/>
          </a:prstGeom>
          <a:noFill/>
        </p:spPr>
        <p:txBody>
          <a:bodyPr wrap="square">
            <a:spAutoFit/>
          </a:bodyPr>
          <a:lstStyle/>
          <a:p>
            <a:pPr algn="l"/>
            <a:r>
              <a:rPr sz="800" b="0" i="0">
                <a:solidFill>
                  <a:srgbClr val="4A4A6A"/>
                </a:solidFill>
              </a:rPr>
              <a:t>primary==primary -&gt; 1.0  |  primary in secondary -&gt; 0.70
cross-secondary -&gt; 0.45  |  plafond 0.30 si conf faible</a:t>
            </a:r>
          </a:p>
        </p:txBody>
      </p:sp>
      <p:sp>
        <p:nvSpPr>
          <p:cNvPr id="91" name="Rectangle 90"/>
          <p:cNvSpPr/>
          <p:nvPr/>
        </p:nvSpPr>
        <p:spPr>
          <a:xfrm>
            <a:off x="6172200" y="5321808"/>
            <a:ext cx="2724912" cy="868680"/>
          </a:xfrm>
          <a:prstGeom prst="rect">
            <a:avLst/>
          </a:prstGeom>
          <a:solidFill>
            <a:srgbClr val="F0FBF4"/>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245352" y="5358384"/>
            <a:ext cx="2596896" cy="237744"/>
          </a:xfrm>
          <a:prstGeom prst="rect">
            <a:avLst/>
          </a:prstGeom>
          <a:noFill/>
        </p:spPr>
        <p:txBody>
          <a:bodyPr wrap="square">
            <a:spAutoFit/>
          </a:bodyPr>
          <a:lstStyle/>
          <a:p>
            <a:pPr algn="l"/>
            <a:r>
              <a:rPr sz="950" b="1" i="0">
                <a:solidFill>
                  <a:srgbClr val="27AE60"/>
                </a:solidFill>
              </a:rPr>
              <a:t>Juge Final — groupement</a:t>
            </a:r>
          </a:p>
        </p:txBody>
      </p:sp>
      <p:sp>
        <p:nvSpPr>
          <p:cNvPr id="93" name="TextBox 92"/>
          <p:cNvSpPr txBox="1"/>
          <p:nvPr/>
        </p:nvSpPr>
        <p:spPr>
          <a:xfrm>
            <a:off x="6245352" y="5596128"/>
            <a:ext cx="2596896" cy="548640"/>
          </a:xfrm>
          <a:prstGeom prst="rect">
            <a:avLst/>
          </a:prstGeom>
          <a:noFill/>
        </p:spPr>
        <p:txBody>
          <a:bodyPr wrap="square">
            <a:spAutoFit/>
          </a:bodyPr>
          <a:lstStyle/>
          <a:p>
            <a:pPr algn="l"/>
            <a:r>
              <a:rPr sz="800" b="0" i="0">
                <a:solidFill>
                  <a:srgbClr val="4A4A6A"/>
                </a:solidFill>
              </a:rPr>
              <a:t>Decisions regroupees par source_category
batch_size=25 pour le prompt PROMPT_FINAL_JUDGE</a:t>
            </a:r>
          </a:p>
        </p:txBody>
      </p:sp>
      <p:sp>
        <p:nvSpPr>
          <p:cNvPr id="94" name="Rectangle 93"/>
          <p:cNvSpPr/>
          <p:nvPr/>
        </p:nvSpPr>
        <p:spPr>
          <a:xfrm>
            <a:off x="9025128" y="5321808"/>
            <a:ext cx="2724912" cy="868680"/>
          </a:xfrm>
          <a:prstGeom prst="rect">
            <a:avLst/>
          </a:prstGeom>
          <a:solidFill>
            <a:srgbClr val="F0FBF4"/>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9098280" y="5358384"/>
            <a:ext cx="2596896" cy="237744"/>
          </a:xfrm>
          <a:prstGeom prst="rect">
            <a:avLst/>
          </a:prstGeom>
          <a:noFill/>
        </p:spPr>
        <p:txBody>
          <a:bodyPr wrap="square">
            <a:spAutoFit/>
          </a:bodyPr>
          <a:lstStyle/>
          <a:p>
            <a:pPr algn="l"/>
            <a:r>
              <a:rPr sz="950" b="1" i="0">
                <a:solidFill>
                  <a:srgbClr val="27AE60"/>
                </a:solidFill>
              </a:rPr>
              <a:t>Mode soft_enisa</a:t>
            </a:r>
          </a:p>
        </p:txBody>
      </p:sp>
      <p:sp>
        <p:nvSpPr>
          <p:cNvPr id="96" name="TextBox 95"/>
          <p:cNvSpPr txBox="1"/>
          <p:nvPr/>
        </p:nvSpPr>
        <p:spPr>
          <a:xfrm>
            <a:off x="9098280" y="5596128"/>
            <a:ext cx="2596896" cy="548640"/>
          </a:xfrm>
          <a:prstGeom prst="rect">
            <a:avLst/>
          </a:prstGeom>
          <a:noFill/>
        </p:spPr>
        <p:txBody>
          <a:bodyPr wrap="square">
            <a:spAutoFit/>
          </a:bodyPr>
          <a:lstStyle/>
          <a:p>
            <a:pPr algn="l"/>
            <a:r>
              <a:rPr sz="800" b="0" i="0">
                <a:solidFill>
                  <a:srgbClr val="4A4A6A"/>
                </a:solidFill>
              </a:rPr>
              <a:t>Matching partiel inter-categories autorise
Penalite reduite pour categories proches</a:t>
            </a:r>
          </a:p>
        </p:txBody>
      </p:sp>
      <p:sp>
        <p:nvSpPr>
          <p:cNvPr id="97" name="Rectangle 96"/>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365760" y="6400800"/>
            <a:ext cx="7315200" cy="365760"/>
          </a:xfrm>
          <a:prstGeom prst="rect">
            <a:avLst/>
          </a:prstGeom>
          <a:noFill/>
        </p:spPr>
        <p:txBody>
          <a:bodyPr wrap="square">
            <a:spAutoFit/>
          </a:bodyPr>
          <a:lstStyle/>
          <a:p>
            <a:pPr algn="l"/>
            <a:r>
              <a:rPr sz="900" b="0" i="0">
                <a:solidFill>
                  <a:srgbClr val="AAAAAA"/>
                </a:solidFill>
              </a:rPr>
              <a:t>Regulatory Framework Mapper  |  Classification ENISA — Taxonomie Pivot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118872"/>
            <a:ext cx="438912" cy="438912"/>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rPr>
              <a:t>02</a:t>
            </a:r>
          </a:p>
        </p:txBody>
      </p:sp>
      <p:sp>
        <p:nvSpPr>
          <p:cNvPr id="6" name="TextBox 5"/>
          <p:cNvSpPr txBox="1"/>
          <p:nvPr/>
        </p:nvSpPr>
        <p:spPr>
          <a:xfrm>
            <a:off x="914400" y="109728"/>
            <a:ext cx="10515600" cy="457200"/>
          </a:xfrm>
          <a:prstGeom prst="rect">
            <a:avLst/>
          </a:prstGeom>
          <a:noFill/>
        </p:spPr>
        <p:txBody>
          <a:bodyPr wrap="square">
            <a:spAutoFit/>
          </a:bodyPr>
          <a:lstStyle/>
          <a:p>
            <a:pPr algn="l"/>
            <a:r>
              <a:rPr sz="1800" b="1" i="0">
                <a:solidFill>
                  <a:srgbClr val="FFFFFF"/>
                </a:solidFill>
              </a:rPr>
              <a:t>Etape 2 — Scoring Multi-dimensionnel &amp; Evaluation LLM par Paires</a:t>
            </a:r>
          </a:p>
        </p:txBody>
      </p:sp>
      <p:sp>
        <p:nvSpPr>
          <p:cNvPr id="7" name="Rectangle 6"/>
          <p:cNvSpPr/>
          <p:nvPr/>
        </p:nvSpPr>
        <p:spPr>
          <a:xfrm>
            <a:off x="320040" y="777240"/>
            <a:ext cx="6583680" cy="553212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822960"/>
            <a:ext cx="6400800" cy="320040"/>
          </a:xfrm>
          <a:prstGeom prst="rect">
            <a:avLst/>
          </a:prstGeom>
          <a:noFill/>
        </p:spPr>
        <p:txBody>
          <a:bodyPr wrap="square">
            <a:spAutoFit/>
          </a:bodyPr>
          <a:lstStyle/>
          <a:p>
            <a:pPr algn="l"/>
            <a:r>
              <a:rPr sz="1100" b="1" i="0">
                <a:solidFill>
                  <a:srgbClr val="1E3A5F"/>
                </a:solidFill>
              </a:rPr>
              <a:t>Scoring multi-dimensionnel — 5 dimensions fusionnees par RRF (K=60)</a:t>
            </a:r>
          </a:p>
        </p:txBody>
      </p:sp>
      <p:sp>
        <p:nvSpPr>
          <p:cNvPr id="9" name="Rectangle 8"/>
          <p:cNvSpPr/>
          <p:nvPr/>
        </p:nvSpPr>
        <p:spPr>
          <a:xfrm>
            <a:off x="411480" y="1216152"/>
            <a:ext cx="6400800" cy="685800"/>
          </a:xfrm>
          <a:prstGeom prst="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261872"/>
            <a:ext cx="6400800" cy="228600"/>
          </a:xfrm>
          <a:prstGeom prst="rect">
            <a:avLst/>
          </a:prstGeom>
          <a:noFill/>
        </p:spPr>
        <p:txBody>
          <a:bodyPr wrap="square">
            <a:spAutoFit/>
          </a:bodyPr>
          <a:lstStyle/>
          <a:p>
            <a:pPr algn="l"/>
            <a:r>
              <a:rPr sz="1000" b="1" i="0">
                <a:solidFill>
                  <a:srgbClr val="2E86AB"/>
                </a:solidFill>
              </a:rPr>
              <a:t>D1  Semantique  x0.45</a:t>
            </a:r>
          </a:p>
        </p:txBody>
      </p:sp>
      <p:sp>
        <p:nvSpPr>
          <p:cNvPr id="11" name="TextBox 10"/>
          <p:cNvSpPr txBox="1"/>
          <p:nvPr/>
        </p:nvSpPr>
        <p:spPr>
          <a:xfrm>
            <a:off x="502920" y="1490472"/>
            <a:ext cx="6400800" cy="182880"/>
          </a:xfrm>
          <a:prstGeom prst="rect">
            <a:avLst/>
          </a:prstGeom>
          <a:noFill/>
        </p:spPr>
        <p:txBody>
          <a:bodyPr wrap="square">
            <a:spAutoFit/>
          </a:bodyPr>
          <a:lstStyle/>
          <a:p>
            <a:pPr algn="l"/>
            <a:r>
              <a:rPr sz="850" b="0" i="0">
                <a:solidFill>
                  <a:srgbClr val="4A4A6A"/>
                </a:solidFill>
              </a:rPr>
              <a:t>Cosinus(embed_source, embed_target) — champs ponderes :</a:t>
            </a:r>
          </a:p>
        </p:txBody>
      </p:sp>
      <p:sp>
        <p:nvSpPr>
          <p:cNvPr id="12" name="TextBox 11"/>
          <p:cNvSpPr txBox="1"/>
          <p:nvPr/>
        </p:nvSpPr>
        <p:spPr>
          <a:xfrm>
            <a:off x="502920" y="1673352"/>
            <a:ext cx="6400800" cy="201168"/>
          </a:xfrm>
          <a:prstGeom prst="rect">
            <a:avLst/>
          </a:prstGeom>
          <a:noFill/>
        </p:spPr>
        <p:txBody>
          <a:bodyPr wrap="square">
            <a:spAutoFit/>
          </a:bodyPr>
          <a:lstStyle/>
          <a:p>
            <a:pPr algn="l"/>
            <a:r>
              <a:rPr sz="800" b="0" i="1">
                <a:solidFill>
                  <a:srgbClr val="1A1A2E"/>
                </a:solidFill>
              </a:rPr>
              <a:t>object x3.0  |  action x2.5  |  control_type x1.8  |  evidence x1.5  |  actor/cond/deadline x1.0  |  obligation_type x0.8  |  domain x0.5</a:t>
            </a:r>
          </a:p>
        </p:txBody>
      </p:sp>
      <p:sp>
        <p:nvSpPr>
          <p:cNvPr id="13" name="Rectangle 12"/>
          <p:cNvSpPr/>
          <p:nvPr/>
        </p:nvSpPr>
        <p:spPr>
          <a:xfrm>
            <a:off x="411480" y="1975104"/>
            <a:ext cx="6400800" cy="685800"/>
          </a:xfrm>
          <a:prstGeom prst="rect">
            <a:avLst/>
          </a:prstGeom>
          <a:solidFill>
            <a:srgbClr val="EBF5FB"/>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020824"/>
            <a:ext cx="6400800" cy="228600"/>
          </a:xfrm>
          <a:prstGeom prst="rect">
            <a:avLst/>
          </a:prstGeom>
          <a:noFill/>
        </p:spPr>
        <p:txBody>
          <a:bodyPr wrap="square">
            <a:spAutoFit/>
          </a:bodyPr>
          <a:lstStyle/>
          <a:p>
            <a:pPr algn="l"/>
            <a:r>
              <a:rPr sz="1000" b="1" i="0">
                <a:solidFill>
                  <a:srgbClr val="1E3A5F"/>
                </a:solidFill>
              </a:rPr>
              <a:t>D2  Structurel  x0.30</a:t>
            </a:r>
          </a:p>
        </p:txBody>
      </p:sp>
      <p:sp>
        <p:nvSpPr>
          <p:cNvPr id="15" name="TextBox 14"/>
          <p:cNvSpPr txBox="1"/>
          <p:nvPr/>
        </p:nvSpPr>
        <p:spPr>
          <a:xfrm>
            <a:off x="502920" y="2249424"/>
            <a:ext cx="6400800" cy="182880"/>
          </a:xfrm>
          <a:prstGeom prst="rect">
            <a:avLst/>
          </a:prstGeom>
          <a:noFill/>
        </p:spPr>
        <p:txBody>
          <a:bodyPr wrap="square">
            <a:spAutoFit/>
          </a:bodyPr>
          <a:lstStyle/>
          <a:p>
            <a:pPr algn="l"/>
            <a:r>
              <a:rPr sz="850" b="0" i="0">
                <a:solidFill>
                  <a:srgbClr val="4A4A6A"/>
                </a:solidFill>
              </a:rPr>
              <a:t>Jaccard / overlap champ par champ — memes pondérations que D1 :</a:t>
            </a:r>
          </a:p>
        </p:txBody>
      </p:sp>
      <p:sp>
        <p:nvSpPr>
          <p:cNvPr id="16" name="TextBox 15"/>
          <p:cNvSpPr txBox="1"/>
          <p:nvPr/>
        </p:nvSpPr>
        <p:spPr>
          <a:xfrm>
            <a:off x="502920" y="2432304"/>
            <a:ext cx="6400800" cy="201168"/>
          </a:xfrm>
          <a:prstGeom prst="rect">
            <a:avLst/>
          </a:prstGeom>
          <a:noFill/>
        </p:spPr>
        <p:txBody>
          <a:bodyPr wrap="square">
            <a:spAutoFit/>
          </a:bodyPr>
          <a:lstStyle/>
          <a:p>
            <a:pPr algn="l"/>
            <a:r>
              <a:rPr sz="800" b="0" i="1">
                <a:solidFill>
                  <a:srgbClr val="1A1A2E"/>
                </a:solidFill>
              </a:rPr>
              <a:t>object x3.0  |  action x2.5  |  control_type x1.8  |  evidence x1.5  |  actor/cond/deadline x1.0  |  obligation_type x0.8  |  domain x0.5</a:t>
            </a:r>
          </a:p>
        </p:txBody>
      </p:sp>
      <p:sp>
        <p:nvSpPr>
          <p:cNvPr id="17" name="Rectangle 16"/>
          <p:cNvSpPr/>
          <p:nvPr/>
        </p:nvSpPr>
        <p:spPr>
          <a:xfrm>
            <a:off x="411480" y="2734056"/>
            <a:ext cx="6400800" cy="1078992"/>
          </a:xfrm>
          <a:prstGeom prst="rect">
            <a:avLst/>
          </a:prstGeom>
          <a:solidFill>
            <a:srgbClr val="FFF3EE"/>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2779776"/>
            <a:ext cx="6400800" cy="228600"/>
          </a:xfrm>
          <a:prstGeom prst="rect">
            <a:avLst/>
          </a:prstGeom>
          <a:noFill/>
        </p:spPr>
        <p:txBody>
          <a:bodyPr wrap="square">
            <a:spAutoFit/>
          </a:bodyPr>
          <a:lstStyle/>
          <a:p>
            <a:pPr algn="l"/>
            <a:r>
              <a:rPr sz="1000" b="1" i="0">
                <a:solidFill>
                  <a:srgbClr val="E63312"/>
                </a:solidFill>
              </a:rPr>
              <a:t>D3  Action / Objet  x0.20</a:t>
            </a:r>
          </a:p>
        </p:txBody>
      </p:sp>
      <p:sp>
        <p:nvSpPr>
          <p:cNvPr id="19" name="TextBox 18"/>
          <p:cNvSpPr txBox="1"/>
          <p:nvPr/>
        </p:nvSpPr>
        <p:spPr>
          <a:xfrm>
            <a:off x="502920" y="3008376"/>
            <a:ext cx="6400800" cy="182880"/>
          </a:xfrm>
          <a:prstGeom prst="rect">
            <a:avLst/>
          </a:prstGeom>
          <a:noFill/>
        </p:spPr>
        <p:txBody>
          <a:bodyPr wrap="square">
            <a:spAutoFit/>
          </a:bodyPr>
          <a:lstStyle/>
          <a:p>
            <a:pPr algn="l"/>
            <a:r>
              <a:rPr sz="850" b="0" i="0">
                <a:solidFill>
                  <a:srgbClr val="4A4A6A"/>
                </a:solidFill>
              </a:rPr>
              <a:t>Jaccard(action U object U control_type)  +  bonus famille de controle +/-0.25</a:t>
            </a:r>
          </a:p>
        </p:txBody>
      </p:sp>
      <p:sp>
        <p:nvSpPr>
          <p:cNvPr id="20" name="TextBox 19"/>
          <p:cNvSpPr txBox="1"/>
          <p:nvPr/>
        </p:nvSpPr>
        <p:spPr>
          <a:xfrm>
            <a:off x="502920" y="3191256"/>
            <a:ext cx="6400800" cy="201168"/>
          </a:xfrm>
          <a:prstGeom prst="rect">
            <a:avLst/>
          </a:prstGeom>
          <a:noFill/>
        </p:spPr>
        <p:txBody>
          <a:bodyPr wrap="square">
            <a:spAutoFit/>
          </a:bodyPr>
          <a:lstStyle/>
          <a:p>
            <a:pPr algn="l"/>
            <a:r>
              <a:rPr sz="800" b="0" i="1">
                <a:solidFill>
                  <a:srgbClr val="1A1A2E"/>
                </a:solidFill>
              </a:rPr>
              <a:t>7 familles : access_control | awareness_training | incident | logging_monitoring | cryptography | backup_continuity | asset_inventory</a:t>
            </a:r>
          </a:p>
        </p:txBody>
      </p:sp>
      <p:sp>
        <p:nvSpPr>
          <p:cNvPr id="21" name="Rectangle 20"/>
          <p:cNvSpPr/>
          <p:nvPr/>
        </p:nvSpPr>
        <p:spPr>
          <a:xfrm>
            <a:off x="502920" y="3429000"/>
            <a:ext cx="6263640" cy="310896"/>
          </a:xfrm>
          <a:prstGeom prst="rect">
            <a:avLst/>
          </a:prstGeom>
          <a:solidFill>
            <a:srgbClr val="FFE0D0"/>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447288"/>
            <a:ext cx="6080760" cy="256032"/>
          </a:xfrm>
          <a:prstGeom prst="rect">
            <a:avLst/>
          </a:prstGeom>
          <a:noFill/>
        </p:spPr>
        <p:txBody>
          <a:bodyPr wrap="square">
            <a:spAutoFit/>
          </a:bodyPr>
          <a:lstStyle/>
          <a:p>
            <a:pPr algn="l"/>
            <a:r>
              <a:rPr sz="850" b="1" i="0">
                <a:solidFill>
                  <a:srgbClr val="E63312"/>
                </a:solidFill>
              </a:rPr>
              <a:t>Gate AO : score &lt; 0.10 -&gt; cap final 30%   |   score &lt; 0.25 -&gt; cap final 50%   |   score &gt;= 0.25 -&gt; pas de cap</a:t>
            </a:r>
          </a:p>
        </p:txBody>
      </p:sp>
      <p:sp>
        <p:nvSpPr>
          <p:cNvPr id="23" name="Rectangle 22"/>
          <p:cNvSpPr/>
          <p:nvPr/>
        </p:nvSpPr>
        <p:spPr>
          <a:xfrm>
            <a:off x="411480" y="3886200"/>
            <a:ext cx="6400800" cy="530352"/>
          </a:xfrm>
          <a:prstGeom prst="rect">
            <a:avLst/>
          </a:prstGeom>
          <a:solidFill>
            <a:srgbClr val="F8F9FA"/>
          </a:solidFill>
          <a:ln w="19050">
            <a:solidFill>
              <a:srgbClr val="4A4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3931920"/>
            <a:ext cx="6400800" cy="228600"/>
          </a:xfrm>
          <a:prstGeom prst="rect">
            <a:avLst/>
          </a:prstGeom>
          <a:noFill/>
        </p:spPr>
        <p:txBody>
          <a:bodyPr wrap="square">
            <a:spAutoFit/>
          </a:bodyPr>
          <a:lstStyle/>
          <a:p>
            <a:pPr algn="l"/>
            <a:r>
              <a:rPr sz="1000" b="1" i="0">
                <a:solidFill>
                  <a:srgbClr val="4A4A6A"/>
                </a:solidFill>
              </a:rPr>
              <a:t>D4  Control Type  x0.05</a:t>
            </a:r>
          </a:p>
        </p:txBody>
      </p:sp>
      <p:sp>
        <p:nvSpPr>
          <p:cNvPr id="25" name="TextBox 24"/>
          <p:cNvSpPr txBox="1"/>
          <p:nvPr/>
        </p:nvSpPr>
        <p:spPr>
          <a:xfrm>
            <a:off x="502920" y="4160520"/>
            <a:ext cx="6400800" cy="219456"/>
          </a:xfrm>
          <a:prstGeom prst="rect">
            <a:avLst/>
          </a:prstGeom>
          <a:noFill/>
        </p:spPr>
        <p:txBody>
          <a:bodyPr wrap="square">
            <a:spAutoFit/>
          </a:bodyPr>
          <a:lstStyle/>
          <a:p>
            <a:pPr algn="l"/>
            <a:r>
              <a:rPr sz="850" b="0" i="0">
                <a:solidFill>
                  <a:srgbClr val="4A4A6A"/>
                </a:solidFill>
              </a:rPr>
              <a:t>Jaccard pur sur control_type uniquement  |  Evite confusions : access_control &lt;-&gt; awareness_training</a:t>
            </a:r>
          </a:p>
        </p:txBody>
      </p:sp>
      <p:sp>
        <p:nvSpPr>
          <p:cNvPr id="26" name="Rectangle 25"/>
          <p:cNvSpPr/>
          <p:nvPr/>
        </p:nvSpPr>
        <p:spPr>
          <a:xfrm>
            <a:off x="411480" y="4489704"/>
            <a:ext cx="6400800" cy="685800"/>
          </a:xfrm>
          <a:prstGeom prst="rect">
            <a:avLst/>
          </a:prstGeom>
          <a:solidFill>
            <a:srgbClr val="F0FBF4"/>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535424"/>
            <a:ext cx="6400800" cy="228600"/>
          </a:xfrm>
          <a:prstGeom prst="rect">
            <a:avLst/>
          </a:prstGeom>
          <a:noFill/>
        </p:spPr>
        <p:txBody>
          <a:bodyPr wrap="square">
            <a:spAutoFit/>
          </a:bodyPr>
          <a:lstStyle/>
          <a:p>
            <a:pPr algn="l"/>
            <a:r>
              <a:rPr sz="1000" b="1" i="0">
                <a:solidFill>
                  <a:srgbClr val="27AE60"/>
                </a:solidFill>
              </a:rPr>
              <a:t>D5  Prior ENISA  x0.03</a:t>
            </a:r>
          </a:p>
        </p:txBody>
      </p:sp>
      <p:sp>
        <p:nvSpPr>
          <p:cNvPr id="28" name="TextBox 27"/>
          <p:cNvSpPr txBox="1"/>
          <p:nvPr/>
        </p:nvSpPr>
        <p:spPr>
          <a:xfrm>
            <a:off x="502920" y="4764024"/>
            <a:ext cx="6400800" cy="201168"/>
          </a:xfrm>
          <a:prstGeom prst="rect">
            <a:avLst/>
          </a:prstGeom>
          <a:noFill/>
        </p:spPr>
        <p:txBody>
          <a:bodyPr wrap="square">
            <a:spAutoFit/>
          </a:bodyPr>
          <a:lstStyle/>
          <a:p>
            <a:pPr algn="l"/>
            <a:r>
              <a:rPr sz="850" b="0" i="0">
                <a:solidFill>
                  <a:srgbClr val="4A4A6A"/>
                </a:solidFill>
              </a:rPr>
              <a:t>primary==primary -&gt; 1.0   |   primary in secondary -&gt; 0.70   |   cross-secondary -&gt; 0.45</a:t>
            </a:r>
          </a:p>
        </p:txBody>
      </p:sp>
      <p:sp>
        <p:nvSpPr>
          <p:cNvPr id="29" name="TextBox 28"/>
          <p:cNvSpPr txBox="1"/>
          <p:nvPr/>
        </p:nvSpPr>
        <p:spPr>
          <a:xfrm>
            <a:off x="502920" y="4965192"/>
            <a:ext cx="6400800" cy="182880"/>
          </a:xfrm>
          <a:prstGeom prst="rect">
            <a:avLst/>
          </a:prstGeom>
          <a:noFill/>
        </p:spPr>
        <p:txBody>
          <a:bodyPr wrap="square">
            <a:spAutoFit/>
          </a:bodyPr>
          <a:lstStyle/>
          <a:p>
            <a:pPr algn="l"/>
            <a:r>
              <a:rPr sz="800" b="0" i="1">
                <a:solidFill>
                  <a:srgbClr val="1A1A2E"/>
                </a:solidFill>
              </a:rPr>
              <a:t>Boost uniquement — jamais penalite  |  Plafonne a 0.30 si confidence categorie faible</a:t>
            </a:r>
          </a:p>
        </p:txBody>
      </p:sp>
      <p:sp>
        <p:nvSpPr>
          <p:cNvPr id="30" name="Rectangle 29"/>
          <p:cNvSpPr/>
          <p:nvPr/>
        </p:nvSpPr>
        <p:spPr>
          <a:xfrm>
            <a:off x="411480" y="5248656"/>
            <a:ext cx="6400800" cy="347472"/>
          </a:xfrm>
          <a:prstGeom prst="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266944"/>
            <a:ext cx="6217920" cy="292608"/>
          </a:xfrm>
          <a:prstGeom prst="rect">
            <a:avLst/>
          </a:prstGeom>
          <a:noFill/>
        </p:spPr>
        <p:txBody>
          <a:bodyPr wrap="square">
            <a:spAutoFit/>
          </a:bodyPr>
          <a:lstStyle/>
          <a:p>
            <a:pPr algn="l"/>
            <a:r>
              <a:rPr sz="800" b="0" i="0">
                <a:solidFill>
                  <a:srgbClr val="1E3A5F"/>
                </a:solidFill>
              </a:rPr>
              <a:t>Fusion RRF (K=60)  |  Gate MIN_SCORE=0.04  |  Gap evident : combined&lt;0.10 + sem&lt;0.20 + AO&lt;0.15 -&gt; pas d'appel LLM</a:t>
            </a:r>
          </a:p>
        </p:txBody>
      </p:sp>
      <p:sp>
        <p:nvSpPr>
          <p:cNvPr id="32" name="Rectangle 31"/>
          <p:cNvSpPr/>
          <p:nvPr/>
        </p:nvSpPr>
        <p:spPr>
          <a:xfrm>
            <a:off x="7040880" y="777240"/>
            <a:ext cx="4983480" cy="5532120"/>
          </a:xfrm>
          <a:prstGeom prst="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32320" y="822960"/>
            <a:ext cx="4800600" cy="320040"/>
          </a:xfrm>
          <a:prstGeom prst="rect">
            <a:avLst/>
          </a:prstGeom>
          <a:noFill/>
        </p:spPr>
        <p:txBody>
          <a:bodyPr wrap="square">
            <a:spAutoFit/>
          </a:bodyPr>
          <a:lstStyle/>
          <a:p>
            <a:pPr algn="l"/>
            <a:r>
              <a:rPr sz="1100" b="1" i="0">
                <a:solidFill>
                  <a:srgbClr val="1A1A2E"/>
                </a:solidFill>
              </a:rPr>
              <a:t>Niveaux de couverture — echelle 0 -&gt; 100% par pas de 10%</a:t>
            </a:r>
          </a:p>
        </p:txBody>
      </p:sp>
      <p:sp>
        <p:nvSpPr>
          <p:cNvPr id="34" name="Rectangle 33"/>
          <p:cNvSpPr/>
          <p:nvPr/>
        </p:nvSpPr>
        <p:spPr>
          <a:xfrm>
            <a:off x="7132320" y="1216152"/>
            <a:ext cx="658368"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2320" y="1252728"/>
            <a:ext cx="658368" cy="310896"/>
          </a:xfrm>
          <a:prstGeom prst="rect">
            <a:avLst/>
          </a:prstGeom>
          <a:noFill/>
        </p:spPr>
        <p:txBody>
          <a:bodyPr wrap="square">
            <a:spAutoFit/>
          </a:bodyPr>
          <a:lstStyle/>
          <a:p>
            <a:pPr algn="ctr"/>
            <a:r>
              <a:rPr sz="900" b="1" i="0">
                <a:solidFill>
                  <a:srgbClr val="FFFFFF"/>
                </a:solidFill>
              </a:rPr>
              <a:t>100%</a:t>
            </a:r>
          </a:p>
        </p:txBody>
      </p:sp>
      <p:sp>
        <p:nvSpPr>
          <p:cNvPr id="36" name="Rectangle 35"/>
          <p:cNvSpPr/>
          <p:nvPr/>
        </p:nvSpPr>
        <p:spPr>
          <a:xfrm>
            <a:off x="7836408" y="1216152"/>
            <a:ext cx="4096512" cy="365760"/>
          </a:xfrm>
          <a:prstGeom prst="rect">
            <a:avLst/>
          </a:prstGeom>
          <a:solidFill>
            <a:srgbClr val="F9F9F9"/>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927848" y="1252728"/>
            <a:ext cx="3931920" cy="310896"/>
          </a:xfrm>
          <a:prstGeom prst="rect">
            <a:avLst/>
          </a:prstGeom>
          <a:noFill/>
        </p:spPr>
        <p:txBody>
          <a:bodyPr wrap="square">
            <a:spAutoFit/>
          </a:bodyPr>
          <a:lstStyle/>
          <a:p>
            <a:pPr algn="l"/>
            <a:r>
              <a:rPr sz="850" b="0" i="0">
                <a:solidFill>
                  <a:srgbClr val="1A1A2E"/>
                </a:solidFill>
              </a:rPr>
              <a:t>direct_full_coverage</a:t>
            </a:r>
          </a:p>
        </p:txBody>
      </p:sp>
      <p:sp>
        <p:nvSpPr>
          <p:cNvPr id="38" name="Rectangle 37"/>
          <p:cNvSpPr/>
          <p:nvPr/>
        </p:nvSpPr>
        <p:spPr>
          <a:xfrm>
            <a:off x="7132320" y="1618488"/>
            <a:ext cx="658368"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0" y="1655064"/>
            <a:ext cx="658368" cy="310896"/>
          </a:xfrm>
          <a:prstGeom prst="rect">
            <a:avLst/>
          </a:prstGeom>
          <a:noFill/>
        </p:spPr>
        <p:txBody>
          <a:bodyPr wrap="square">
            <a:spAutoFit/>
          </a:bodyPr>
          <a:lstStyle/>
          <a:p>
            <a:pPr algn="ctr"/>
            <a:r>
              <a:rPr sz="900" b="1" i="0">
                <a:solidFill>
                  <a:srgbClr val="FFFFFF"/>
                </a:solidFill>
              </a:rPr>
              <a:t>90%</a:t>
            </a:r>
          </a:p>
        </p:txBody>
      </p:sp>
      <p:sp>
        <p:nvSpPr>
          <p:cNvPr id="40" name="Rectangle 39"/>
          <p:cNvSpPr/>
          <p:nvPr/>
        </p:nvSpPr>
        <p:spPr>
          <a:xfrm>
            <a:off x="7836408" y="1618488"/>
            <a:ext cx="4096512" cy="365760"/>
          </a:xfrm>
          <a:prstGeom prst="rect">
            <a:avLst/>
          </a:prstGeom>
          <a:solidFill>
            <a:srgbClr val="F9F9F9"/>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927848" y="1655064"/>
            <a:ext cx="3931920" cy="310896"/>
          </a:xfrm>
          <a:prstGeom prst="rect">
            <a:avLst/>
          </a:prstGeom>
          <a:noFill/>
        </p:spPr>
        <p:txBody>
          <a:bodyPr wrap="square">
            <a:spAutoFit/>
          </a:bodyPr>
          <a:lstStyle/>
          <a:p>
            <a:pPr algn="l"/>
            <a:r>
              <a:rPr sz="850" b="0" i="0">
                <a:solidFill>
                  <a:srgbClr val="1A1A2E"/>
                </a:solidFill>
              </a:rPr>
              <a:t>couverture quasi-complete</a:t>
            </a:r>
          </a:p>
        </p:txBody>
      </p:sp>
      <p:sp>
        <p:nvSpPr>
          <p:cNvPr id="42" name="Rectangle 41"/>
          <p:cNvSpPr/>
          <p:nvPr/>
        </p:nvSpPr>
        <p:spPr>
          <a:xfrm>
            <a:off x="7132320" y="2020824"/>
            <a:ext cx="658368" cy="36576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32320" y="2057400"/>
            <a:ext cx="658368" cy="310896"/>
          </a:xfrm>
          <a:prstGeom prst="rect">
            <a:avLst/>
          </a:prstGeom>
          <a:noFill/>
        </p:spPr>
        <p:txBody>
          <a:bodyPr wrap="square">
            <a:spAutoFit/>
          </a:bodyPr>
          <a:lstStyle/>
          <a:p>
            <a:pPr algn="ctr"/>
            <a:r>
              <a:rPr sz="900" b="1" i="0">
                <a:solidFill>
                  <a:srgbClr val="FFFFFF"/>
                </a:solidFill>
              </a:rPr>
              <a:t>80%</a:t>
            </a:r>
          </a:p>
        </p:txBody>
      </p:sp>
      <p:sp>
        <p:nvSpPr>
          <p:cNvPr id="44" name="Rectangle 43"/>
          <p:cNvSpPr/>
          <p:nvPr/>
        </p:nvSpPr>
        <p:spPr>
          <a:xfrm>
            <a:off x="7836408" y="2020824"/>
            <a:ext cx="4096512" cy="365760"/>
          </a:xfrm>
          <a:prstGeom prst="rect">
            <a:avLst/>
          </a:prstGeom>
          <a:solidFill>
            <a:srgbClr val="F9F9F9"/>
          </a:solidFill>
          <a:ln w="19050">
            <a:solidFill>
              <a:srgbClr val="52B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927848" y="2057400"/>
            <a:ext cx="3931920" cy="310896"/>
          </a:xfrm>
          <a:prstGeom prst="rect">
            <a:avLst/>
          </a:prstGeom>
          <a:noFill/>
        </p:spPr>
        <p:txBody>
          <a:bodyPr wrap="square">
            <a:spAutoFit/>
          </a:bodyPr>
          <a:lstStyle/>
          <a:p>
            <a:pPr algn="l"/>
            <a:r>
              <a:rPr sz="850" b="0" i="0">
                <a:solidFill>
                  <a:srgbClr val="1A1A2E"/>
                </a:solidFill>
              </a:rPr>
              <a:t>mostly_covered (fort)</a:t>
            </a:r>
          </a:p>
        </p:txBody>
      </p:sp>
      <p:sp>
        <p:nvSpPr>
          <p:cNvPr id="46" name="Rectangle 45"/>
          <p:cNvSpPr/>
          <p:nvPr/>
        </p:nvSpPr>
        <p:spPr>
          <a:xfrm>
            <a:off x="7132320" y="2423160"/>
            <a:ext cx="658368" cy="365760"/>
          </a:xfrm>
          <a:prstGeom prst="rect">
            <a:avLst/>
          </a:prstGeom>
          <a:solidFill>
            <a:srgbClr val="82E0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32320" y="2459736"/>
            <a:ext cx="658368" cy="310896"/>
          </a:xfrm>
          <a:prstGeom prst="rect">
            <a:avLst/>
          </a:prstGeom>
          <a:noFill/>
        </p:spPr>
        <p:txBody>
          <a:bodyPr wrap="square">
            <a:spAutoFit/>
          </a:bodyPr>
          <a:lstStyle/>
          <a:p>
            <a:pPr algn="ctr"/>
            <a:r>
              <a:rPr sz="900" b="1" i="0">
                <a:solidFill>
                  <a:srgbClr val="FFFFFF"/>
                </a:solidFill>
              </a:rPr>
              <a:t>70%</a:t>
            </a:r>
          </a:p>
        </p:txBody>
      </p:sp>
      <p:sp>
        <p:nvSpPr>
          <p:cNvPr id="48" name="Rectangle 47"/>
          <p:cNvSpPr/>
          <p:nvPr/>
        </p:nvSpPr>
        <p:spPr>
          <a:xfrm>
            <a:off x="7836408" y="2423160"/>
            <a:ext cx="4096512" cy="365760"/>
          </a:xfrm>
          <a:prstGeom prst="rect">
            <a:avLst/>
          </a:prstGeom>
          <a:solidFill>
            <a:srgbClr val="F9F9F9"/>
          </a:solidFill>
          <a:ln w="19050">
            <a:solidFill>
              <a:srgbClr val="82E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927848" y="2459736"/>
            <a:ext cx="3931920" cy="310896"/>
          </a:xfrm>
          <a:prstGeom prst="rect">
            <a:avLst/>
          </a:prstGeom>
          <a:noFill/>
        </p:spPr>
        <p:txBody>
          <a:bodyPr wrap="square">
            <a:spAutoFit/>
          </a:bodyPr>
          <a:lstStyle/>
          <a:p>
            <a:pPr algn="l"/>
            <a:r>
              <a:rPr sz="850" b="0" i="0">
                <a:solidFill>
                  <a:srgbClr val="1A1A2E"/>
                </a:solidFill>
              </a:rPr>
              <a:t>mostly_covered</a:t>
            </a:r>
          </a:p>
        </p:txBody>
      </p:sp>
      <p:sp>
        <p:nvSpPr>
          <p:cNvPr id="50" name="Rectangle 49"/>
          <p:cNvSpPr/>
          <p:nvPr/>
        </p:nvSpPr>
        <p:spPr>
          <a:xfrm>
            <a:off x="7132320" y="2825496"/>
            <a:ext cx="658368" cy="3657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0" y="2862072"/>
            <a:ext cx="658368" cy="310896"/>
          </a:xfrm>
          <a:prstGeom prst="rect">
            <a:avLst/>
          </a:prstGeom>
          <a:noFill/>
        </p:spPr>
        <p:txBody>
          <a:bodyPr wrap="square">
            <a:spAutoFit/>
          </a:bodyPr>
          <a:lstStyle/>
          <a:p>
            <a:pPr algn="ctr"/>
            <a:r>
              <a:rPr sz="900" b="1" i="0">
                <a:solidFill>
                  <a:srgbClr val="FFFFFF"/>
                </a:solidFill>
              </a:rPr>
              <a:t>60%</a:t>
            </a:r>
          </a:p>
        </p:txBody>
      </p:sp>
      <p:sp>
        <p:nvSpPr>
          <p:cNvPr id="52" name="Rectangle 51"/>
          <p:cNvSpPr/>
          <p:nvPr/>
        </p:nvSpPr>
        <p:spPr>
          <a:xfrm>
            <a:off x="7836408" y="2825496"/>
            <a:ext cx="4096512" cy="365760"/>
          </a:xfrm>
          <a:prstGeom prst="rect">
            <a:avLst/>
          </a:prstGeom>
          <a:solidFill>
            <a:srgbClr val="F9F9F9"/>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927848" y="2862072"/>
            <a:ext cx="3931920" cy="310896"/>
          </a:xfrm>
          <a:prstGeom prst="rect">
            <a:avLst/>
          </a:prstGeom>
          <a:noFill/>
        </p:spPr>
        <p:txBody>
          <a:bodyPr wrap="square">
            <a:spAutoFit/>
          </a:bodyPr>
          <a:lstStyle/>
          <a:p>
            <a:pPr algn="l"/>
            <a:r>
              <a:rPr sz="850" b="0" i="0">
                <a:solidFill>
                  <a:srgbClr val="1A1A2E"/>
                </a:solidFill>
              </a:rPr>
              <a:t>partiellement couvert (bon)</a:t>
            </a:r>
          </a:p>
        </p:txBody>
      </p:sp>
      <p:sp>
        <p:nvSpPr>
          <p:cNvPr id="54" name="Rectangle 53"/>
          <p:cNvSpPr/>
          <p:nvPr/>
        </p:nvSpPr>
        <p:spPr>
          <a:xfrm>
            <a:off x="7132320" y="3227832"/>
            <a:ext cx="658368" cy="36576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132320" y="3264408"/>
            <a:ext cx="658368" cy="310896"/>
          </a:xfrm>
          <a:prstGeom prst="rect">
            <a:avLst/>
          </a:prstGeom>
          <a:noFill/>
        </p:spPr>
        <p:txBody>
          <a:bodyPr wrap="square">
            <a:spAutoFit/>
          </a:bodyPr>
          <a:lstStyle/>
          <a:p>
            <a:pPr algn="ctr"/>
            <a:r>
              <a:rPr sz="900" b="1" i="0">
                <a:solidFill>
                  <a:srgbClr val="FFFFFF"/>
                </a:solidFill>
              </a:rPr>
              <a:t>50%</a:t>
            </a:r>
          </a:p>
        </p:txBody>
      </p:sp>
      <p:sp>
        <p:nvSpPr>
          <p:cNvPr id="56" name="Rectangle 55"/>
          <p:cNvSpPr/>
          <p:nvPr/>
        </p:nvSpPr>
        <p:spPr>
          <a:xfrm>
            <a:off x="7836408" y="3227832"/>
            <a:ext cx="4096512" cy="365760"/>
          </a:xfrm>
          <a:prstGeom prst="rect">
            <a:avLst/>
          </a:prstGeom>
          <a:solidFill>
            <a:srgbClr val="F9F9F9"/>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927848" y="3264408"/>
            <a:ext cx="3931920" cy="310896"/>
          </a:xfrm>
          <a:prstGeom prst="rect">
            <a:avLst/>
          </a:prstGeom>
          <a:noFill/>
        </p:spPr>
        <p:txBody>
          <a:bodyPr wrap="square">
            <a:spAutoFit/>
          </a:bodyPr>
          <a:lstStyle/>
          <a:p>
            <a:pPr algn="l"/>
            <a:r>
              <a:rPr sz="850" b="0" i="0">
                <a:solidFill>
                  <a:srgbClr val="1A1A2E"/>
                </a:solidFill>
              </a:rPr>
              <a:t>partial / impl. detail gap</a:t>
            </a:r>
          </a:p>
        </p:txBody>
      </p:sp>
      <p:sp>
        <p:nvSpPr>
          <p:cNvPr id="58" name="Rectangle 57"/>
          <p:cNvSpPr/>
          <p:nvPr/>
        </p:nvSpPr>
        <p:spPr>
          <a:xfrm>
            <a:off x="7132320" y="3630168"/>
            <a:ext cx="658368" cy="365760"/>
          </a:xfrm>
          <a:prstGeom prst="rect">
            <a:avLst/>
          </a:prstGeom>
          <a:solidFill>
            <a:srgbClr val="F0B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132320" y="3666744"/>
            <a:ext cx="658368" cy="310896"/>
          </a:xfrm>
          <a:prstGeom prst="rect">
            <a:avLst/>
          </a:prstGeom>
          <a:noFill/>
        </p:spPr>
        <p:txBody>
          <a:bodyPr wrap="square">
            <a:spAutoFit/>
          </a:bodyPr>
          <a:lstStyle/>
          <a:p>
            <a:pPr algn="ctr"/>
            <a:r>
              <a:rPr sz="900" b="1" i="0">
                <a:solidFill>
                  <a:srgbClr val="FFFFFF"/>
                </a:solidFill>
              </a:rPr>
              <a:t>40%</a:t>
            </a:r>
          </a:p>
        </p:txBody>
      </p:sp>
      <p:sp>
        <p:nvSpPr>
          <p:cNvPr id="60" name="Rectangle 59"/>
          <p:cNvSpPr/>
          <p:nvPr/>
        </p:nvSpPr>
        <p:spPr>
          <a:xfrm>
            <a:off x="7836408" y="3630168"/>
            <a:ext cx="4096512" cy="365760"/>
          </a:xfrm>
          <a:prstGeom prst="rect">
            <a:avLst/>
          </a:prstGeom>
          <a:solidFill>
            <a:srgbClr val="F9F9F9"/>
          </a:solidFill>
          <a:ln w="19050">
            <a:solidFill>
              <a:srgbClr val="F0B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927848" y="3666744"/>
            <a:ext cx="3931920" cy="310896"/>
          </a:xfrm>
          <a:prstGeom prst="rect">
            <a:avLst/>
          </a:prstGeom>
          <a:noFill/>
        </p:spPr>
        <p:txBody>
          <a:bodyPr wrap="square">
            <a:spAutoFit/>
          </a:bodyPr>
          <a:lstStyle/>
          <a:p>
            <a:pPr algn="l"/>
            <a:r>
              <a:rPr sz="850" b="0" i="0">
                <a:solidFill>
                  <a:srgbClr val="1A1A2E"/>
                </a:solidFill>
              </a:rPr>
              <a:t>couverture faible</a:t>
            </a:r>
          </a:p>
        </p:txBody>
      </p:sp>
      <p:sp>
        <p:nvSpPr>
          <p:cNvPr id="62" name="Rectangle 61"/>
          <p:cNvSpPr/>
          <p:nvPr/>
        </p:nvSpPr>
        <p:spPr>
          <a:xfrm>
            <a:off x="7132320" y="4032504"/>
            <a:ext cx="658368"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132320" y="4069080"/>
            <a:ext cx="658368" cy="310896"/>
          </a:xfrm>
          <a:prstGeom prst="rect">
            <a:avLst/>
          </a:prstGeom>
          <a:noFill/>
        </p:spPr>
        <p:txBody>
          <a:bodyPr wrap="square">
            <a:spAutoFit/>
          </a:bodyPr>
          <a:lstStyle/>
          <a:p>
            <a:pPr algn="ctr"/>
            <a:r>
              <a:rPr sz="900" b="1" i="0">
                <a:solidFill>
                  <a:srgbClr val="FFFFFF"/>
                </a:solidFill>
              </a:rPr>
              <a:t>30%</a:t>
            </a:r>
          </a:p>
        </p:txBody>
      </p:sp>
      <p:sp>
        <p:nvSpPr>
          <p:cNvPr id="64" name="Rectangle 63"/>
          <p:cNvSpPr/>
          <p:nvPr/>
        </p:nvSpPr>
        <p:spPr>
          <a:xfrm>
            <a:off x="7836408" y="4032504"/>
            <a:ext cx="4096512" cy="365760"/>
          </a:xfrm>
          <a:prstGeom prst="rect">
            <a:avLst/>
          </a:prstGeom>
          <a:solidFill>
            <a:srgbClr val="F9F9F9"/>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927848" y="4069080"/>
            <a:ext cx="3931920" cy="310896"/>
          </a:xfrm>
          <a:prstGeom prst="rect">
            <a:avLst/>
          </a:prstGeom>
          <a:noFill/>
        </p:spPr>
        <p:txBody>
          <a:bodyPr wrap="square">
            <a:spAutoFit/>
          </a:bodyPr>
          <a:lstStyle/>
          <a:p>
            <a:pPr algn="l"/>
            <a:r>
              <a:rPr sz="850" b="0" i="0">
                <a:solidFill>
                  <a:srgbClr val="1A1A2E"/>
                </a:solidFill>
              </a:rPr>
              <a:t>indirect_support (possible)</a:t>
            </a:r>
          </a:p>
        </p:txBody>
      </p:sp>
      <p:sp>
        <p:nvSpPr>
          <p:cNvPr id="66" name="Rectangle 65"/>
          <p:cNvSpPr/>
          <p:nvPr/>
        </p:nvSpPr>
        <p:spPr>
          <a:xfrm>
            <a:off x="7132320" y="4434840"/>
            <a:ext cx="658368" cy="3657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132320" y="4471416"/>
            <a:ext cx="658368" cy="310896"/>
          </a:xfrm>
          <a:prstGeom prst="rect">
            <a:avLst/>
          </a:prstGeom>
          <a:noFill/>
        </p:spPr>
        <p:txBody>
          <a:bodyPr wrap="square">
            <a:spAutoFit/>
          </a:bodyPr>
          <a:lstStyle/>
          <a:p>
            <a:pPr algn="ctr"/>
            <a:r>
              <a:rPr sz="900" b="1" i="0">
                <a:solidFill>
                  <a:srgbClr val="FFFFFF"/>
                </a:solidFill>
              </a:rPr>
              <a:t>20%</a:t>
            </a:r>
          </a:p>
        </p:txBody>
      </p:sp>
      <p:sp>
        <p:nvSpPr>
          <p:cNvPr id="68" name="Rectangle 67"/>
          <p:cNvSpPr/>
          <p:nvPr/>
        </p:nvSpPr>
        <p:spPr>
          <a:xfrm>
            <a:off x="7836408" y="4434840"/>
            <a:ext cx="4096512" cy="365760"/>
          </a:xfrm>
          <a:prstGeom prst="rect">
            <a:avLst/>
          </a:prstGeom>
          <a:solidFill>
            <a:srgbClr val="F9F9F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927848" y="4471416"/>
            <a:ext cx="3931920" cy="310896"/>
          </a:xfrm>
          <a:prstGeom prst="rect">
            <a:avLst/>
          </a:prstGeom>
          <a:noFill/>
        </p:spPr>
        <p:txBody>
          <a:bodyPr wrap="square">
            <a:spAutoFit/>
          </a:bodyPr>
          <a:lstStyle/>
          <a:p>
            <a:pPr algn="l"/>
            <a:r>
              <a:rPr sz="850" b="0" i="0">
                <a:solidFill>
                  <a:srgbClr val="1A1A2E"/>
                </a:solidFill>
              </a:rPr>
              <a:t>indirect_support</a:t>
            </a:r>
          </a:p>
        </p:txBody>
      </p:sp>
      <p:sp>
        <p:nvSpPr>
          <p:cNvPr id="70" name="Rectangle 69"/>
          <p:cNvSpPr/>
          <p:nvPr/>
        </p:nvSpPr>
        <p:spPr>
          <a:xfrm>
            <a:off x="7132320" y="4837176"/>
            <a:ext cx="658368"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132320" y="4873752"/>
            <a:ext cx="658368" cy="310896"/>
          </a:xfrm>
          <a:prstGeom prst="rect">
            <a:avLst/>
          </a:prstGeom>
          <a:noFill/>
        </p:spPr>
        <p:txBody>
          <a:bodyPr wrap="square">
            <a:spAutoFit/>
          </a:bodyPr>
          <a:lstStyle/>
          <a:p>
            <a:pPr algn="ctr"/>
            <a:r>
              <a:rPr sz="900" b="1" i="0">
                <a:solidFill>
                  <a:srgbClr val="FFFFFF"/>
                </a:solidFill>
              </a:rPr>
              <a:t>10%</a:t>
            </a:r>
          </a:p>
        </p:txBody>
      </p:sp>
      <p:sp>
        <p:nvSpPr>
          <p:cNvPr id="72" name="Rectangle 71"/>
          <p:cNvSpPr/>
          <p:nvPr/>
        </p:nvSpPr>
        <p:spPr>
          <a:xfrm>
            <a:off x="7836408" y="4837176"/>
            <a:ext cx="4096512" cy="365760"/>
          </a:xfrm>
          <a:prstGeom prst="rect">
            <a:avLst/>
          </a:prstGeom>
          <a:solidFill>
            <a:srgbClr val="F9F9F9"/>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927848" y="4873752"/>
            <a:ext cx="3931920" cy="310896"/>
          </a:xfrm>
          <a:prstGeom prst="rect">
            <a:avLst/>
          </a:prstGeom>
          <a:noFill/>
        </p:spPr>
        <p:txBody>
          <a:bodyPr wrap="square">
            <a:spAutoFit/>
          </a:bodyPr>
          <a:lstStyle/>
          <a:p>
            <a:pPr algn="l"/>
            <a:r>
              <a:rPr sz="850" b="0" i="0">
                <a:solidFill>
                  <a:srgbClr val="1A1A2E"/>
                </a:solidFill>
              </a:rPr>
              <a:t>couverture minimale</a:t>
            </a:r>
          </a:p>
        </p:txBody>
      </p:sp>
      <p:sp>
        <p:nvSpPr>
          <p:cNvPr id="74" name="Rectangle 73"/>
          <p:cNvSpPr/>
          <p:nvPr/>
        </p:nvSpPr>
        <p:spPr>
          <a:xfrm>
            <a:off x="7132320" y="5239512"/>
            <a:ext cx="658368" cy="3657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132320" y="5276088"/>
            <a:ext cx="658368" cy="310896"/>
          </a:xfrm>
          <a:prstGeom prst="rect">
            <a:avLst/>
          </a:prstGeom>
          <a:noFill/>
        </p:spPr>
        <p:txBody>
          <a:bodyPr wrap="square">
            <a:spAutoFit/>
          </a:bodyPr>
          <a:lstStyle/>
          <a:p>
            <a:pPr algn="ctr"/>
            <a:r>
              <a:rPr sz="900" b="1" i="0">
                <a:solidFill>
                  <a:srgbClr val="FFFFFF"/>
                </a:solidFill>
              </a:rPr>
              <a:t>0%</a:t>
            </a:r>
          </a:p>
        </p:txBody>
      </p:sp>
      <p:sp>
        <p:nvSpPr>
          <p:cNvPr id="76" name="Rectangle 75"/>
          <p:cNvSpPr/>
          <p:nvPr/>
        </p:nvSpPr>
        <p:spPr>
          <a:xfrm>
            <a:off x="7836408" y="5239512"/>
            <a:ext cx="4096512" cy="365760"/>
          </a:xfrm>
          <a:prstGeom prst="rect">
            <a:avLst/>
          </a:prstGeom>
          <a:solidFill>
            <a:srgbClr val="F9F9F9"/>
          </a:solidFill>
          <a:ln w="19050">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927848" y="5276088"/>
            <a:ext cx="3931920" cy="310896"/>
          </a:xfrm>
          <a:prstGeom prst="rect">
            <a:avLst/>
          </a:prstGeom>
          <a:noFill/>
        </p:spPr>
        <p:txBody>
          <a:bodyPr wrap="square">
            <a:spAutoFit/>
          </a:bodyPr>
          <a:lstStyle/>
          <a:p>
            <a:pPr algn="l"/>
            <a:r>
              <a:rPr sz="850" b="0" i="0">
                <a:solidFill>
                  <a:srgbClr val="1A1A2E"/>
                </a:solidFill>
              </a:rPr>
              <a:t>true_gap / conflict</a:t>
            </a:r>
          </a:p>
        </p:txBody>
      </p:sp>
      <p:sp>
        <p:nvSpPr>
          <p:cNvPr id="78" name="Rectangle 77"/>
          <p:cNvSpPr/>
          <p:nvPr/>
        </p:nvSpPr>
        <p:spPr>
          <a:xfrm>
            <a:off x="7132320" y="5650992"/>
            <a:ext cx="4800600" cy="347472"/>
          </a:xfrm>
          <a:prstGeom prst="rect">
            <a:avLst/>
          </a:prstGeom>
          <a:solidFill>
            <a:srgbClr val="FFF8E1"/>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223760" y="5669280"/>
            <a:ext cx="4617720" cy="292608"/>
          </a:xfrm>
          <a:prstGeom prst="rect">
            <a:avLst/>
          </a:prstGeom>
          <a:noFill/>
        </p:spPr>
        <p:txBody>
          <a:bodyPr wrap="square">
            <a:spAutoFit/>
          </a:bodyPr>
          <a:lstStyle/>
          <a:p>
            <a:pPr algn="l"/>
            <a:r>
              <a:rPr sz="800" b="0" i="0">
                <a:solidFill>
                  <a:srgbClr val="7D6A00"/>
                </a:solidFill>
              </a:rPr>
              <a:t>Cache : mapping_decisions_cache.jsonl  |  Self-review optionnel (conf &lt; 0.65)</a:t>
            </a:r>
          </a:p>
        </p:txBody>
      </p:sp>
      <p:sp>
        <p:nvSpPr>
          <p:cNvPr id="80" name="Rectangle 79"/>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65760" y="6400800"/>
            <a:ext cx="7315200" cy="365760"/>
          </a:xfrm>
          <a:prstGeom prst="rect">
            <a:avLst/>
          </a:prstGeom>
          <a:noFill/>
        </p:spPr>
        <p:txBody>
          <a:bodyPr wrap="square">
            <a:spAutoFit/>
          </a:bodyPr>
          <a:lstStyle/>
          <a:p>
            <a:pPr algn="l"/>
            <a:r>
              <a:rPr sz="900" b="0" i="0">
                <a:solidFill>
                  <a:srgbClr val="AAAAAA"/>
                </a:solidFill>
              </a:rPr>
              <a:t>Regulatory Framework Mapper  |  Etape 2 : Scoring Multi-dimensionnel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109728"/>
            <a:ext cx="11430000" cy="457200"/>
          </a:xfrm>
          <a:prstGeom prst="rect">
            <a:avLst/>
          </a:prstGeom>
          <a:noFill/>
        </p:spPr>
        <p:txBody>
          <a:bodyPr wrap="square">
            <a:spAutoFit/>
          </a:bodyPr>
          <a:lstStyle/>
          <a:p>
            <a:pPr algn="l"/>
            <a:r>
              <a:rPr sz="1800" b="1" i="0">
                <a:solidFill>
                  <a:srgbClr val="FFFFFF"/>
                </a:solidFill>
              </a:rPr>
              <a:t>Etapes 3 &amp; 4 — Juge Final  |  Synthese Parent  |  Post-traitement Automatique</a:t>
            </a:r>
          </a:p>
        </p:txBody>
      </p:sp>
      <p:sp>
        <p:nvSpPr>
          <p:cNvPr id="6" name="Rectangle 5"/>
          <p:cNvSpPr/>
          <p:nvPr/>
        </p:nvSpPr>
        <p:spPr>
          <a:xfrm>
            <a:off x="320040" y="777240"/>
            <a:ext cx="5623560" cy="3886200"/>
          </a:xfrm>
          <a:prstGeom prst="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11480" y="868680"/>
            <a:ext cx="502920" cy="502920"/>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rPr>
              <a:t>03</a:t>
            </a:r>
          </a:p>
        </p:txBody>
      </p:sp>
      <p:sp>
        <p:nvSpPr>
          <p:cNvPr id="8" name="TextBox 7"/>
          <p:cNvSpPr txBox="1"/>
          <p:nvPr/>
        </p:nvSpPr>
        <p:spPr>
          <a:xfrm>
            <a:off x="1005840" y="896112"/>
            <a:ext cx="4754880" cy="457200"/>
          </a:xfrm>
          <a:prstGeom prst="rect">
            <a:avLst/>
          </a:prstGeom>
          <a:noFill/>
        </p:spPr>
        <p:txBody>
          <a:bodyPr wrap="square">
            <a:spAutoFit/>
          </a:bodyPr>
          <a:lstStyle/>
          <a:p>
            <a:pPr algn="l"/>
            <a:r>
              <a:rPr sz="1300" b="1" i="0">
                <a:solidFill>
                  <a:srgbClr val="1A1A2E"/>
                </a:solidFill>
              </a:rPr>
              <a:t>Juge Final  (final_judge.py)</a:t>
            </a:r>
          </a:p>
        </p:txBody>
      </p:sp>
      <p:sp>
        <p:nvSpPr>
          <p:cNvPr id="9" name="Rectangle 8"/>
          <p:cNvSpPr/>
          <p:nvPr/>
        </p:nvSpPr>
        <p:spPr>
          <a:xfrm>
            <a:off x="411480" y="1481328"/>
            <a:ext cx="5440680" cy="932688"/>
          </a:xfrm>
          <a:prstGeom prst="rect">
            <a:avLst/>
          </a:prstGeom>
          <a:solidFill>
            <a:srgbClr val="FFF3EE"/>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517904"/>
            <a:ext cx="5257800" cy="237744"/>
          </a:xfrm>
          <a:prstGeom prst="rect">
            <a:avLst/>
          </a:prstGeom>
          <a:noFill/>
        </p:spPr>
        <p:txBody>
          <a:bodyPr wrap="square">
            <a:spAutoFit/>
          </a:bodyPr>
          <a:lstStyle/>
          <a:p>
            <a:pPr algn="l"/>
            <a:r>
              <a:rPr sz="950" b="1" i="0">
                <a:solidFill>
                  <a:srgbClr val="E63312"/>
                </a:solidFill>
              </a:rPr>
              <a:t>Filtre d'ambiguite</a:t>
            </a:r>
          </a:p>
        </p:txBody>
      </p:sp>
      <p:sp>
        <p:nvSpPr>
          <p:cNvPr id="11" name="TextBox 10"/>
          <p:cNvSpPr txBox="1"/>
          <p:nvPr/>
        </p:nvSpPr>
        <p:spPr>
          <a:xfrm>
            <a:off x="502920" y="1773936"/>
            <a:ext cx="5257800" cy="603504"/>
          </a:xfrm>
          <a:prstGeom prst="rect">
            <a:avLst/>
          </a:prstGeom>
          <a:noFill/>
        </p:spPr>
        <p:txBody>
          <a:bodyPr wrap="square">
            <a:spAutoFit/>
          </a:bodyPr>
          <a:lstStyle/>
          <a:p>
            <a:pPr algn="l"/>
            <a:r>
              <a:rPr sz="850" b="0" i="0">
                <a:solidFill>
                  <a:srgbClr val="4A4A6A"/>
                </a:solidFill>
              </a:rPr>
              <a:t>Revise uniquement si : conf &lt; 0.80  OU  coverage_level &lt;= 50
-&gt; Passe directement si conf &gt;= 0.80 ET coverage &gt; 50</a:t>
            </a:r>
          </a:p>
        </p:txBody>
      </p:sp>
      <p:sp>
        <p:nvSpPr>
          <p:cNvPr id="12" name="Rectangle 11"/>
          <p:cNvSpPr/>
          <p:nvPr/>
        </p:nvSpPr>
        <p:spPr>
          <a:xfrm>
            <a:off x="411480" y="2505456"/>
            <a:ext cx="5440680" cy="932688"/>
          </a:xfrm>
          <a:prstGeom prst="rect">
            <a:avLst/>
          </a:prstGeom>
          <a:solidFill>
            <a:srgbClr val="FFF3EE"/>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542032"/>
            <a:ext cx="5257800" cy="237744"/>
          </a:xfrm>
          <a:prstGeom prst="rect">
            <a:avLst/>
          </a:prstGeom>
          <a:noFill/>
        </p:spPr>
        <p:txBody>
          <a:bodyPr wrap="square">
            <a:spAutoFit/>
          </a:bodyPr>
          <a:lstStyle/>
          <a:p>
            <a:pPr algn="l"/>
            <a:r>
              <a:rPr sz="950" b="1" i="0">
                <a:solidFill>
                  <a:srgbClr val="E63312"/>
                </a:solidFill>
              </a:rPr>
              <a:t>Groupement &amp; batch LLM</a:t>
            </a:r>
          </a:p>
        </p:txBody>
      </p:sp>
      <p:sp>
        <p:nvSpPr>
          <p:cNvPr id="14" name="TextBox 13"/>
          <p:cNvSpPr txBox="1"/>
          <p:nvPr/>
        </p:nvSpPr>
        <p:spPr>
          <a:xfrm>
            <a:off x="502920" y="2798064"/>
            <a:ext cx="5257800" cy="603504"/>
          </a:xfrm>
          <a:prstGeom prst="rect">
            <a:avLst/>
          </a:prstGeom>
          <a:noFill/>
        </p:spPr>
        <p:txBody>
          <a:bodyPr wrap="square">
            <a:spAutoFit/>
          </a:bodyPr>
          <a:lstStyle/>
          <a:p>
            <a:pPr algn="l"/>
            <a:r>
              <a:rPr sz="850" b="0" i="0">
                <a:solidFill>
                  <a:srgbClr val="4A4A6A"/>
                </a:solidFill>
              </a:rPr>
              <a:t>Regroupe par source_category (ENISA)
batch_size = 25 decisions  |  Prompt : PROMPT_FINAL_JUDGE
Appel Azure OpenAI (modele Judge)</a:t>
            </a:r>
          </a:p>
        </p:txBody>
      </p:sp>
      <p:sp>
        <p:nvSpPr>
          <p:cNvPr id="15" name="Rectangle 14"/>
          <p:cNvSpPr/>
          <p:nvPr/>
        </p:nvSpPr>
        <p:spPr>
          <a:xfrm>
            <a:off x="411480" y="3529584"/>
            <a:ext cx="5440680" cy="932688"/>
          </a:xfrm>
          <a:prstGeom prst="rect">
            <a:avLst/>
          </a:prstGeom>
          <a:solidFill>
            <a:srgbClr val="FFF3EE"/>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566160"/>
            <a:ext cx="5257800" cy="237744"/>
          </a:xfrm>
          <a:prstGeom prst="rect">
            <a:avLst/>
          </a:prstGeom>
          <a:noFill/>
        </p:spPr>
        <p:txBody>
          <a:bodyPr wrap="square">
            <a:spAutoFit/>
          </a:bodyPr>
          <a:lstStyle/>
          <a:p>
            <a:pPr algn="l"/>
            <a:r>
              <a:rPr sz="950" b="1" i="0">
                <a:solidFill>
                  <a:srgbClr val="E63312"/>
                </a:solidFill>
              </a:rPr>
              <a:t>Corrections appliquees</a:t>
            </a:r>
          </a:p>
        </p:txBody>
      </p:sp>
      <p:sp>
        <p:nvSpPr>
          <p:cNvPr id="17" name="TextBox 16"/>
          <p:cNvSpPr txBox="1"/>
          <p:nvPr/>
        </p:nvSpPr>
        <p:spPr>
          <a:xfrm>
            <a:off x="502920" y="3822192"/>
            <a:ext cx="5257800" cy="603504"/>
          </a:xfrm>
          <a:prstGeom prst="rect">
            <a:avLst/>
          </a:prstGeom>
          <a:noFill/>
        </p:spPr>
        <p:txBody>
          <a:bodyPr wrap="square">
            <a:spAutoFit/>
          </a:bodyPr>
          <a:lstStyle/>
          <a:p>
            <a:pPr algn="l"/>
            <a:r>
              <a:rPr sz="850" b="0" i="0">
                <a:solidFill>
                  <a:srgbClr val="4A4A6A"/>
                </a:solidFill>
              </a:rPr>
              <a:t>relation_type | coverage_level | confidence | match_type
gap_items | selected_candidate_ids | target_requirements
-&gt; suivi de sanitize_decision() sur chaque correction</a:t>
            </a:r>
          </a:p>
        </p:txBody>
      </p:sp>
      <p:sp>
        <p:nvSpPr>
          <p:cNvPr id="18" name="Rectangle 17"/>
          <p:cNvSpPr/>
          <p:nvPr/>
        </p:nvSpPr>
        <p:spPr>
          <a:xfrm>
            <a:off x="6080760" y="777240"/>
            <a:ext cx="5760720" cy="3886200"/>
          </a:xfrm>
          <a:prstGeom prst="rect">
            <a:avLst/>
          </a:prstGeom>
          <a:solidFill>
            <a:srgbClr val="FFFFFF"/>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172200" y="868680"/>
            <a:ext cx="502920" cy="50292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rPr>
              <a:t>04</a:t>
            </a:r>
          </a:p>
        </p:txBody>
      </p:sp>
      <p:sp>
        <p:nvSpPr>
          <p:cNvPr id="20" name="TextBox 19"/>
          <p:cNvSpPr txBox="1"/>
          <p:nvPr/>
        </p:nvSpPr>
        <p:spPr>
          <a:xfrm>
            <a:off x="6766560" y="896112"/>
            <a:ext cx="4937760" cy="457200"/>
          </a:xfrm>
          <a:prstGeom prst="rect">
            <a:avLst/>
          </a:prstGeom>
          <a:noFill/>
        </p:spPr>
        <p:txBody>
          <a:bodyPr wrap="square">
            <a:spAutoFit/>
          </a:bodyPr>
          <a:lstStyle/>
          <a:p>
            <a:pPr algn="l"/>
            <a:r>
              <a:rPr sz="1300" b="1" i="0">
                <a:solidFill>
                  <a:srgbClr val="1A1A2E"/>
                </a:solidFill>
              </a:rPr>
              <a:t>Synthese Parent  (parent_gap_synthesis.py)</a:t>
            </a:r>
          </a:p>
        </p:txBody>
      </p:sp>
      <p:sp>
        <p:nvSpPr>
          <p:cNvPr id="21" name="Rectangle 20"/>
          <p:cNvSpPr/>
          <p:nvPr/>
        </p:nvSpPr>
        <p:spPr>
          <a:xfrm>
            <a:off x="6172200" y="1481328"/>
            <a:ext cx="5577840" cy="932688"/>
          </a:xfrm>
          <a:prstGeom prst="rect">
            <a:avLst/>
          </a:prstGeom>
          <a:solidFill>
            <a:srgbClr val="F5EEF8"/>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1517904"/>
            <a:ext cx="5394960" cy="237744"/>
          </a:xfrm>
          <a:prstGeom prst="rect">
            <a:avLst/>
          </a:prstGeom>
          <a:noFill/>
        </p:spPr>
        <p:txBody>
          <a:bodyPr wrap="square">
            <a:spAutoFit/>
          </a:bodyPr>
          <a:lstStyle/>
          <a:p>
            <a:pPr algn="l"/>
            <a:r>
              <a:rPr sz="950" b="1" i="0">
                <a:solidFill>
                  <a:srgbClr val="8E44AD"/>
                </a:solidFill>
              </a:rPr>
              <a:t>Agregation Atomes -&gt; Parent</a:t>
            </a:r>
          </a:p>
        </p:txBody>
      </p:sp>
      <p:sp>
        <p:nvSpPr>
          <p:cNvPr id="23" name="TextBox 22"/>
          <p:cNvSpPr txBox="1"/>
          <p:nvPr/>
        </p:nvSpPr>
        <p:spPr>
          <a:xfrm>
            <a:off x="6263640" y="1773936"/>
            <a:ext cx="5394960" cy="603504"/>
          </a:xfrm>
          <a:prstGeom prst="rect">
            <a:avLst/>
          </a:prstGeom>
          <a:noFill/>
        </p:spPr>
        <p:txBody>
          <a:bodyPr wrap="square">
            <a:spAutoFit/>
          </a:bodyPr>
          <a:lstStyle/>
          <a:p>
            <a:pPr algn="l"/>
            <a:r>
              <a:rPr sz="850" b="0" i="0">
                <a:solidFill>
                  <a:srgbClr val="4A4A6A"/>
                </a:solidFill>
              </a:rPr>
              <a:t>Combine les decisions atomiques par exigence parente
[A1:full+100] + [A2:partial+50] + [A3:gap+0]
-&gt; coverage_level parent agrege par formule</a:t>
            </a:r>
          </a:p>
        </p:txBody>
      </p:sp>
      <p:sp>
        <p:nvSpPr>
          <p:cNvPr id="24" name="Rectangle 23"/>
          <p:cNvSpPr/>
          <p:nvPr/>
        </p:nvSpPr>
        <p:spPr>
          <a:xfrm>
            <a:off x="6172200" y="2505456"/>
            <a:ext cx="5577840" cy="932688"/>
          </a:xfrm>
          <a:prstGeom prst="rect">
            <a:avLst/>
          </a:prstGeom>
          <a:solidFill>
            <a:srgbClr val="F5EEF8"/>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63640" y="2542032"/>
            <a:ext cx="5394960" cy="237744"/>
          </a:xfrm>
          <a:prstGeom prst="rect">
            <a:avLst/>
          </a:prstGeom>
          <a:noFill/>
        </p:spPr>
        <p:txBody>
          <a:bodyPr wrap="square">
            <a:spAutoFit/>
          </a:bodyPr>
          <a:lstStyle/>
          <a:p>
            <a:pPr algn="l"/>
            <a:r>
              <a:rPr sz="950" b="1" i="0">
                <a:solidFill>
                  <a:srgbClr val="8E44AD"/>
                </a:solidFill>
              </a:rPr>
              <a:t>Types de lacune parent</a:t>
            </a:r>
          </a:p>
        </p:txBody>
      </p:sp>
      <p:sp>
        <p:nvSpPr>
          <p:cNvPr id="26" name="TextBox 25"/>
          <p:cNvSpPr txBox="1"/>
          <p:nvPr/>
        </p:nvSpPr>
        <p:spPr>
          <a:xfrm>
            <a:off x="6263640" y="2798064"/>
            <a:ext cx="5394960" cy="603504"/>
          </a:xfrm>
          <a:prstGeom prst="rect">
            <a:avLst/>
          </a:prstGeom>
          <a:noFill/>
        </p:spPr>
        <p:txBody>
          <a:bodyPr wrap="square">
            <a:spAutoFit/>
          </a:bodyPr>
          <a:lstStyle/>
          <a:p>
            <a:pPr algn="l"/>
            <a:r>
              <a:rPr sz="850" b="0" i="0">
                <a:solidFill>
                  <a:srgbClr val="4A4A6A"/>
                </a:solidFill>
              </a:rPr>
              <a:t>none | implementation_detail_gap | partial_gap
indirect_support_gap | true_gap | conflict_gap
Dedoublonnage des gap_items par dimension</a:t>
            </a:r>
          </a:p>
        </p:txBody>
      </p:sp>
      <p:sp>
        <p:nvSpPr>
          <p:cNvPr id="27" name="Rectangle 26"/>
          <p:cNvSpPr/>
          <p:nvPr/>
        </p:nvSpPr>
        <p:spPr>
          <a:xfrm>
            <a:off x="6172200" y="3529584"/>
            <a:ext cx="5577840" cy="932688"/>
          </a:xfrm>
          <a:prstGeom prst="rect">
            <a:avLst/>
          </a:prstGeom>
          <a:solidFill>
            <a:srgbClr val="F5EEF8"/>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63640" y="3566160"/>
            <a:ext cx="5394960" cy="237744"/>
          </a:xfrm>
          <a:prstGeom prst="rect">
            <a:avLst/>
          </a:prstGeom>
          <a:noFill/>
        </p:spPr>
        <p:txBody>
          <a:bodyPr wrap="square">
            <a:spAutoFit/>
          </a:bodyPr>
          <a:lstStyle/>
          <a:p>
            <a:pPr algn="l"/>
            <a:r>
              <a:rPr sz="950" b="1" i="0">
                <a:solidFill>
                  <a:srgbClr val="8E44AD"/>
                </a:solidFill>
              </a:rPr>
              <a:t>Synthese LLM optionnelle</a:t>
            </a:r>
          </a:p>
        </p:txBody>
      </p:sp>
      <p:sp>
        <p:nvSpPr>
          <p:cNvPr id="29" name="TextBox 28"/>
          <p:cNvSpPr txBox="1"/>
          <p:nvPr/>
        </p:nvSpPr>
        <p:spPr>
          <a:xfrm>
            <a:off x="6263640" y="3822192"/>
            <a:ext cx="5394960" cy="603504"/>
          </a:xfrm>
          <a:prstGeom prst="rect">
            <a:avLst/>
          </a:prstGeom>
          <a:noFill/>
        </p:spPr>
        <p:txBody>
          <a:bodyPr wrap="square">
            <a:spAutoFit/>
          </a:bodyPr>
          <a:lstStyle/>
          <a:p>
            <a:pPr algn="l"/>
            <a:r>
              <a:rPr sz="850" b="0" i="0">
                <a:solidFill>
                  <a:srgbClr val="4A4A6A"/>
                </a:solidFill>
              </a:rPr>
              <a:t>Prompt PROMPT_PARENT_GAP_SYNTHESIS
Texte de lacune redige par LLM
Cache : parent_gap_synthesis_cache.jsonl</a:t>
            </a:r>
          </a:p>
        </p:txBody>
      </p:sp>
      <p:cxnSp>
        <p:nvCxnSpPr>
          <p:cNvPr id="30" name="Connector 29"/>
          <p:cNvCxnSpPr/>
          <p:nvPr/>
        </p:nvCxnSpPr>
        <p:spPr>
          <a:xfrm>
            <a:off x="5943600" y="2743200"/>
            <a:ext cx="137160" cy="0"/>
          </a:xfrm>
          <a:prstGeom prst="line">
            <a:avLst/>
          </a:prstGeom>
          <a:ln w="31750">
            <a:solidFill>
              <a:srgbClr val="E63312"/>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20040" y="4773168"/>
            <a:ext cx="11567160" cy="1444752"/>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809744"/>
            <a:ext cx="11338560" cy="256032"/>
          </a:xfrm>
          <a:prstGeom prst="rect">
            <a:avLst/>
          </a:prstGeom>
          <a:noFill/>
        </p:spPr>
        <p:txBody>
          <a:bodyPr wrap="square">
            <a:spAutoFit/>
          </a:bodyPr>
          <a:lstStyle/>
          <a:p>
            <a:pPr algn="l"/>
            <a:r>
              <a:rPr sz="1000" b="1" i="0">
                <a:solidFill>
                  <a:srgbClr val="1E3A5F"/>
                </a:solidFill>
              </a:rPr>
              <a:t>Post-traitement automatique — sanitize_decision() — applique apres chaque decision LLM et correction Juge</a:t>
            </a:r>
          </a:p>
        </p:txBody>
      </p:sp>
      <p:sp>
        <p:nvSpPr>
          <p:cNvPr id="33" name="Rectangle 32"/>
          <p:cNvSpPr/>
          <p:nvPr/>
        </p:nvSpPr>
        <p:spPr>
          <a:xfrm>
            <a:off x="411480" y="5120640"/>
            <a:ext cx="1874519" cy="1024128"/>
          </a:xfrm>
          <a:prstGeom prst="rect">
            <a:avLst/>
          </a:prstGeom>
          <a:solidFill>
            <a:srgbClr val="F8F9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6344" y="5157216"/>
            <a:ext cx="1783079" cy="237744"/>
          </a:xfrm>
          <a:prstGeom prst="rect">
            <a:avLst/>
          </a:prstGeom>
          <a:noFill/>
        </p:spPr>
        <p:txBody>
          <a:bodyPr wrap="square">
            <a:spAutoFit/>
          </a:bodyPr>
          <a:lstStyle/>
          <a:p>
            <a:pPr algn="l"/>
            <a:r>
              <a:rPr sz="900" b="1" i="0">
                <a:solidFill>
                  <a:srgbClr val="2E86AB"/>
                </a:solidFill>
              </a:rPr>
              <a:t>1. Snap</a:t>
            </a:r>
          </a:p>
        </p:txBody>
      </p:sp>
      <p:sp>
        <p:nvSpPr>
          <p:cNvPr id="35" name="TextBox 34"/>
          <p:cNvSpPr txBox="1"/>
          <p:nvPr/>
        </p:nvSpPr>
        <p:spPr>
          <a:xfrm>
            <a:off x="466344" y="5394960"/>
            <a:ext cx="1783079" cy="713232"/>
          </a:xfrm>
          <a:prstGeom prst="rect">
            <a:avLst/>
          </a:prstGeom>
          <a:noFill/>
        </p:spPr>
        <p:txBody>
          <a:bodyPr wrap="square">
            <a:spAutoFit/>
          </a:bodyPr>
          <a:lstStyle/>
          <a:p>
            <a:pPr algn="l"/>
            <a:r>
              <a:rPr sz="750" b="0" i="0">
                <a:solidFill>
                  <a:srgbClr val="4A4A6A"/>
                </a:solidFill>
              </a:rPr>
              <a:t>Arrondi au
10% le plus
proche</a:t>
            </a:r>
          </a:p>
        </p:txBody>
      </p:sp>
      <p:cxnSp>
        <p:nvCxnSpPr>
          <p:cNvPr id="36" name="Connector 35"/>
          <p:cNvCxnSpPr/>
          <p:nvPr/>
        </p:nvCxnSpPr>
        <p:spPr>
          <a:xfrm>
            <a:off x="2285999" y="5596128"/>
            <a:ext cx="4572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2331720" y="5120640"/>
            <a:ext cx="1874519" cy="1024128"/>
          </a:xfrm>
          <a:prstGeom prst="rect">
            <a:avLst/>
          </a:prstGeom>
          <a:solidFill>
            <a:srgbClr val="F8F9FA"/>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386584" y="5157216"/>
            <a:ext cx="1783079" cy="237744"/>
          </a:xfrm>
          <a:prstGeom prst="rect">
            <a:avLst/>
          </a:prstGeom>
          <a:noFill/>
        </p:spPr>
        <p:txBody>
          <a:bodyPr wrap="square">
            <a:spAutoFit/>
          </a:bodyPr>
          <a:lstStyle/>
          <a:p>
            <a:pPr algn="l"/>
            <a:r>
              <a:rPr sz="900" b="1" i="0">
                <a:solidFill>
                  <a:srgbClr val="E63312"/>
                </a:solidFill>
              </a:rPr>
              <a:t>2. Gate AO</a:t>
            </a:r>
          </a:p>
        </p:txBody>
      </p:sp>
      <p:sp>
        <p:nvSpPr>
          <p:cNvPr id="39" name="TextBox 38"/>
          <p:cNvSpPr txBox="1"/>
          <p:nvPr/>
        </p:nvSpPr>
        <p:spPr>
          <a:xfrm>
            <a:off x="2386584" y="5394960"/>
            <a:ext cx="1783079" cy="713232"/>
          </a:xfrm>
          <a:prstGeom prst="rect">
            <a:avLst/>
          </a:prstGeom>
          <a:noFill/>
        </p:spPr>
        <p:txBody>
          <a:bodyPr wrap="square">
            <a:spAutoFit/>
          </a:bodyPr>
          <a:lstStyle/>
          <a:p>
            <a:pPr algn="l"/>
            <a:r>
              <a:rPr sz="750" b="0" i="0">
                <a:solidFill>
                  <a:srgbClr val="4A4A6A"/>
                </a:solidFill>
              </a:rPr>
              <a:t>AO &lt; 0.10
-&gt; cap 30%
AO &lt; 0.25 -&gt; 50%</a:t>
            </a:r>
          </a:p>
        </p:txBody>
      </p:sp>
      <p:cxnSp>
        <p:nvCxnSpPr>
          <p:cNvPr id="40" name="Connector 39"/>
          <p:cNvCxnSpPr/>
          <p:nvPr/>
        </p:nvCxnSpPr>
        <p:spPr>
          <a:xfrm>
            <a:off x="4206239" y="5596128"/>
            <a:ext cx="45720" cy="0"/>
          </a:xfrm>
          <a:prstGeom prst="line">
            <a:avLst/>
          </a:prstGeom>
          <a:ln w="19050">
            <a:solidFill>
              <a:srgbClr val="E63312"/>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251960" y="5120640"/>
            <a:ext cx="1874519" cy="1024128"/>
          </a:xfrm>
          <a:prstGeom prst="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06824" y="5157216"/>
            <a:ext cx="1783079" cy="237744"/>
          </a:xfrm>
          <a:prstGeom prst="rect">
            <a:avLst/>
          </a:prstGeom>
          <a:noFill/>
        </p:spPr>
        <p:txBody>
          <a:bodyPr wrap="square">
            <a:spAutoFit/>
          </a:bodyPr>
          <a:lstStyle/>
          <a:p>
            <a:pPr algn="l"/>
            <a:r>
              <a:rPr sz="900" b="1" i="0">
                <a:solidFill>
                  <a:srgbClr val="27AE60"/>
                </a:solidFill>
              </a:rPr>
              <a:t>3. Rescue gap</a:t>
            </a:r>
          </a:p>
        </p:txBody>
      </p:sp>
      <p:sp>
        <p:nvSpPr>
          <p:cNvPr id="43" name="TextBox 42"/>
          <p:cNvSpPr txBox="1"/>
          <p:nvPr/>
        </p:nvSpPr>
        <p:spPr>
          <a:xfrm>
            <a:off x="4306824" y="5394960"/>
            <a:ext cx="1783079" cy="713232"/>
          </a:xfrm>
          <a:prstGeom prst="rect">
            <a:avLst/>
          </a:prstGeom>
          <a:noFill/>
        </p:spPr>
        <p:txBody>
          <a:bodyPr wrap="square">
            <a:spAutoFit/>
          </a:bodyPr>
          <a:lstStyle/>
          <a:p>
            <a:pPr algn="l"/>
            <a:r>
              <a:rPr sz="750" b="0" i="0">
                <a:solidFill>
                  <a:srgbClr val="4A4A6A"/>
                </a:solidFill>
              </a:rPr>
              <a:t>combined&gt;=0.35
ou sem&gt;=0.48
-&gt; indirect 20%</a:t>
            </a:r>
          </a:p>
        </p:txBody>
      </p:sp>
      <p:cxnSp>
        <p:nvCxnSpPr>
          <p:cNvPr id="44" name="Connector 43"/>
          <p:cNvCxnSpPr/>
          <p:nvPr/>
        </p:nvCxnSpPr>
        <p:spPr>
          <a:xfrm>
            <a:off x="6126479" y="5596128"/>
            <a:ext cx="45720" cy="0"/>
          </a:xfrm>
          <a:prstGeom prst="line">
            <a:avLst/>
          </a:prstGeom>
          <a:ln w="19050">
            <a:solidFill>
              <a:srgbClr val="27AE60"/>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172200" y="5120640"/>
            <a:ext cx="1874519" cy="1024128"/>
          </a:xfrm>
          <a:prstGeom prst="rect">
            <a:avLst/>
          </a:prstGeom>
          <a:solidFill>
            <a:srgbClr val="F8F9FA"/>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227064" y="5157216"/>
            <a:ext cx="1783079" cy="237744"/>
          </a:xfrm>
          <a:prstGeom prst="rect">
            <a:avLst/>
          </a:prstGeom>
          <a:noFill/>
        </p:spPr>
        <p:txBody>
          <a:bodyPr wrap="square">
            <a:spAutoFit/>
          </a:bodyPr>
          <a:lstStyle/>
          <a:p>
            <a:pPr algn="l"/>
            <a:r>
              <a:rPr sz="900" b="1" i="0">
                <a:solidFill>
                  <a:srgbClr val="1E3A5F"/>
                </a:solidFill>
              </a:rPr>
              <a:t>4. Upgrade</a:t>
            </a:r>
          </a:p>
        </p:txBody>
      </p:sp>
      <p:sp>
        <p:nvSpPr>
          <p:cNvPr id="47" name="TextBox 46"/>
          <p:cNvSpPr txBox="1"/>
          <p:nvPr/>
        </p:nvSpPr>
        <p:spPr>
          <a:xfrm>
            <a:off x="6227064" y="5394960"/>
            <a:ext cx="1783079" cy="713232"/>
          </a:xfrm>
          <a:prstGeom prst="rect">
            <a:avLst/>
          </a:prstGeom>
          <a:noFill/>
        </p:spPr>
        <p:txBody>
          <a:bodyPr wrap="square">
            <a:spAutoFit/>
          </a:bodyPr>
          <a:lstStyle/>
          <a:p>
            <a:pPr algn="l"/>
            <a:r>
              <a:rPr sz="750" b="0" i="0">
                <a:solidFill>
                  <a:srgbClr val="4A4A6A"/>
                </a:solidFill>
              </a:rPr>
              <a:t>Tier1: comb&gt;=0.58
+sem&gt;=0.76 -&gt; 80%
Tier2: +sem&gt;=0.84 -&gt; 100%</a:t>
            </a:r>
          </a:p>
        </p:txBody>
      </p:sp>
      <p:cxnSp>
        <p:nvCxnSpPr>
          <p:cNvPr id="48" name="Connector 47"/>
          <p:cNvCxnSpPr/>
          <p:nvPr/>
        </p:nvCxnSpPr>
        <p:spPr>
          <a:xfrm>
            <a:off x="8046719" y="5596128"/>
            <a:ext cx="45720" cy="0"/>
          </a:xfrm>
          <a:prstGeom prst="line">
            <a:avLst/>
          </a:prstGeom>
          <a:ln w="19050">
            <a:solidFill>
              <a:srgbClr val="1E3A5F"/>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8092440" y="5120640"/>
            <a:ext cx="1874519" cy="1024128"/>
          </a:xfrm>
          <a:prstGeom prst="rect">
            <a:avLst/>
          </a:prstGeom>
          <a:solidFill>
            <a:srgbClr val="F8F9FA"/>
          </a:solidFill>
          <a:ln w="19050">
            <a:solidFill>
              <a:srgbClr val="4A4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147304" y="5157216"/>
            <a:ext cx="1783079" cy="237744"/>
          </a:xfrm>
          <a:prstGeom prst="rect">
            <a:avLst/>
          </a:prstGeom>
          <a:noFill/>
        </p:spPr>
        <p:txBody>
          <a:bodyPr wrap="square">
            <a:spAutoFit/>
          </a:bodyPr>
          <a:lstStyle/>
          <a:p>
            <a:pPr algn="l"/>
            <a:r>
              <a:rPr sz="900" b="1" i="0">
                <a:solidFill>
                  <a:srgbClr val="4A4A6A"/>
                </a:solidFill>
              </a:rPr>
              <a:t>5. Floor</a:t>
            </a:r>
          </a:p>
        </p:txBody>
      </p:sp>
      <p:sp>
        <p:nvSpPr>
          <p:cNvPr id="51" name="TextBox 50"/>
          <p:cNvSpPr txBox="1"/>
          <p:nvPr/>
        </p:nvSpPr>
        <p:spPr>
          <a:xfrm>
            <a:off x="8147304" y="5394960"/>
            <a:ext cx="1783079" cy="713232"/>
          </a:xfrm>
          <a:prstGeom prst="rect">
            <a:avLst/>
          </a:prstGeom>
          <a:noFill/>
        </p:spPr>
        <p:txBody>
          <a:bodyPr wrap="square">
            <a:spAutoFit/>
          </a:bodyPr>
          <a:lstStyle/>
          <a:p>
            <a:pPr algn="l"/>
            <a:r>
              <a:rPr sz="750" b="0" i="0">
                <a:solidFill>
                  <a:srgbClr val="4A4A6A"/>
                </a:solidFill>
              </a:rPr>
              <a:t>comb&gt;=0.60+cov&lt;=30
-&gt; floor 50%
sem&gt;=0.80+AO&gt;=0.20 -&gt; 80%</a:t>
            </a:r>
          </a:p>
        </p:txBody>
      </p:sp>
      <p:cxnSp>
        <p:nvCxnSpPr>
          <p:cNvPr id="52" name="Connector 51"/>
          <p:cNvCxnSpPr/>
          <p:nvPr/>
        </p:nvCxnSpPr>
        <p:spPr>
          <a:xfrm>
            <a:off x="9966959" y="5596128"/>
            <a:ext cx="45720" cy="0"/>
          </a:xfrm>
          <a:prstGeom prst="line">
            <a:avLst/>
          </a:prstGeom>
          <a:ln w="19050">
            <a:solidFill>
              <a:srgbClr val="4A4A6A"/>
            </a:solidFill>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0012680" y="5120640"/>
            <a:ext cx="1874519" cy="1024128"/>
          </a:xfrm>
          <a:prstGeom prst="rect">
            <a:avLst/>
          </a:prstGeom>
          <a:solidFill>
            <a:srgbClr val="F8F9FA"/>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067544" y="5157216"/>
            <a:ext cx="1783079" cy="237744"/>
          </a:xfrm>
          <a:prstGeom prst="rect">
            <a:avLst/>
          </a:prstGeom>
          <a:noFill/>
        </p:spPr>
        <p:txBody>
          <a:bodyPr wrap="square">
            <a:spAutoFit/>
          </a:bodyPr>
          <a:lstStyle/>
          <a:p>
            <a:pPr algn="l"/>
            <a:r>
              <a:rPr sz="900" b="1" i="0">
                <a:solidFill>
                  <a:srgbClr val="C0392B"/>
                </a:solidFill>
              </a:rPr>
              <a:t>6. Downgrade</a:t>
            </a:r>
          </a:p>
        </p:txBody>
      </p:sp>
      <p:sp>
        <p:nvSpPr>
          <p:cNvPr id="55" name="TextBox 54"/>
          <p:cNvSpPr txBox="1"/>
          <p:nvPr/>
        </p:nvSpPr>
        <p:spPr>
          <a:xfrm>
            <a:off x="10067544" y="5394960"/>
            <a:ext cx="1783079" cy="713232"/>
          </a:xfrm>
          <a:prstGeom prst="rect">
            <a:avLst/>
          </a:prstGeom>
          <a:noFill/>
        </p:spPr>
        <p:txBody>
          <a:bodyPr wrap="square">
            <a:spAutoFit/>
          </a:bodyPr>
          <a:lstStyle/>
          <a:p>
            <a:pPr algn="l"/>
            <a:r>
              <a:rPr sz="750" b="0" i="0">
                <a:solidFill>
                  <a:srgbClr val="4A4A6A"/>
                </a:solidFill>
              </a:rPr>
              <a:t>cov&lt;=20 : comb&lt;0.45
ou sem&lt;0.65
cov=30 : les deux</a:t>
            </a:r>
          </a:p>
        </p:txBody>
      </p:sp>
      <p:sp>
        <p:nvSpPr>
          <p:cNvPr id="56" name="Rectangle 55"/>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65760" y="6400800"/>
            <a:ext cx="8229600" cy="365760"/>
          </a:xfrm>
          <a:prstGeom prst="rect">
            <a:avLst/>
          </a:prstGeom>
          <a:noFill/>
        </p:spPr>
        <p:txBody>
          <a:bodyPr wrap="square">
            <a:spAutoFit/>
          </a:bodyPr>
          <a:lstStyle/>
          <a:p>
            <a:pPr algn="l"/>
            <a:r>
              <a:rPr sz="900" b="0" i="0">
                <a:solidFill>
                  <a:srgbClr val="AAAAAA"/>
                </a:solidFill>
              </a:rPr>
              <a:t>Regulatory Framework Mapper  |  Etapes 3 &amp; 4 : Juge Final &amp; Synthese Parent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118872"/>
            <a:ext cx="438912" cy="438912"/>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rPr>
              <a:t>05</a:t>
            </a:r>
          </a:p>
        </p:txBody>
      </p:sp>
      <p:sp>
        <p:nvSpPr>
          <p:cNvPr id="6" name="TextBox 5"/>
          <p:cNvSpPr txBox="1"/>
          <p:nvPr/>
        </p:nvSpPr>
        <p:spPr>
          <a:xfrm>
            <a:off x="914400" y="109728"/>
            <a:ext cx="10058400" cy="457200"/>
          </a:xfrm>
          <a:prstGeom prst="rect">
            <a:avLst/>
          </a:prstGeom>
          <a:noFill/>
        </p:spPr>
        <p:txBody>
          <a:bodyPr wrap="square">
            <a:spAutoFit/>
          </a:bodyPr>
          <a:lstStyle/>
          <a:p>
            <a:pPr algn="l"/>
            <a:r>
              <a:rPr sz="2000" b="1" i="0">
                <a:solidFill>
                  <a:srgbClr val="FFFFFF"/>
                </a:solidFill>
              </a:rPr>
              <a:t>Étape 5 — Workbook Excel de sortie  (output_writer.py)</a:t>
            </a:r>
          </a:p>
        </p:txBody>
      </p:sp>
      <p:sp>
        <p:nvSpPr>
          <p:cNvPr id="7" name="Rounded Rectangle 6"/>
          <p:cNvSpPr/>
          <p:nvPr/>
        </p:nvSpPr>
        <p:spPr>
          <a:xfrm>
            <a:off x="347472" y="868680"/>
            <a:ext cx="1371600" cy="2286000"/>
          </a:xfrm>
          <a:prstGeom prst="roundRect">
            <a:avLst/>
          </a:prstGeom>
          <a:solidFill>
            <a:srgbClr val="FFFFFF"/>
          </a:solidFill>
          <a:ln w="19050">
            <a:solidFill>
              <a:srgbClr val="4A4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7472" y="868680"/>
            <a:ext cx="1371600" cy="658368"/>
          </a:xfrm>
          <a:prstGeom prst="roundRect">
            <a:avLst/>
          </a:prstGeom>
          <a:solidFill>
            <a:srgbClr val="4A4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941832"/>
            <a:ext cx="1280160" cy="566928"/>
          </a:xfrm>
          <a:prstGeom prst="rect">
            <a:avLst/>
          </a:prstGeom>
          <a:noFill/>
        </p:spPr>
        <p:txBody>
          <a:bodyPr wrap="square">
            <a:spAutoFit/>
          </a:bodyPr>
          <a:lstStyle/>
          <a:p>
            <a:pPr algn="ctr"/>
            <a:r>
              <a:rPr sz="900" b="1" i="0">
                <a:solidFill>
                  <a:srgbClr val="FFFFFF"/>
                </a:solidFill>
              </a:rPr>
              <a:t>📖 README</a:t>
            </a:r>
          </a:p>
        </p:txBody>
      </p:sp>
      <p:sp>
        <p:nvSpPr>
          <p:cNvPr id="10" name="TextBox 9"/>
          <p:cNvSpPr txBox="1"/>
          <p:nvPr/>
        </p:nvSpPr>
        <p:spPr>
          <a:xfrm>
            <a:off x="411480" y="1618488"/>
            <a:ext cx="1280160" cy="1417320"/>
          </a:xfrm>
          <a:prstGeom prst="rect">
            <a:avLst/>
          </a:prstGeom>
          <a:noFill/>
        </p:spPr>
        <p:txBody>
          <a:bodyPr wrap="square">
            <a:spAutoFit/>
          </a:bodyPr>
          <a:lstStyle/>
          <a:p>
            <a:pPr algn="l"/>
            <a:r>
              <a:rPr sz="800" b="0" i="0">
                <a:solidFill>
                  <a:srgbClr val="4A4A6A"/>
                </a:solidFill>
              </a:rPr>
              <a:t>Méthodologie, légende scoring,
catégories ENISA expliquées</a:t>
            </a:r>
          </a:p>
        </p:txBody>
      </p:sp>
      <p:sp>
        <p:nvSpPr>
          <p:cNvPr id="11" name="Rounded Rectangle 10"/>
          <p:cNvSpPr/>
          <p:nvPr/>
        </p:nvSpPr>
        <p:spPr>
          <a:xfrm>
            <a:off x="1828800" y="868680"/>
            <a:ext cx="1371600" cy="2286000"/>
          </a:xfrm>
          <a:prstGeom prst="round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828800" y="868680"/>
            <a:ext cx="1371600" cy="658368"/>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92808" y="941832"/>
            <a:ext cx="1280160" cy="566928"/>
          </a:xfrm>
          <a:prstGeom prst="rect">
            <a:avLst/>
          </a:prstGeom>
          <a:noFill/>
        </p:spPr>
        <p:txBody>
          <a:bodyPr wrap="square">
            <a:spAutoFit/>
          </a:bodyPr>
          <a:lstStyle/>
          <a:p>
            <a:pPr algn="ctr"/>
            <a:r>
              <a:rPr sz="900" b="1" i="0">
                <a:solidFill>
                  <a:srgbClr val="FFFFFF"/>
                </a:solidFill>
              </a:rPr>
              <a:t>📊 Dashboard</a:t>
            </a:r>
          </a:p>
        </p:txBody>
      </p:sp>
      <p:sp>
        <p:nvSpPr>
          <p:cNvPr id="14" name="TextBox 13"/>
          <p:cNvSpPr txBox="1"/>
          <p:nvPr/>
        </p:nvSpPr>
        <p:spPr>
          <a:xfrm>
            <a:off x="1892808" y="1618488"/>
            <a:ext cx="1280160" cy="1417320"/>
          </a:xfrm>
          <a:prstGeom prst="rect">
            <a:avLst/>
          </a:prstGeom>
          <a:noFill/>
        </p:spPr>
        <p:txBody>
          <a:bodyPr wrap="square">
            <a:spAutoFit/>
          </a:bodyPr>
          <a:lstStyle/>
          <a:p>
            <a:pPr algn="l"/>
            <a:r>
              <a:rPr sz="800" b="0" i="0">
                <a:solidFill>
                  <a:srgbClr val="4A4A6A"/>
                </a:solidFill>
              </a:rPr>
              <a:t>KPIs exécutifs + graphiques
Coverage%, match types, gaps</a:t>
            </a:r>
          </a:p>
        </p:txBody>
      </p:sp>
      <p:sp>
        <p:nvSpPr>
          <p:cNvPr id="15" name="Rounded Rectangle 14"/>
          <p:cNvSpPr/>
          <p:nvPr/>
        </p:nvSpPr>
        <p:spPr>
          <a:xfrm>
            <a:off x="3310128" y="868680"/>
            <a:ext cx="1371600" cy="228600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310128" y="868680"/>
            <a:ext cx="1371600" cy="658368"/>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74136" y="941832"/>
            <a:ext cx="1280160" cy="566928"/>
          </a:xfrm>
          <a:prstGeom prst="rect">
            <a:avLst/>
          </a:prstGeom>
          <a:noFill/>
        </p:spPr>
        <p:txBody>
          <a:bodyPr wrap="square">
            <a:spAutoFit/>
          </a:bodyPr>
          <a:lstStyle/>
          <a:p>
            <a:pPr algn="ctr"/>
            <a:r>
              <a:rPr sz="900" b="1" i="0">
                <a:solidFill>
                  <a:srgbClr val="FFFFFF"/>
                </a:solidFill>
              </a:rPr>
              <a:t>🗺 Fr1 → Fr2
(parent)</a:t>
            </a:r>
          </a:p>
        </p:txBody>
      </p:sp>
      <p:sp>
        <p:nvSpPr>
          <p:cNvPr id="18" name="TextBox 17"/>
          <p:cNvSpPr txBox="1"/>
          <p:nvPr/>
        </p:nvSpPr>
        <p:spPr>
          <a:xfrm>
            <a:off x="3374136" y="1618488"/>
            <a:ext cx="1280160" cy="1417320"/>
          </a:xfrm>
          <a:prstGeom prst="rect">
            <a:avLst/>
          </a:prstGeom>
          <a:noFill/>
        </p:spPr>
        <p:txBody>
          <a:bodyPr wrap="square">
            <a:spAutoFit/>
          </a:bodyPr>
          <a:lstStyle/>
          <a:p>
            <a:pPr algn="l"/>
            <a:r>
              <a:rPr sz="800" b="0" i="0">
                <a:solidFill>
                  <a:srgbClr val="4A4A6A"/>
                </a:solidFill>
              </a:rPr>
              <a:t>Source · Cible · Coverage%
Lacune · Priorité review</a:t>
            </a:r>
          </a:p>
        </p:txBody>
      </p:sp>
      <p:sp>
        <p:nvSpPr>
          <p:cNvPr id="19" name="Rounded Rectangle 18"/>
          <p:cNvSpPr/>
          <p:nvPr/>
        </p:nvSpPr>
        <p:spPr>
          <a:xfrm>
            <a:off x="4791456" y="868680"/>
            <a:ext cx="1371600" cy="228600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791456" y="868680"/>
            <a:ext cx="1371600" cy="658368"/>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55464" y="941832"/>
            <a:ext cx="1280160" cy="566928"/>
          </a:xfrm>
          <a:prstGeom prst="rect">
            <a:avLst/>
          </a:prstGeom>
          <a:noFill/>
        </p:spPr>
        <p:txBody>
          <a:bodyPr wrap="square">
            <a:spAutoFit/>
          </a:bodyPr>
          <a:lstStyle/>
          <a:p>
            <a:pPr algn="ctr"/>
            <a:r>
              <a:rPr sz="900" b="1" i="0">
                <a:solidFill>
                  <a:srgbClr val="FFFFFF"/>
                </a:solidFill>
              </a:rPr>
              <a:t>🗺 Fr2 → Fr1
(parent)</a:t>
            </a:r>
          </a:p>
        </p:txBody>
      </p:sp>
      <p:sp>
        <p:nvSpPr>
          <p:cNvPr id="22" name="TextBox 21"/>
          <p:cNvSpPr txBox="1"/>
          <p:nvPr/>
        </p:nvSpPr>
        <p:spPr>
          <a:xfrm>
            <a:off x="4855464" y="1618488"/>
            <a:ext cx="1280160" cy="1417320"/>
          </a:xfrm>
          <a:prstGeom prst="rect">
            <a:avLst/>
          </a:prstGeom>
          <a:noFill/>
        </p:spPr>
        <p:txBody>
          <a:bodyPr wrap="square">
            <a:spAutoFit/>
          </a:bodyPr>
          <a:lstStyle/>
          <a:p>
            <a:pPr algn="l"/>
            <a:r>
              <a:rPr sz="800" b="0" i="0">
                <a:solidFill>
                  <a:srgbClr val="4A4A6A"/>
                </a:solidFill>
              </a:rPr>
              <a:t>Mapping inverse
(si bidirectionnel)</a:t>
            </a:r>
          </a:p>
        </p:txBody>
      </p:sp>
      <p:sp>
        <p:nvSpPr>
          <p:cNvPr id="23" name="Rounded Rectangle 22"/>
          <p:cNvSpPr/>
          <p:nvPr/>
        </p:nvSpPr>
        <p:spPr>
          <a:xfrm>
            <a:off x="6272784" y="868680"/>
            <a:ext cx="1371600" cy="228600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72784" y="868680"/>
            <a:ext cx="1371600" cy="658368"/>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36792" y="941832"/>
            <a:ext cx="1280160" cy="566928"/>
          </a:xfrm>
          <a:prstGeom prst="rect">
            <a:avLst/>
          </a:prstGeom>
          <a:noFill/>
        </p:spPr>
        <p:txBody>
          <a:bodyPr wrap="square">
            <a:spAutoFit/>
          </a:bodyPr>
          <a:lstStyle/>
          <a:p>
            <a:pPr algn="ctr"/>
            <a:r>
              <a:rPr sz="900" b="1" i="0">
                <a:solidFill>
                  <a:srgbClr val="FFFFFF"/>
                </a:solidFill>
              </a:rPr>
              <a:t>📈 Coverage/Cat</a:t>
            </a:r>
          </a:p>
        </p:txBody>
      </p:sp>
      <p:sp>
        <p:nvSpPr>
          <p:cNvPr id="26" name="TextBox 25"/>
          <p:cNvSpPr txBox="1"/>
          <p:nvPr/>
        </p:nvSpPr>
        <p:spPr>
          <a:xfrm>
            <a:off x="6336792" y="1618488"/>
            <a:ext cx="1280160" cy="1417320"/>
          </a:xfrm>
          <a:prstGeom prst="rect">
            <a:avLst/>
          </a:prstGeom>
          <a:noFill/>
        </p:spPr>
        <p:txBody>
          <a:bodyPr wrap="square">
            <a:spAutoFit/>
          </a:bodyPr>
          <a:lstStyle/>
          <a:p>
            <a:pPr algn="l"/>
            <a:r>
              <a:rPr sz="800" b="0" i="0">
                <a:solidFill>
                  <a:srgbClr val="4A4A6A"/>
                </a:solidFill>
              </a:rPr>
              <a:t>Stats par catégorie ENISA
Taux couverture agrégés</a:t>
            </a:r>
          </a:p>
        </p:txBody>
      </p:sp>
      <p:sp>
        <p:nvSpPr>
          <p:cNvPr id="27" name="Rounded Rectangle 26"/>
          <p:cNvSpPr/>
          <p:nvPr/>
        </p:nvSpPr>
        <p:spPr>
          <a:xfrm>
            <a:off x="7754112" y="868680"/>
            <a:ext cx="1371600" cy="2286000"/>
          </a:xfrm>
          <a:prstGeom prst="round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754112" y="868680"/>
            <a:ext cx="1371600" cy="658368"/>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18120" y="941832"/>
            <a:ext cx="1280160" cy="566928"/>
          </a:xfrm>
          <a:prstGeom prst="rect">
            <a:avLst/>
          </a:prstGeom>
          <a:noFill/>
        </p:spPr>
        <p:txBody>
          <a:bodyPr wrap="square">
            <a:spAutoFit/>
          </a:bodyPr>
          <a:lstStyle/>
          <a:p>
            <a:pPr algn="ctr"/>
            <a:r>
              <a:rPr sz="900" b="1" i="0">
                <a:solidFill>
                  <a:srgbClr val="FFFFFF"/>
                </a:solidFill>
              </a:rPr>
              <a:t>🔍 Cat. Quality</a:t>
            </a:r>
          </a:p>
        </p:txBody>
      </p:sp>
      <p:sp>
        <p:nvSpPr>
          <p:cNvPr id="30" name="TextBox 29"/>
          <p:cNvSpPr txBox="1"/>
          <p:nvPr/>
        </p:nvSpPr>
        <p:spPr>
          <a:xfrm>
            <a:off x="7818120" y="1618488"/>
            <a:ext cx="1280160" cy="1417320"/>
          </a:xfrm>
          <a:prstGeom prst="rect">
            <a:avLst/>
          </a:prstGeom>
          <a:noFill/>
        </p:spPr>
        <p:txBody>
          <a:bodyPr wrap="square">
            <a:spAutoFit/>
          </a:bodyPr>
          <a:lstStyle/>
          <a:p>
            <a:pPr algn="l"/>
            <a:r>
              <a:rPr sz="800" b="0" i="0">
                <a:solidFill>
                  <a:srgbClr val="4A4A6A"/>
                </a:solidFill>
              </a:rPr>
              <a:t>Diagnostics catégories
Piste qualité harmonisation</a:t>
            </a:r>
          </a:p>
        </p:txBody>
      </p:sp>
      <p:sp>
        <p:nvSpPr>
          <p:cNvPr id="31" name="Rounded Rectangle 30"/>
          <p:cNvSpPr/>
          <p:nvPr/>
        </p:nvSpPr>
        <p:spPr>
          <a:xfrm>
            <a:off x="9235440" y="868680"/>
            <a:ext cx="1371600" cy="2286000"/>
          </a:xfrm>
          <a:prstGeom prst="round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235440" y="868680"/>
            <a:ext cx="1371600" cy="658368"/>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99448" y="941832"/>
            <a:ext cx="1280160" cy="566928"/>
          </a:xfrm>
          <a:prstGeom prst="rect">
            <a:avLst/>
          </a:prstGeom>
          <a:noFill/>
        </p:spPr>
        <p:txBody>
          <a:bodyPr wrap="square">
            <a:spAutoFit/>
          </a:bodyPr>
          <a:lstStyle/>
          <a:p>
            <a:pPr algn="ctr"/>
            <a:r>
              <a:rPr sz="900" b="1" i="0">
                <a:solidFill>
                  <a:srgbClr val="FFFFFF"/>
                </a:solidFill>
              </a:rPr>
              <a:t>⚛ Atomic Fr1→Fr2</a:t>
            </a:r>
          </a:p>
        </p:txBody>
      </p:sp>
      <p:sp>
        <p:nvSpPr>
          <p:cNvPr id="34" name="TextBox 33"/>
          <p:cNvSpPr txBox="1"/>
          <p:nvPr/>
        </p:nvSpPr>
        <p:spPr>
          <a:xfrm>
            <a:off x="9299448" y="1618488"/>
            <a:ext cx="1280160" cy="1417320"/>
          </a:xfrm>
          <a:prstGeom prst="rect">
            <a:avLst/>
          </a:prstGeom>
          <a:noFill/>
        </p:spPr>
        <p:txBody>
          <a:bodyPr wrap="square">
            <a:spAutoFit/>
          </a:bodyPr>
          <a:lstStyle/>
          <a:p>
            <a:pPr algn="l"/>
            <a:r>
              <a:rPr sz="800" b="0" i="0">
                <a:solidFill>
                  <a:srgbClr val="4A4A6A"/>
                </a:solidFill>
              </a:rPr>
              <a:t>Scores dim. · Rationale LLM
Candidats diagnostics · Items gaps</a:t>
            </a:r>
          </a:p>
        </p:txBody>
      </p:sp>
      <p:sp>
        <p:nvSpPr>
          <p:cNvPr id="35" name="Rounded Rectangle 34"/>
          <p:cNvSpPr/>
          <p:nvPr/>
        </p:nvSpPr>
        <p:spPr>
          <a:xfrm>
            <a:off x="10716768" y="868680"/>
            <a:ext cx="1371600" cy="2286000"/>
          </a:xfrm>
          <a:prstGeom prst="round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0716768" y="868680"/>
            <a:ext cx="1371600" cy="658368"/>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780776" y="941832"/>
            <a:ext cx="1280160" cy="566928"/>
          </a:xfrm>
          <a:prstGeom prst="rect">
            <a:avLst/>
          </a:prstGeom>
          <a:noFill/>
        </p:spPr>
        <p:txBody>
          <a:bodyPr wrap="square">
            <a:spAutoFit/>
          </a:bodyPr>
          <a:lstStyle/>
          <a:p>
            <a:pPr algn="ctr"/>
            <a:r>
              <a:rPr sz="900" b="1" i="0">
                <a:solidFill>
                  <a:srgbClr val="FFFFFF"/>
                </a:solidFill>
              </a:rPr>
              <a:t>⚛ Atomic Fr2→Fr1</a:t>
            </a:r>
          </a:p>
        </p:txBody>
      </p:sp>
      <p:sp>
        <p:nvSpPr>
          <p:cNvPr id="38" name="TextBox 37"/>
          <p:cNvSpPr txBox="1"/>
          <p:nvPr/>
        </p:nvSpPr>
        <p:spPr>
          <a:xfrm>
            <a:off x="10780776" y="1618488"/>
            <a:ext cx="1280160" cy="1417320"/>
          </a:xfrm>
          <a:prstGeom prst="rect">
            <a:avLst/>
          </a:prstGeom>
          <a:noFill/>
        </p:spPr>
        <p:txBody>
          <a:bodyPr wrap="square">
            <a:spAutoFit/>
          </a:bodyPr>
          <a:lstStyle/>
          <a:p>
            <a:pPr algn="l"/>
            <a:r>
              <a:rPr sz="800" b="0" i="0">
                <a:solidFill>
                  <a:srgbClr val="4A4A6A"/>
                </a:solidFill>
              </a:rPr>
              <a:t>Piste d'évidence atomique
(si bidirectionnel)</a:t>
            </a:r>
          </a:p>
        </p:txBody>
      </p:sp>
      <p:sp>
        <p:nvSpPr>
          <p:cNvPr id="39" name="Rectangle 38"/>
          <p:cNvSpPr/>
          <p:nvPr/>
        </p:nvSpPr>
        <p:spPr>
          <a:xfrm>
            <a:off x="347472" y="3337560"/>
            <a:ext cx="11475720" cy="1463040"/>
          </a:xfrm>
          <a:prstGeom prst="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3383280"/>
            <a:ext cx="5486400" cy="292608"/>
          </a:xfrm>
          <a:prstGeom prst="rect">
            <a:avLst/>
          </a:prstGeom>
          <a:noFill/>
        </p:spPr>
        <p:txBody>
          <a:bodyPr wrap="square">
            <a:spAutoFit/>
          </a:bodyPr>
          <a:lstStyle/>
          <a:p>
            <a:pPr algn="l"/>
            <a:r>
              <a:rPr sz="1100" b="1" i="0">
                <a:solidFill>
                  <a:srgbClr val="1E3A5F"/>
                </a:solidFill>
              </a:rPr>
              <a:t>Colonnes de l'onglet parent (Fr1 → Fr2)</a:t>
            </a:r>
          </a:p>
        </p:txBody>
      </p:sp>
      <p:sp>
        <p:nvSpPr>
          <p:cNvPr id="41" name="Rounded Rectangle 40"/>
          <p:cNvSpPr/>
          <p:nvPr/>
        </p:nvSpPr>
        <p:spPr>
          <a:xfrm>
            <a:off x="457200" y="3749039"/>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2920" y="3776471"/>
            <a:ext cx="1755648" cy="246888"/>
          </a:xfrm>
          <a:prstGeom prst="rect">
            <a:avLst/>
          </a:prstGeom>
          <a:noFill/>
        </p:spPr>
        <p:txBody>
          <a:bodyPr wrap="square">
            <a:spAutoFit/>
          </a:bodyPr>
          <a:lstStyle/>
          <a:p>
            <a:pPr algn="ctr"/>
            <a:r>
              <a:rPr sz="780" b="0" i="0">
                <a:solidFill>
                  <a:srgbClr val="1E3A5F"/>
                </a:solidFill>
              </a:rPr>
              <a:t>Source Regulation</a:t>
            </a:r>
          </a:p>
        </p:txBody>
      </p:sp>
      <p:sp>
        <p:nvSpPr>
          <p:cNvPr id="43" name="Rounded Rectangle 42"/>
          <p:cNvSpPr/>
          <p:nvPr/>
        </p:nvSpPr>
        <p:spPr>
          <a:xfrm>
            <a:off x="2331720" y="3749039"/>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377440" y="3776471"/>
            <a:ext cx="1755648" cy="246888"/>
          </a:xfrm>
          <a:prstGeom prst="rect">
            <a:avLst/>
          </a:prstGeom>
          <a:noFill/>
        </p:spPr>
        <p:txBody>
          <a:bodyPr wrap="square">
            <a:spAutoFit/>
          </a:bodyPr>
          <a:lstStyle/>
          <a:p>
            <a:pPr algn="ctr"/>
            <a:r>
              <a:rPr sz="780" b="0" i="0">
                <a:solidFill>
                  <a:srgbClr val="1E3A5F"/>
                </a:solidFill>
              </a:rPr>
              <a:t>Source Control ID</a:t>
            </a:r>
          </a:p>
        </p:txBody>
      </p:sp>
      <p:sp>
        <p:nvSpPr>
          <p:cNvPr id="45" name="Rounded Rectangle 44"/>
          <p:cNvSpPr/>
          <p:nvPr/>
        </p:nvSpPr>
        <p:spPr>
          <a:xfrm>
            <a:off x="4206240" y="3749039"/>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251960" y="3776471"/>
            <a:ext cx="1755648" cy="246888"/>
          </a:xfrm>
          <a:prstGeom prst="rect">
            <a:avLst/>
          </a:prstGeom>
          <a:noFill/>
        </p:spPr>
        <p:txBody>
          <a:bodyPr wrap="square">
            <a:spAutoFit/>
          </a:bodyPr>
          <a:lstStyle/>
          <a:p>
            <a:pPr algn="ctr"/>
            <a:r>
              <a:rPr sz="780" b="0" i="0">
                <a:solidFill>
                  <a:srgbClr val="1E3A5F"/>
                </a:solidFill>
              </a:rPr>
              <a:t>Source Requirement</a:t>
            </a:r>
          </a:p>
        </p:txBody>
      </p:sp>
      <p:sp>
        <p:nvSpPr>
          <p:cNvPr id="47" name="Rounded Rectangle 46"/>
          <p:cNvSpPr/>
          <p:nvPr/>
        </p:nvSpPr>
        <p:spPr>
          <a:xfrm>
            <a:off x="6080760" y="3749039"/>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26480" y="3776471"/>
            <a:ext cx="1755648" cy="246888"/>
          </a:xfrm>
          <a:prstGeom prst="rect">
            <a:avLst/>
          </a:prstGeom>
          <a:noFill/>
        </p:spPr>
        <p:txBody>
          <a:bodyPr wrap="square">
            <a:spAutoFit/>
          </a:bodyPr>
          <a:lstStyle/>
          <a:p>
            <a:pPr algn="ctr"/>
            <a:r>
              <a:rPr sz="780" b="0" i="0">
                <a:solidFill>
                  <a:srgbClr val="1E3A5F"/>
                </a:solidFill>
              </a:rPr>
              <a:t>ENISA Category</a:t>
            </a:r>
          </a:p>
        </p:txBody>
      </p:sp>
      <p:sp>
        <p:nvSpPr>
          <p:cNvPr id="49" name="Rounded Rectangle 48"/>
          <p:cNvSpPr/>
          <p:nvPr/>
        </p:nvSpPr>
        <p:spPr>
          <a:xfrm>
            <a:off x="7955280" y="3749039"/>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01000" y="3776471"/>
            <a:ext cx="1755648" cy="246888"/>
          </a:xfrm>
          <a:prstGeom prst="rect">
            <a:avLst/>
          </a:prstGeom>
          <a:noFill/>
        </p:spPr>
        <p:txBody>
          <a:bodyPr wrap="square">
            <a:spAutoFit/>
          </a:bodyPr>
          <a:lstStyle/>
          <a:p>
            <a:pPr algn="ctr"/>
            <a:r>
              <a:rPr sz="780" b="0" i="0">
                <a:solidFill>
                  <a:srgbClr val="1E3A5F"/>
                </a:solidFill>
              </a:rPr>
              <a:t>Target Regulation</a:t>
            </a:r>
          </a:p>
        </p:txBody>
      </p:sp>
      <p:sp>
        <p:nvSpPr>
          <p:cNvPr id="51" name="Rounded Rectangle 50"/>
          <p:cNvSpPr/>
          <p:nvPr/>
        </p:nvSpPr>
        <p:spPr>
          <a:xfrm>
            <a:off x="9829800" y="3749039"/>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875520" y="3776471"/>
            <a:ext cx="1755648" cy="246888"/>
          </a:xfrm>
          <a:prstGeom prst="rect">
            <a:avLst/>
          </a:prstGeom>
          <a:noFill/>
        </p:spPr>
        <p:txBody>
          <a:bodyPr wrap="square">
            <a:spAutoFit/>
          </a:bodyPr>
          <a:lstStyle/>
          <a:p>
            <a:pPr algn="ctr"/>
            <a:r>
              <a:rPr sz="780" b="0" i="0">
                <a:solidFill>
                  <a:srgbClr val="1E3A5F"/>
                </a:solidFill>
              </a:rPr>
              <a:t>Target Control ID(s)</a:t>
            </a:r>
          </a:p>
        </p:txBody>
      </p:sp>
      <p:sp>
        <p:nvSpPr>
          <p:cNvPr id="53" name="Rounded Rectangle 52"/>
          <p:cNvSpPr/>
          <p:nvPr/>
        </p:nvSpPr>
        <p:spPr>
          <a:xfrm>
            <a:off x="457200" y="4087367"/>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02920" y="4114799"/>
            <a:ext cx="1755648" cy="246888"/>
          </a:xfrm>
          <a:prstGeom prst="rect">
            <a:avLst/>
          </a:prstGeom>
          <a:noFill/>
        </p:spPr>
        <p:txBody>
          <a:bodyPr wrap="square">
            <a:spAutoFit/>
          </a:bodyPr>
          <a:lstStyle/>
          <a:p>
            <a:pPr algn="ctr"/>
            <a:r>
              <a:rPr sz="780" b="0" i="0">
                <a:solidFill>
                  <a:srgbClr val="1E3A5F"/>
                </a:solidFill>
              </a:rPr>
              <a:t>Target Requirement(s)</a:t>
            </a:r>
          </a:p>
        </p:txBody>
      </p:sp>
      <p:sp>
        <p:nvSpPr>
          <p:cNvPr id="55" name="Rounded Rectangle 54"/>
          <p:cNvSpPr/>
          <p:nvPr/>
        </p:nvSpPr>
        <p:spPr>
          <a:xfrm>
            <a:off x="2331720" y="4087367"/>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377440" y="4114799"/>
            <a:ext cx="1755648" cy="246888"/>
          </a:xfrm>
          <a:prstGeom prst="rect">
            <a:avLst/>
          </a:prstGeom>
          <a:noFill/>
        </p:spPr>
        <p:txBody>
          <a:bodyPr wrap="square">
            <a:spAutoFit/>
          </a:bodyPr>
          <a:lstStyle/>
          <a:p>
            <a:pPr algn="ctr"/>
            <a:r>
              <a:rPr sz="780" b="0" i="0">
                <a:solidFill>
                  <a:srgbClr val="1E3A5F"/>
                </a:solidFill>
              </a:rPr>
              <a:t>Coverage Relationship</a:t>
            </a:r>
          </a:p>
        </p:txBody>
      </p:sp>
      <p:sp>
        <p:nvSpPr>
          <p:cNvPr id="57" name="Rounded Rectangle 56"/>
          <p:cNvSpPr/>
          <p:nvPr/>
        </p:nvSpPr>
        <p:spPr>
          <a:xfrm>
            <a:off x="4206240" y="4087367"/>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251960" y="4114799"/>
            <a:ext cx="1755648" cy="246888"/>
          </a:xfrm>
          <a:prstGeom prst="rect">
            <a:avLst/>
          </a:prstGeom>
          <a:noFill/>
        </p:spPr>
        <p:txBody>
          <a:bodyPr wrap="square">
            <a:spAutoFit/>
          </a:bodyPr>
          <a:lstStyle/>
          <a:p>
            <a:pPr algn="ctr"/>
            <a:r>
              <a:rPr sz="780" b="0" i="0">
                <a:solidFill>
                  <a:srgbClr val="1E3A5F"/>
                </a:solidFill>
              </a:rPr>
              <a:t>Coverage Level (0-100)</a:t>
            </a:r>
          </a:p>
        </p:txBody>
      </p:sp>
      <p:sp>
        <p:nvSpPr>
          <p:cNvPr id="59" name="Rounded Rectangle 58"/>
          <p:cNvSpPr/>
          <p:nvPr/>
        </p:nvSpPr>
        <p:spPr>
          <a:xfrm>
            <a:off x="6080760" y="4087367"/>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0" y="4114799"/>
            <a:ext cx="1755648" cy="246888"/>
          </a:xfrm>
          <a:prstGeom prst="rect">
            <a:avLst/>
          </a:prstGeom>
          <a:noFill/>
        </p:spPr>
        <p:txBody>
          <a:bodyPr wrap="square">
            <a:spAutoFit/>
          </a:bodyPr>
          <a:lstStyle/>
          <a:p>
            <a:pPr algn="ctr"/>
            <a:r>
              <a:rPr sz="780" b="0" i="0">
                <a:solidFill>
                  <a:srgbClr val="1E3A5F"/>
                </a:solidFill>
              </a:rPr>
              <a:t>Gap</a:t>
            </a:r>
          </a:p>
        </p:txBody>
      </p:sp>
      <p:sp>
        <p:nvSpPr>
          <p:cNvPr id="61" name="Rounded Rectangle 60"/>
          <p:cNvSpPr/>
          <p:nvPr/>
        </p:nvSpPr>
        <p:spPr>
          <a:xfrm>
            <a:off x="7955280" y="4087367"/>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001000" y="4114799"/>
            <a:ext cx="1755648" cy="246888"/>
          </a:xfrm>
          <a:prstGeom prst="rect">
            <a:avLst/>
          </a:prstGeom>
          <a:noFill/>
        </p:spPr>
        <p:txBody>
          <a:bodyPr wrap="square">
            <a:spAutoFit/>
          </a:bodyPr>
          <a:lstStyle/>
          <a:p>
            <a:pPr algn="ctr"/>
            <a:r>
              <a:rPr sz="780" b="0" i="0">
                <a:solidFill>
                  <a:srgbClr val="1E3A5F"/>
                </a:solidFill>
              </a:rPr>
              <a:t>Gap Détaillé</a:t>
            </a:r>
          </a:p>
        </p:txBody>
      </p:sp>
      <p:sp>
        <p:nvSpPr>
          <p:cNvPr id="63" name="Rounded Rectangle 62"/>
          <p:cNvSpPr/>
          <p:nvPr/>
        </p:nvSpPr>
        <p:spPr>
          <a:xfrm>
            <a:off x="9829800" y="4087367"/>
            <a:ext cx="1828800" cy="292608"/>
          </a:xfrm>
          <a:prstGeom prst="round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875520" y="4114799"/>
            <a:ext cx="1755648" cy="246888"/>
          </a:xfrm>
          <a:prstGeom prst="rect">
            <a:avLst/>
          </a:prstGeom>
          <a:noFill/>
        </p:spPr>
        <p:txBody>
          <a:bodyPr wrap="square">
            <a:spAutoFit/>
          </a:bodyPr>
          <a:lstStyle/>
          <a:p>
            <a:pPr algn="ctr"/>
            <a:r>
              <a:rPr sz="780" b="0" i="0">
                <a:solidFill>
                  <a:srgbClr val="1E3A5F"/>
                </a:solidFill>
              </a:rPr>
              <a:t>Review Priority</a:t>
            </a:r>
          </a:p>
        </p:txBody>
      </p:sp>
      <p:sp>
        <p:nvSpPr>
          <p:cNvPr id="65" name="Rectangle 64"/>
          <p:cNvSpPr/>
          <p:nvPr/>
        </p:nvSpPr>
        <p:spPr>
          <a:xfrm>
            <a:off x="347472" y="4956048"/>
            <a:ext cx="11475720" cy="384048"/>
          </a:xfrm>
          <a:prstGeom prst="rect">
            <a:avLst/>
          </a:prstGeom>
          <a:solidFill>
            <a:srgbClr val="EBF9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57200" y="4983480"/>
            <a:ext cx="11247120" cy="320040"/>
          </a:xfrm>
          <a:prstGeom prst="rect">
            <a:avLst/>
          </a:prstGeom>
          <a:noFill/>
        </p:spPr>
        <p:txBody>
          <a:bodyPr wrap="square">
            <a:spAutoFit/>
          </a:bodyPr>
          <a:lstStyle/>
          <a:p>
            <a:pPr algn="l"/>
            <a:r>
              <a:rPr sz="850" b="0" i="0">
                <a:solidFill>
                  <a:srgbClr val="1A5C32"/>
                </a:solidFill>
              </a:rPr>
              <a:t>Mise en forme : color scales coverage% · conditional formatting · frozen headers · largeurs auto  | Fichier : output/mapping_{FrA}_{FrB}_{date}_{time}.xlsx</a:t>
            </a:r>
          </a:p>
        </p:txBody>
      </p:sp>
      <p:sp>
        <p:nvSpPr>
          <p:cNvPr id="67" name="Rectangle 66"/>
          <p:cNvSpPr/>
          <p:nvPr/>
        </p:nvSpPr>
        <p:spPr>
          <a:xfrm>
            <a:off x="347472" y="5468112"/>
            <a:ext cx="11475720" cy="658368"/>
          </a:xfrm>
          <a:prstGeom prst="rect">
            <a:avLst/>
          </a:prstGeom>
          <a:solidFill>
            <a:srgbClr val="FFFFFF"/>
          </a:solidFill>
          <a:ln w="19050">
            <a:solidFill>
              <a:srgbClr val="4A4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438912" y="5532120"/>
            <a:ext cx="438912" cy="438912"/>
          </a:xfrm>
          <a:prstGeom prst="roundRect">
            <a:avLst/>
          </a:prstGeom>
          <a:solidFill>
            <a:srgbClr val="4A4A6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06</a:t>
            </a:r>
          </a:p>
        </p:txBody>
      </p:sp>
      <p:sp>
        <p:nvSpPr>
          <p:cNvPr id="69" name="TextBox 68"/>
          <p:cNvSpPr txBox="1"/>
          <p:nvPr/>
        </p:nvSpPr>
        <p:spPr>
          <a:xfrm>
            <a:off x="960120" y="5532120"/>
            <a:ext cx="3657600" cy="256032"/>
          </a:xfrm>
          <a:prstGeom prst="rect">
            <a:avLst/>
          </a:prstGeom>
          <a:noFill/>
        </p:spPr>
        <p:txBody>
          <a:bodyPr wrap="square">
            <a:spAutoFit/>
          </a:bodyPr>
          <a:lstStyle/>
          <a:p>
            <a:pPr algn="l"/>
            <a:r>
              <a:rPr sz="1000" b="1" i="0">
                <a:solidFill>
                  <a:srgbClr val="4A4A6A"/>
                </a:solidFill>
              </a:rPr>
              <a:t>Rapport d'analyse  (log_analyzer.py)</a:t>
            </a:r>
          </a:p>
        </p:txBody>
      </p:sp>
      <p:sp>
        <p:nvSpPr>
          <p:cNvPr id="70" name="TextBox 69"/>
          <p:cNvSpPr txBox="1"/>
          <p:nvPr/>
        </p:nvSpPr>
        <p:spPr>
          <a:xfrm>
            <a:off x="960120" y="5824728"/>
            <a:ext cx="10698480" cy="256032"/>
          </a:xfrm>
          <a:prstGeom prst="rect">
            <a:avLst/>
          </a:prstGeom>
          <a:noFill/>
        </p:spPr>
        <p:txBody>
          <a:bodyPr wrap="square">
            <a:spAutoFit/>
          </a:bodyPr>
          <a:lstStyle/>
          <a:p>
            <a:pPr algn="l"/>
            <a:r>
              <a:rPr sz="850" b="0" i="0">
                <a:solidFill>
                  <a:srgbClr val="4A4A6A"/>
                </a:solidFill>
              </a:rPr>
              <a:t>logs/run_{...}.jsonl  →  reports/log_analysis_{...}.md   |   Cache hit rate · Corrections juge · Distribution scores · Timing par étape · Résumé erreurs</a:t>
            </a:r>
          </a:p>
        </p:txBody>
      </p:sp>
      <p:sp>
        <p:nvSpPr>
          <p:cNvPr id="71" name="Rectangle 70"/>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65760" y="6400800"/>
            <a:ext cx="7315200" cy="365760"/>
          </a:xfrm>
          <a:prstGeom prst="rect">
            <a:avLst/>
          </a:prstGeom>
          <a:noFill/>
        </p:spPr>
        <p:txBody>
          <a:bodyPr wrap="square">
            <a:spAutoFit/>
          </a:bodyPr>
          <a:lstStyle/>
          <a:p>
            <a:pPr algn="l"/>
            <a:r>
              <a:rPr sz="900" b="0" i="0">
                <a:solidFill>
                  <a:srgbClr val="AAAAAA"/>
                </a:solidFill>
              </a:rPr>
              <a:t>Regulatory Framework Mapper  |  Étape 5 : Workbook Excel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9144000" cy="457200"/>
          </a:xfrm>
          <a:prstGeom prst="rect">
            <a:avLst/>
          </a:prstGeom>
          <a:noFill/>
        </p:spPr>
        <p:txBody>
          <a:bodyPr wrap="square">
            <a:spAutoFit/>
          </a:bodyPr>
          <a:lstStyle/>
          <a:p>
            <a:pPr algn="l"/>
            <a:r>
              <a:rPr sz="2000" b="1" i="0">
                <a:solidFill>
                  <a:srgbClr val="FFFFFF"/>
                </a:solidFill>
              </a:rPr>
              <a:t>Composants transversaux</a:t>
            </a:r>
          </a:p>
        </p:txBody>
      </p:sp>
      <p:sp>
        <p:nvSpPr>
          <p:cNvPr id="6" name="Rectangle 5"/>
          <p:cNvSpPr/>
          <p:nvPr/>
        </p:nvSpPr>
        <p:spPr>
          <a:xfrm>
            <a:off x="320040" y="822960"/>
            <a:ext cx="7498079" cy="246888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11480" y="868680"/>
            <a:ext cx="2743200" cy="41148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Azure OpenAI</a:t>
            </a:r>
          </a:p>
        </p:txBody>
      </p:sp>
      <p:sp>
        <p:nvSpPr>
          <p:cNvPr id="8" name="Rectangle 7"/>
          <p:cNvSpPr/>
          <p:nvPr/>
        </p:nvSpPr>
        <p:spPr>
          <a:xfrm>
            <a:off x="411480" y="1417320"/>
            <a:ext cx="2240280" cy="1645920"/>
          </a:xfrm>
          <a:prstGeom prst="rect">
            <a:avLst/>
          </a:prstGeom>
          <a:solidFill>
            <a:srgbClr val="F0F8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63040"/>
            <a:ext cx="2103120" cy="256032"/>
          </a:xfrm>
          <a:prstGeom prst="rect">
            <a:avLst/>
          </a:prstGeom>
          <a:noFill/>
        </p:spPr>
        <p:txBody>
          <a:bodyPr wrap="square">
            <a:spAutoFit/>
          </a:bodyPr>
          <a:lstStyle/>
          <a:p>
            <a:pPr algn="l"/>
            <a:r>
              <a:rPr sz="950" b="1" i="0">
                <a:solidFill>
                  <a:srgbClr val="2E86AB"/>
                </a:solidFill>
              </a:rPr>
              <a:t>Text (génération)</a:t>
            </a:r>
          </a:p>
        </p:txBody>
      </p:sp>
      <p:sp>
        <p:nvSpPr>
          <p:cNvPr id="10" name="TextBox 9"/>
          <p:cNvSpPr txBox="1"/>
          <p:nvPr/>
        </p:nvSpPr>
        <p:spPr>
          <a:xfrm>
            <a:off x="502920" y="1755648"/>
            <a:ext cx="2103120" cy="1188720"/>
          </a:xfrm>
          <a:prstGeom prst="rect">
            <a:avLst/>
          </a:prstGeom>
          <a:noFill/>
        </p:spPr>
        <p:txBody>
          <a:bodyPr wrap="square">
            <a:spAutoFit/>
          </a:bodyPr>
          <a:lstStyle/>
          <a:p>
            <a:pPr algn="l"/>
            <a:r>
              <a:rPr sz="850" b="0" i="0">
                <a:solidFill>
                  <a:srgbClr val="4A4A6A"/>
                </a:solidFill>
              </a:rPr>
              <a:t>gpt-4.1-nano / gpt-5.4-nano
Température : 0.1  |  JSON mode</a:t>
            </a:r>
          </a:p>
        </p:txBody>
      </p:sp>
      <p:sp>
        <p:nvSpPr>
          <p:cNvPr id="11" name="Rectangle 10"/>
          <p:cNvSpPr/>
          <p:nvPr/>
        </p:nvSpPr>
        <p:spPr>
          <a:xfrm>
            <a:off x="2788920" y="1417320"/>
            <a:ext cx="2240280" cy="1645920"/>
          </a:xfrm>
          <a:prstGeom prst="rect">
            <a:avLst/>
          </a:prstGeom>
          <a:solidFill>
            <a:srgbClr val="F0F8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80360" y="1463040"/>
            <a:ext cx="2103120" cy="256032"/>
          </a:xfrm>
          <a:prstGeom prst="rect">
            <a:avLst/>
          </a:prstGeom>
          <a:noFill/>
        </p:spPr>
        <p:txBody>
          <a:bodyPr wrap="square">
            <a:spAutoFit/>
          </a:bodyPr>
          <a:lstStyle/>
          <a:p>
            <a:pPr algn="l"/>
            <a:r>
              <a:rPr sz="950" b="1" i="0">
                <a:solidFill>
                  <a:srgbClr val="1E3A5F"/>
                </a:solidFill>
              </a:rPr>
              <a:t>Judge (révision)</a:t>
            </a:r>
          </a:p>
        </p:txBody>
      </p:sp>
      <p:sp>
        <p:nvSpPr>
          <p:cNvPr id="13" name="TextBox 12"/>
          <p:cNvSpPr txBox="1"/>
          <p:nvPr/>
        </p:nvSpPr>
        <p:spPr>
          <a:xfrm>
            <a:off x="2880360" y="1755648"/>
            <a:ext cx="2103120" cy="1188720"/>
          </a:xfrm>
          <a:prstGeom prst="rect">
            <a:avLst/>
          </a:prstGeom>
          <a:noFill/>
        </p:spPr>
        <p:txBody>
          <a:bodyPr wrap="square">
            <a:spAutoFit/>
          </a:bodyPr>
          <a:lstStyle/>
          <a:p>
            <a:pPr algn="l"/>
            <a:r>
              <a:rPr sz="850" b="0" i="0">
                <a:solidFill>
                  <a:srgbClr val="4A4A6A"/>
                </a:solidFill>
              </a:rPr>
              <a:t>gpt-5.4-nano ou reasoning model
Appels judge_json()</a:t>
            </a:r>
          </a:p>
        </p:txBody>
      </p:sp>
      <p:sp>
        <p:nvSpPr>
          <p:cNvPr id="14" name="Rectangle 13"/>
          <p:cNvSpPr/>
          <p:nvPr/>
        </p:nvSpPr>
        <p:spPr>
          <a:xfrm>
            <a:off x="5166360" y="1417320"/>
            <a:ext cx="2240280" cy="1645920"/>
          </a:xfrm>
          <a:prstGeom prst="rect">
            <a:avLst/>
          </a:prstGeom>
          <a:solidFill>
            <a:srgbClr val="F0F8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57800" y="1463040"/>
            <a:ext cx="2103120" cy="256032"/>
          </a:xfrm>
          <a:prstGeom prst="rect">
            <a:avLst/>
          </a:prstGeom>
          <a:noFill/>
        </p:spPr>
        <p:txBody>
          <a:bodyPr wrap="square">
            <a:spAutoFit/>
          </a:bodyPr>
          <a:lstStyle/>
          <a:p>
            <a:pPr algn="l"/>
            <a:r>
              <a:rPr sz="950" b="1" i="0">
                <a:solidFill>
                  <a:srgbClr val="27AE60"/>
                </a:solidFill>
              </a:rPr>
              <a:t>Embeddings</a:t>
            </a:r>
          </a:p>
        </p:txBody>
      </p:sp>
      <p:sp>
        <p:nvSpPr>
          <p:cNvPr id="16" name="TextBox 15"/>
          <p:cNvSpPr txBox="1"/>
          <p:nvPr/>
        </p:nvSpPr>
        <p:spPr>
          <a:xfrm>
            <a:off x="5257800" y="1755648"/>
            <a:ext cx="2103120" cy="1188720"/>
          </a:xfrm>
          <a:prstGeom prst="rect">
            <a:avLst/>
          </a:prstGeom>
          <a:noFill/>
        </p:spPr>
        <p:txBody>
          <a:bodyPr wrap="square">
            <a:spAutoFit/>
          </a:bodyPr>
          <a:lstStyle/>
          <a:p>
            <a:pPr algn="l"/>
            <a:r>
              <a:rPr sz="850" b="0" i="0">
                <a:solidFill>
                  <a:srgbClr val="4A4A6A"/>
                </a:solidFill>
              </a:rPr>
              <a:t>text-embedding-3-large  |  512 dims
Batches 64  |  cosine similarity</a:t>
            </a:r>
          </a:p>
        </p:txBody>
      </p:sp>
      <p:sp>
        <p:nvSpPr>
          <p:cNvPr id="17" name="TextBox 16"/>
          <p:cNvSpPr txBox="1"/>
          <p:nvPr/>
        </p:nvSpPr>
        <p:spPr>
          <a:xfrm>
            <a:off x="457200" y="3063240"/>
            <a:ext cx="7223760" cy="201168"/>
          </a:xfrm>
          <a:prstGeom prst="rect">
            <a:avLst/>
          </a:prstGeom>
          <a:noFill/>
        </p:spPr>
        <p:txBody>
          <a:bodyPr wrap="square">
            <a:spAutoFit/>
          </a:bodyPr>
          <a:lstStyle/>
          <a:p>
            <a:pPr algn="l"/>
            <a:r>
              <a:rPr sz="800" b="0" i="1">
                <a:solidFill>
                  <a:srgbClr val="4A4A6A"/>
                </a:solidFill>
              </a:rPr>
              <a:t>MAX_CONCURRENT_LLM_CALLS=6  (ThreadPoolExecutor)  |  generate_json()  ·  judge_json()  ·  embed_texts()</a:t>
            </a:r>
          </a:p>
        </p:txBody>
      </p:sp>
      <p:sp>
        <p:nvSpPr>
          <p:cNvPr id="18" name="Rectangle 17"/>
          <p:cNvSpPr/>
          <p:nvPr/>
        </p:nvSpPr>
        <p:spPr>
          <a:xfrm>
            <a:off x="320040" y="3429000"/>
            <a:ext cx="7498079" cy="2011680"/>
          </a:xfrm>
          <a:prstGeom prst="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11480" y="3474720"/>
            <a:ext cx="3200400" cy="4114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A1A2E"/>
                </a:solidFill>
              </a:rPr>
              <a:t>Système de Cache  (cache.py)</a:t>
            </a:r>
          </a:p>
        </p:txBody>
      </p:sp>
      <p:sp>
        <p:nvSpPr>
          <p:cNvPr id="20" name="Rectangle 19"/>
          <p:cNvSpPr/>
          <p:nvPr/>
        </p:nvSpPr>
        <p:spPr>
          <a:xfrm>
            <a:off x="411480" y="4023360"/>
            <a:ext cx="3383280" cy="1234440"/>
          </a:xfrm>
          <a:prstGeom prst="rect">
            <a:avLst/>
          </a:prstGeom>
          <a:solidFill>
            <a:srgbClr val="FFFCF0"/>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4069080"/>
            <a:ext cx="3200400" cy="256032"/>
          </a:xfrm>
          <a:prstGeom prst="rect">
            <a:avLst/>
          </a:prstGeom>
          <a:noFill/>
        </p:spPr>
        <p:txBody>
          <a:bodyPr wrap="square">
            <a:spAutoFit/>
          </a:bodyPr>
          <a:lstStyle/>
          <a:p>
            <a:pPr algn="l"/>
            <a:r>
              <a:rPr sz="950" b="1" i="0">
                <a:solidFill>
                  <a:srgbClr val="F39C12"/>
                </a:solidFill>
              </a:rPr>
              <a:t>Cache Framework</a:t>
            </a:r>
          </a:p>
        </p:txBody>
      </p:sp>
      <p:sp>
        <p:nvSpPr>
          <p:cNvPr id="22" name="TextBox 21"/>
          <p:cNvSpPr txBox="1"/>
          <p:nvPr/>
        </p:nvSpPr>
        <p:spPr>
          <a:xfrm>
            <a:off x="502920" y="4343400"/>
            <a:ext cx="3200400" cy="841248"/>
          </a:xfrm>
          <a:prstGeom prst="rect">
            <a:avLst/>
          </a:prstGeom>
          <a:noFill/>
        </p:spPr>
        <p:txBody>
          <a:bodyPr wrap="square">
            <a:spAutoFit/>
          </a:bodyPr>
          <a:lstStyle/>
          <a:p>
            <a:pPr algn="l"/>
            <a:r>
              <a:rPr sz="819" b="0" i="0">
                <a:solidFill>
                  <a:srgbClr val="4A4A6A"/>
                </a:solidFill>
              </a:rPr>
              <a:t>docs/cache/{framework_key}/
• category_harmonization.json
• atomized_requirements.json
• atomic_requirements_with_fields.json
• Validation SHA256 fichier source</a:t>
            </a:r>
          </a:p>
        </p:txBody>
      </p:sp>
      <p:sp>
        <p:nvSpPr>
          <p:cNvPr id="23" name="Rectangle 22"/>
          <p:cNvSpPr/>
          <p:nvPr/>
        </p:nvSpPr>
        <p:spPr>
          <a:xfrm>
            <a:off x="3977640" y="4023360"/>
            <a:ext cx="3383280" cy="1234440"/>
          </a:xfrm>
          <a:prstGeom prst="rect">
            <a:avLst/>
          </a:prstGeom>
          <a:solidFill>
            <a:srgbClr val="FFFCF0"/>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069080" y="4069080"/>
            <a:ext cx="3200400" cy="256032"/>
          </a:xfrm>
          <a:prstGeom prst="rect">
            <a:avLst/>
          </a:prstGeom>
          <a:noFill/>
        </p:spPr>
        <p:txBody>
          <a:bodyPr wrap="square">
            <a:spAutoFit/>
          </a:bodyPr>
          <a:lstStyle/>
          <a:p>
            <a:pPr algn="l"/>
            <a:r>
              <a:rPr sz="950" b="1" i="0">
                <a:solidFill>
                  <a:srgbClr val="E63312"/>
                </a:solidFill>
              </a:rPr>
              <a:t>Cache Décisions</a:t>
            </a:r>
          </a:p>
        </p:txBody>
      </p:sp>
      <p:sp>
        <p:nvSpPr>
          <p:cNvPr id="25" name="TextBox 24"/>
          <p:cNvSpPr txBox="1"/>
          <p:nvPr/>
        </p:nvSpPr>
        <p:spPr>
          <a:xfrm>
            <a:off x="4069080" y="4343400"/>
            <a:ext cx="3200400" cy="841248"/>
          </a:xfrm>
          <a:prstGeom prst="rect">
            <a:avLst/>
          </a:prstGeom>
          <a:noFill/>
        </p:spPr>
        <p:txBody>
          <a:bodyPr wrap="square">
            <a:spAutoFit/>
          </a:bodyPr>
          <a:lstStyle/>
          <a:p>
            <a:pPr algn="l"/>
            <a:r>
              <a:rPr sz="819" b="0" i="0">
                <a:solidFill>
                  <a:srgbClr val="4A4A6A"/>
                </a:solidFill>
              </a:rPr>
              <a:t>mapping_decisions_cache.jsonl
parent_gap_synthesis_cache.jsonl
• Format JSONL  (thread-safe)
• Évite appels LLM redondants
• Clé = hash(source, candidat)</a:t>
            </a:r>
          </a:p>
        </p:txBody>
      </p:sp>
      <p:sp>
        <p:nvSpPr>
          <p:cNvPr id="26" name="Rectangle 25"/>
          <p:cNvSpPr/>
          <p:nvPr/>
        </p:nvSpPr>
        <p:spPr>
          <a:xfrm>
            <a:off x="8001000" y="822960"/>
            <a:ext cx="3840480" cy="4617720"/>
          </a:xfrm>
          <a:prstGeom prst="rect">
            <a:avLst/>
          </a:prstGeom>
          <a:solidFill>
            <a:srgbClr val="FFFFFF"/>
          </a:solidFill>
          <a:ln w="19050">
            <a:solidFill>
              <a:srgbClr val="1A8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092440" y="868680"/>
            <a:ext cx="3657600" cy="411480"/>
          </a:xfrm>
          <a:prstGeom prst="roundRect">
            <a:avLst/>
          </a:prstGeom>
          <a:solidFill>
            <a:srgbClr val="1A8C6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rPr>
              <a:t>Guideline RAG  (optionnel)</a:t>
            </a:r>
          </a:p>
        </p:txBody>
      </p:sp>
      <p:sp>
        <p:nvSpPr>
          <p:cNvPr id="28" name="Rectangle 27"/>
          <p:cNvSpPr/>
          <p:nvPr/>
        </p:nvSpPr>
        <p:spPr>
          <a:xfrm>
            <a:off x="8119872" y="1444752"/>
            <a:ext cx="3566160" cy="475488"/>
          </a:xfrm>
          <a:prstGeom prst="rect">
            <a:avLst/>
          </a:prstGeom>
          <a:solidFill>
            <a:srgbClr val="E8F8F4"/>
          </a:solidFill>
          <a:ln w="19050">
            <a:solidFill>
              <a:srgbClr val="1A8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0" y="1481328"/>
            <a:ext cx="3383280" cy="384048"/>
          </a:xfrm>
          <a:prstGeom prst="rect">
            <a:avLst/>
          </a:prstGeom>
          <a:noFill/>
        </p:spPr>
        <p:txBody>
          <a:bodyPr wrap="square">
            <a:spAutoFit/>
          </a:bodyPr>
          <a:lstStyle/>
          <a:p>
            <a:pPr algn="l"/>
            <a:r>
              <a:rPr sz="900" b="0" i="0">
                <a:solidFill>
                  <a:srgbClr val="1A1A2E"/>
                </a:solidFill>
              </a:rPr>
              <a:t>📂  Sources : pdf · txt · md · docx</a:t>
            </a:r>
          </a:p>
        </p:txBody>
      </p:sp>
      <p:sp>
        <p:nvSpPr>
          <p:cNvPr id="30" name="Rectangle 29"/>
          <p:cNvSpPr/>
          <p:nvPr/>
        </p:nvSpPr>
        <p:spPr>
          <a:xfrm>
            <a:off x="8119872" y="2020824"/>
            <a:ext cx="3566160" cy="475488"/>
          </a:xfrm>
          <a:prstGeom prst="rect">
            <a:avLst/>
          </a:prstGeom>
          <a:solidFill>
            <a:srgbClr val="E8F8F4"/>
          </a:solidFill>
          <a:ln w="19050">
            <a:solidFill>
              <a:srgbClr val="1A8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0" y="2057400"/>
            <a:ext cx="3383280" cy="384048"/>
          </a:xfrm>
          <a:prstGeom prst="rect">
            <a:avLst/>
          </a:prstGeom>
          <a:noFill/>
        </p:spPr>
        <p:txBody>
          <a:bodyPr wrap="square">
            <a:spAutoFit/>
          </a:bodyPr>
          <a:lstStyle/>
          <a:p>
            <a:pPr algn="l"/>
            <a:r>
              <a:rPr sz="900" b="0" i="0">
                <a:solidFill>
                  <a:srgbClr val="1A1A2E"/>
                </a:solidFill>
              </a:rPr>
              <a:t>✂️  Chunking : 400 cars, overlap 80</a:t>
            </a:r>
          </a:p>
        </p:txBody>
      </p:sp>
      <p:sp>
        <p:nvSpPr>
          <p:cNvPr id="32" name="Rectangle 31"/>
          <p:cNvSpPr/>
          <p:nvPr/>
        </p:nvSpPr>
        <p:spPr>
          <a:xfrm>
            <a:off x="8119872" y="2596896"/>
            <a:ext cx="3566160" cy="475488"/>
          </a:xfrm>
          <a:prstGeom prst="rect">
            <a:avLst/>
          </a:prstGeom>
          <a:solidFill>
            <a:srgbClr val="E8F8F4"/>
          </a:solidFill>
          <a:ln w="19050">
            <a:solidFill>
              <a:srgbClr val="1A8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0" y="2633472"/>
            <a:ext cx="3383280" cy="384048"/>
          </a:xfrm>
          <a:prstGeom prst="rect">
            <a:avLst/>
          </a:prstGeom>
          <a:noFill/>
        </p:spPr>
        <p:txBody>
          <a:bodyPr wrap="square">
            <a:spAutoFit/>
          </a:bodyPr>
          <a:lstStyle/>
          <a:p>
            <a:pPr algn="l"/>
            <a:r>
              <a:rPr sz="900" b="0" i="0">
                <a:solidFill>
                  <a:srgbClr val="1A1A2E"/>
                </a:solidFill>
              </a:rPr>
              <a:t>🔢  Embeddings par chunk</a:t>
            </a:r>
          </a:p>
        </p:txBody>
      </p:sp>
      <p:sp>
        <p:nvSpPr>
          <p:cNvPr id="34" name="Rectangle 33"/>
          <p:cNvSpPr/>
          <p:nvPr/>
        </p:nvSpPr>
        <p:spPr>
          <a:xfrm>
            <a:off x="8119872" y="3172968"/>
            <a:ext cx="3566160" cy="475488"/>
          </a:xfrm>
          <a:prstGeom prst="rect">
            <a:avLst/>
          </a:prstGeom>
          <a:solidFill>
            <a:srgbClr val="E8F8F4"/>
          </a:solidFill>
          <a:ln w="19050">
            <a:solidFill>
              <a:srgbClr val="1A8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209544"/>
            <a:ext cx="3383280" cy="384048"/>
          </a:xfrm>
          <a:prstGeom prst="rect">
            <a:avLst/>
          </a:prstGeom>
          <a:noFill/>
        </p:spPr>
        <p:txBody>
          <a:bodyPr wrap="square">
            <a:spAutoFit/>
          </a:bodyPr>
          <a:lstStyle/>
          <a:p>
            <a:pPr algn="l"/>
            <a:r>
              <a:rPr sz="900" b="0" i="0">
                <a:solidFill>
                  <a:srgbClr val="1A1A2E"/>
                </a:solidFill>
              </a:rPr>
              <a:t>🔍  Retrieval : Top-K passages</a:t>
            </a:r>
          </a:p>
        </p:txBody>
      </p:sp>
      <p:sp>
        <p:nvSpPr>
          <p:cNvPr id="36" name="Rectangle 35"/>
          <p:cNvSpPr/>
          <p:nvPr/>
        </p:nvSpPr>
        <p:spPr>
          <a:xfrm>
            <a:off x="8119872" y="3749040"/>
            <a:ext cx="3566160" cy="475488"/>
          </a:xfrm>
          <a:prstGeom prst="rect">
            <a:avLst/>
          </a:prstGeom>
          <a:solidFill>
            <a:srgbClr val="E8F8F4"/>
          </a:solidFill>
          <a:ln w="19050">
            <a:solidFill>
              <a:srgbClr val="1A8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0" y="3785616"/>
            <a:ext cx="3383280" cy="384048"/>
          </a:xfrm>
          <a:prstGeom prst="rect">
            <a:avLst/>
          </a:prstGeom>
          <a:noFill/>
        </p:spPr>
        <p:txBody>
          <a:bodyPr wrap="square">
            <a:spAutoFit/>
          </a:bodyPr>
          <a:lstStyle/>
          <a:p>
            <a:pPr algn="l"/>
            <a:r>
              <a:rPr sz="900" b="0" i="0">
                <a:solidFill>
                  <a:srgbClr val="1A1A2E"/>
                </a:solidFill>
              </a:rPr>
              <a:t>💉  Injection dans PROMPT_PAIRWISE</a:t>
            </a:r>
          </a:p>
        </p:txBody>
      </p:sp>
      <p:sp>
        <p:nvSpPr>
          <p:cNvPr id="38" name="Rectangle 37"/>
          <p:cNvSpPr/>
          <p:nvPr/>
        </p:nvSpPr>
        <p:spPr>
          <a:xfrm>
            <a:off x="8119872" y="4325112"/>
            <a:ext cx="3566160" cy="475488"/>
          </a:xfrm>
          <a:prstGeom prst="rect">
            <a:avLst/>
          </a:prstGeom>
          <a:solidFill>
            <a:srgbClr val="E8F8F4"/>
          </a:solidFill>
          <a:ln w="19050">
            <a:solidFill>
              <a:srgbClr val="1A8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0" y="4361688"/>
            <a:ext cx="3383280" cy="384048"/>
          </a:xfrm>
          <a:prstGeom prst="rect">
            <a:avLst/>
          </a:prstGeom>
          <a:noFill/>
        </p:spPr>
        <p:txBody>
          <a:bodyPr wrap="square">
            <a:spAutoFit/>
          </a:bodyPr>
          <a:lstStyle/>
          <a:p>
            <a:pPr algn="l"/>
            <a:r>
              <a:rPr sz="900" b="0" i="0">
                <a:solidFill>
                  <a:srgbClr val="1A1A2E"/>
                </a:solidFill>
              </a:rPr>
              <a:t>💾  Cache invalidé sur hash fichier</a:t>
            </a:r>
          </a:p>
        </p:txBody>
      </p:sp>
      <p:sp>
        <p:nvSpPr>
          <p:cNvPr id="40" name="Rectangle 39"/>
          <p:cNvSpPr/>
          <p:nvPr/>
        </p:nvSpPr>
        <p:spPr>
          <a:xfrm>
            <a:off x="320040" y="5532120"/>
            <a:ext cx="7498079" cy="566928"/>
          </a:xfrm>
          <a:prstGeom prst="rect">
            <a:avLst/>
          </a:prstGeom>
          <a:solidFill>
            <a:srgbClr val="FDEDEC"/>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7200" y="5559552"/>
            <a:ext cx="7315200" cy="502920"/>
          </a:xfrm>
          <a:prstGeom prst="rect">
            <a:avLst/>
          </a:prstGeom>
          <a:noFill/>
        </p:spPr>
        <p:txBody>
          <a:bodyPr wrap="square">
            <a:spAutoFit/>
          </a:bodyPr>
          <a:lstStyle/>
          <a:p>
            <a:pPr algn="l"/>
            <a:r>
              <a:rPr sz="850" b="0" i="0">
                <a:solidFill>
                  <a:srgbClr val="C0392B"/>
                </a:solidFill>
              </a:rPr>
              <a:t>Validation  (validation.py)  :  validate_non_empty_framework()  ·  validate_mapping_targets()  ·  framework_atom_fingerprint()  |  Politiques : raise · drop · sanitize · convert_to_gap</a:t>
            </a:r>
          </a:p>
        </p:txBody>
      </p:sp>
      <p:sp>
        <p:nvSpPr>
          <p:cNvPr id="42" name="Rectangle 41"/>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65760" y="6400800"/>
            <a:ext cx="7315200" cy="365760"/>
          </a:xfrm>
          <a:prstGeom prst="rect">
            <a:avLst/>
          </a:prstGeom>
          <a:noFill/>
        </p:spPr>
        <p:txBody>
          <a:bodyPr wrap="square">
            <a:spAutoFit/>
          </a:bodyPr>
          <a:lstStyle/>
          <a:p>
            <a:pPr algn="l"/>
            <a:r>
              <a:rPr sz="900" b="0" i="0">
                <a:solidFill>
                  <a:srgbClr val="AAAAAA"/>
                </a:solidFill>
              </a:rPr>
              <a:t>Regulatory Framework Mapper  |  Composants Transversaux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
          </a:xfrm>
          <a:prstGeom prst="rect">
            <a:avLst/>
          </a:prstGeom>
          <a:solidFill>
            <a:srgbClr val="4A4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0058400" cy="457200"/>
          </a:xfrm>
          <a:prstGeom prst="rect">
            <a:avLst/>
          </a:prstGeom>
          <a:noFill/>
        </p:spPr>
        <p:txBody>
          <a:bodyPr wrap="square">
            <a:spAutoFit/>
          </a:bodyPr>
          <a:lstStyle/>
          <a:p>
            <a:pPr algn="l"/>
            <a:r>
              <a:rPr sz="2000" b="1" i="0">
                <a:solidFill>
                  <a:srgbClr val="FFFFFF"/>
                </a:solidFill>
              </a:rPr>
              <a:t>Configuration &amp; Paramétrage  (.env — 160+ paramètres)</a:t>
            </a:r>
          </a:p>
        </p:txBody>
      </p:sp>
      <p:sp>
        <p:nvSpPr>
          <p:cNvPr id="6" name="Rounded Rectangle 5"/>
          <p:cNvSpPr/>
          <p:nvPr/>
        </p:nvSpPr>
        <p:spPr>
          <a:xfrm>
            <a:off x="320040" y="822960"/>
            <a:ext cx="1920240" cy="438912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0040" y="822960"/>
            <a:ext cx="1920240" cy="41148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4904" y="877824"/>
            <a:ext cx="1828800" cy="320040"/>
          </a:xfrm>
          <a:prstGeom prst="rect">
            <a:avLst/>
          </a:prstGeom>
          <a:noFill/>
        </p:spPr>
        <p:txBody>
          <a:bodyPr wrap="square">
            <a:spAutoFit/>
          </a:bodyPr>
          <a:lstStyle/>
          <a:p>
            <a:pPr algn="ctr"/>
            <a:r>
              <a:rPr sz="950" b="1" i="0">
                <a:solidFill>
                  <a:srgbClr val="FFFFFF"/>
                </a:solidFill>
              </a:rPr>
              <a:t>ENTRÉES</a:t>
            </a:r>
          </a:p>
        </p:txBody>
      </p:sp>
      <p:sp>
        <p:nvSpPr>
          <p:cNvPr id="9" name="Rectangle 8"/>
          <p:cNvSpPr/>
          <p:nvPr/>
        </p:nvSpPr>
        <p:spPr>
          <a:xfrm>
            <a:off x="393192" y="1325880"/>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362456"/>
            <a:ext cx="1737360" cy="274320"/>
          </a:xfrm>
          <a:prstGeom prst="rect">
            <a:avLst/>
          </a:prstGeom>
          <a:noFill/>
        </p:spPr>
        <p:txBody>
          <a:bodyPr wrap="square">
            <a:spAutoFit/>
          </a:bodyPr>
          <a:lstStyle/>
          <a:p>
            <a:pPr algn="l"/>
            <a:r>
              <a:rPr sz="750" b="1" i="0">
                <a:solidFill>
                  <a:srgbClr val="1A1A2E"/>
                </a:solidFill>
              </a:rPr>
              <a:t>FRAMEWORK_A_FILE</a:t>
            </a:r>
          </a:p>
        </p:txBody>
      </p:sp>
      <p:sp>
        <p:nvSpPr>
          <p:cNvPr id="11" name="Rounded Rectangle 10"/>
          <p:cNvSpPr/>
          <p:nvPr/>
        </p:nvSpPr>
        <p:spPr>
          <a:xfrm>
            <a:off x="438912" y="1655064"/>
            <a:ext cx="1719072" cy="25603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data/Test1_Belgique.xlsx</a:t>
            </a:r>
          </a:p>
        </p:txBody>
      </p:sp>
      <p:sp>
        <p:nvSpPr>
          <p:cNvPr id="12" name="Rectangle 11"/>
          <p:cNvSpPr/>
          <p:nvPr/>
        </p:nvSpPr>
        <p:spPr>
          <a:xfrm>
            <a:off x="393192" y="2075688"/>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 y="2112264"/>
            <a:ext cx="1737360" cy="274320"/>
          </a:xfrm>
          <a:prstGeom prst="rect">
            <a:avLst/>
          </a:prstGeom>
          <a:noFill/>
        </p:spPr>
        <p:txBody>
          <a:bodyPr wrap="square">
            <a:spAutoFit/>
          </a:bodyPr>
          <a:lstStyle/>
          <a:p>
            <a:pPr algn="l"/>
            <a:r>
              <a:rPr sz="750" b="1" i="0">
                <a:solidFill>
                  <a:srgbClr val="1A1A2E"/>
                </a:solidFill>
              </a:rPr>
              <a:t>FRAMEWORK_B_FILE</a:t>
            </a:r>
          </a:p>
        </p:txBody>
      </p:sp>
      <p:sp>
        <p:nvSpPr>
          <p:cNvPr id="14" name="Rounded Rectangle 13"/>
          <p:cNvSpPr/>
          <p:nvPr/>
        </p:nvSpPr>
        <p:spPr>
          <a:xfrm>
            <a:off x="438912" y="2404872"/>
            <a:ext cx="1719072" cy="25603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data/Test2_France.xlsx</a:t>
            </a:r>
          </a:p>
        </p:txBody>
      </p:sp>
      <p:sp>
        <p:nvSpPr>
          <p:cNvPr id="15" name="Rectangle 14"/>
          <p:cNvSpPr/>
          <p:nvPr/>
        </p:nvSpPr>
        <p:spPr>
          <a:xfrm>
            <a:off x="393192" y="2825496"/>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 y="2862072"/>
            <a:ext cx="1737360" cy="274320"/>
          </a:xfrm>
          <a:prstGeom prst="rect">
            <a:avLst/>
          </a:prstGeom>
          <a:noFill/>
        </p:spPr>
        <p:txBody>
          <a:bodyPr wrap="square">
            <a:spAutoFit/>
          </a:bodyPr>
          <a:lstStyle/>
          <a:p>
            <a:pPr algn="l"/>
            <a:r>
              <a:rPr sz="750" b="1" i="0">
                <a:solidFill>
                  <a:srgbClr val="1A1A2E"/>
                </a:solidFill>
              </a:rPr>
              <a:t>A_ID_COLUMN / A_REQUIREMENT_COLUMN</a:t>
            </a:r>
          </a:p>
        </p:txBody>
      </p:sp>
      <p:sp>
        <p:nvSpPr>
          <p:cNvPr id="17" name="Rounded Rectangle 16"/>
          <p:cNvSpPr/>
          <p:nvPr/>
        </p:nvSpPr>
        <p:spPr>
          <a:xfrm>
            <a:off x="438912" y="3154680"/>
            <a:ext cx="1719072" cy="25603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ID · Requirement</a:t>
            </a:r>
          </a:p>
        </p:txBody>
      </p:sp>
      <p:sp>
        <p:nvSpPr>
          <p:cNvPr id="18" name="Rectangle 17"/>
          <p:cNvSpPr/>
          <p:nvPr/>
        </p:nvSpPr>
        <p:spPr>
          <a:xfrm>
            <a:off x="393192" y="3575304"/>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912" y="3611880"/>
            <a:ext cx="1737360" cy="274320"/>
          </a:xfrm>
          <a:prstGeom prst="rect">
            <a:avLst/>
          </a:prstGeom>
          <a:noFill/>
        </p:spPr>
        <p:txBody>
          <a:bodyPr wrap="square">
            <a:spAutoFit/>
          </a:bodyPr>
          <a:lstStyle/>
          <a:p>
            <a:pPr algn="l"/>
            <a:r>
              <a:rPr sz="750" b="1" i="0">
                <a:solidFill>
                  <a:srgbClr val="1A1A2E"/>
                </a:solidFill>
              </a:rPr>
              <a:t>MAX_REQUIREMENTS_PER_FRAMEWORK</a:t>
            </a:r>
          </a:p>
        </p:txBody>
      </p:sp>
      <p:sp>
        <p:nvSpPr>
          <p:cNvPr id="20" name="Rounded Rectangle 19"/>
          <p:cNvSpPr/>
          <p:nvPr/>
        </p:nvSpPr>
        <p:spPr>
          <a:xfrm>
            <a:off x="438912" y="3904488"/>
            <a:ext cx="1719072" cy="256032"/>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500</a:t>
            </a:r>
          </a:p>
        </p:txBody>
      </p:sp>
      <p:sp>
        <p:nvSpPr>
          <p:cNvPr id="21" name="Rounded Rectangle 20"/>
          <p:cNvSpPr/>
          <p:nvPr/>
        </p:nvSpPr>
        <p:spPr>
          <a:xfrm>
            <a:off x="2350008" y="822960"/>
            <a:ext cx="1920240" cy="4389120"/>
          </a:xfrm>
          <a:prstGeom prst="round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350008" y="822960"/>
            <a:ext cx="1920240" cy="41148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404872" y="877824"/>
            <a:ext cx="1828800" cy="320040"/>
          </a:xfrm>
          <a:prstGeom prst="rect">
            <a:avLst/>
          </a:prstGeom>
          <a:noFill/>
        </p:spPr>
        <p:txBody>
          <a:bodyPr wrap="square">
            <a:spAutoFit/>
          </a:bodyPr>
          <a:lstStyle/>
          <a:p>
            <a:pPr algn="ctr"/>
            <a:r>
              <a:rPr sz="950" b="1" i="0">
                <a:solidFill>
                  <a:srgbClr val="FFFFFF"/>
                </a:solidFill>
              </a:rPr>
              <a:t>HARMONISATION ENISA</a:t>
            </a:r>
          </a:p>
        </p:txBody>
      </p:sp>
      <p:sp>
        <p:nvSpPr>
          <p:cNvPr id="24" name="Rectangle 23"/>
          <p:cNvSpPr/>
          <p:nvPr/>
        </p:nvSpPr>
        <p:spPr>
          <a:xfrm>
            <a:off x="2423160" y="1325880"/>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68880" y="1362456"/>
            <a:ext cx="1737360" cy="274320"/>
          </a:xfrm>
          <a:prstGeom prst="rect">
            <a:avLst/>
          </a:prstGeom>
          <a:noFill/>
        </p:spPr>
        <p:txBody>
          <a:bodyPr wrap="square">
            <a:spAutoFit/>
          </a:bodyPr>
          <a:lstStyle/>
          <a:p>
            <a:pPr algn="l"/>
            <a:r>
              <a:rPr sz="750" b="1" i="0">
                <a:solidFill>
                  <a:srgbClr val="1A1A2E"/>
                </a:solidFill>
              </a:rPr>
              <a:t>ENABLE_CATEGORY_HARMONIZATION</a:t>
            </a:r>
          </a:p>
        </p:txBody>
      </p:sp>
      <p:sp>
        <p:nvSpPr>
          <p:cNvPr id="26" name="Rounded Rectangle 25"/>
          <p:cNvSpPr/>
          <p:nvPr/>
        </p:nvSpPr>
        <p:spPr>
          <a:xfrm>
            <a:off x="2468880" y="1655064"/>
            <a:ext cx="1719072" cy="25603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true</a:t>
            </a:r>
          </a:p>
        </p:txBody>
      </p:sp>
      <p:sp>
        <p:nvSpPr>
          <p:cNvPr id="27" name="Rectangle 26"/>
          <p:cNvSpPr/>
          <p:nvPr/>
        </p:nvSpPr>
        <p:spPr>
          <a:xfrm>
            <a:off x="2423160" y="2075688"/>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468880" y="2112264"/>
            <a:ext cx="1737360" cy="274320"/>
          </a:xfrm>
          <a:prstGeom prst="rect">
            <a:avLst/>
          </a:prstGeom>
          <a:noFill/>
        </p:spPr>
        <p:txBody>
          <a:bodyPr wrap="square">
            <a:spAutoFit/>
          </a:bodyPr>
          <a:lstStyle/>
          <a:p>
            <a:pPr algn="l"/>
            <a:r>
              <a:rPr sz="750" b="1" i="0">
                <a:solidFill>
                  <a:srgbClr val="1A1A2E"/>
                </a:solidFill>
              </a:rPr>
              <a:t>CATEGORY_HARMONIZATION_USE_LLM</a:t>
            </a:r>
          </a:p>
        </p:txBody>
      </p:sp>
      <p:sp>
        <p:nvSpPr>
          <p:cNvPr id="29" name="Rounded Rectangle 28"/>
          <p:cNvSpPr/>
          <p:nvPr/>
        </p:nvSpPr>
        <p:spPr>
          <a:xfrm>
            <a:off x="2468880" y="2404872"/>
            <a:ext cx="1719072" cy="25603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true</a:t>
            </a:r>
          </a:p>
        </p:txBody>
      </p:sp>
      <p:sp>
        <p:nvSpPr>
          <p:cNvPr id="30" name="Rectangle 29"/>
          <p:cNvSpPr/>
          <p:nvPr/>
        </p:nvSpPr>
        <p:spPr>
          <a:xfrm>
            <a:off x="2423160" y="2825496"/>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468880" y="2862072"/>
            <a:ext cx="1737360" cy="274320"/>
          </a:xfrm>
          <a:prstGeom prst="rect">
            <a:avLst/>
          </a:prstGeom>
          <a:noFill/>
        </p:spPr>
        <p:txBody>
          <a:bodyPr wrap="square">
            <a:spAutoFit/>
          </a:bodyPr>
          <a:lstStyle/>
          <a:p>
            <a:pPr algn="l"/>
            <a:r>
              <a:rPr sz="750" b="1" i="0">
                <a:solidFill>
                  <a:srgbClr val="1A1A2E"/>
                </a:solidFill>
              </a:rPr>
              <a:t>MATCH_SCOPE</a:t>
            </a:r>
          </a:p>
        </p:txBody>
      </p:sp>
      <p:sp>
        <p:nvSpPr>
          <p:cNvPr id="32" name="Rounded Rectangle 31"/>
          <p:cNvSpPr/>
          <p:nvPr/>
        </p:nvSpPr>
        <p:spPr>
          <a:xfrm>
            <a:off x="2468880" y="3154680"/>
            <a:ext cx="1719072" cy="25603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soft_enisa (recommandé)</a:t>
            </a:r>
          </a:p>
        </p:txBody>
      </p:sp>
      <p:sp>
        <p:nvSpPr>
          <p:cNvPr id="33" name="Rectangle 32"/>
          <p:cNvSpPr/>
          <p:nvPr/>
        </p:nvSpPr>
        <p:spPr>
          <a:xfrm>
            <a:off x="2423160" y="3575304"/>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468880" y="3611880"/>
            <a:ext cx="1737360" cy="274320"/>
          </a:xfrm>
          <a:prstGeom prst="rect">
            <a:avLst/>
          </a:prstGeom>
          <a:noFill/>
        </p:spPr>
        <p:txBody>
          <a:bodyPr wrap="square">
            <a:spAutoFit/>
          </a:bodyPr>
          <a:lstStyle/>
          <a:p>
            <a:pPr algn="l"/>
            <a:r>
              <a:rPr sz="750" b="1" i="0">
                <a:solidFill>
                  <a:srgbClr val="1A1A2E"/>
                </a:solidFill>
              </a:rPr>
              <a:t>STRONG/MEDIUM confidence</a:t>
            </a:r>
          </a:p>
        </p:txBody>
      </p:sp>
      <p:sp>
        <p:nvSpPr>
          <p:cNvPr id="35" name="Rounded Rectangle 34"/>
          <p:cNvSpPr/>
          <p:nvPr/>
        </p:nvSpPr>
        <p:spPr>
          <a:xfrm>
            <a:off x="2468880" y="3904488"/>
            <a:ext cx="1719072" cy="25603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0.85 / 0.60</a:t>
            </a:r>
          </a:p>
        </p:txBody>
      </p:sp>
      <p:sp>
        <p:nvSpPr>
          <p:cNvPr id="36" name="Rounded Rectangle 35"/>
          <p:cNvSpPr/>
          <p:nvPr/>
        </p:nvSpPr>
        <p:spPr>
          <a:xfrm>
            <a:off x="4379976" y="822960"/>
            <a:ext cx="1920240" cy="4389120"/>
          </a:xfrm>
          <a:prstGeom prst="roundRect">
            <a:avLst/>
          </a:prstGeom>
          <a:solidFill>
            <a:srgbClr val="FFFFFF"/>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379976" y="822960"/>
            <a:ext cx="1920240" cy="411480"/>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34840" y="877824"/>
            <a:ext cx="1828800" cy="320040"/>
          </a:xfrm>
          <a:prstGeom prst="rect">
            <a:avLst/>
          </a:prstGeom>
          <a:noFill/>
        </p:spPr>
        <p:txBody>
          <a:bodyPr wrap="square">
            <a:spAutoFit/>
          </a:bodyPr>
          <a:lstStyle/>
          <a:p>
            <a:pPr algn="ctr"/>
            <a:r>
              <a:rPr sz="950" b="1" i="0">
                <a:solidFill>
                  <a:srgbClr val="FFFFFF"/>
                </a:solidFill>
              </a:rPr>
              <a:t>POIDS SCORING</a:t>
            </a:r>
          </a:p>
        </p:txBody>
      </p:sp>
      <p:sp>
        <p:nvSpPr>
          <p:cNvPr id="39" name="Rectangle 38"/>
          <p:cNvSpPr/>
          <p:nvPr/>
        </p:nvSpPr>
        <p:spPr>
          <a:xfrm>
            <a:off x="4453128" y="1325880"/>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498848" y="1362456"/>
            <a:ext cx="1737360" cy="274320"/>
          </a:xfrm>
          <a:prstGeom prst="rect">
            <a:avLst/>
          </a:prstGeom>
          <a:noFill/>
        </p:spPr>
        <p:txBody>
          <a:bodyPr wrap="square">
            <a:spAutoFit/>
          </a:bodyPr>
          <a:lstStyle/>
          <a:p>
            <a:pPr algn="l"/>
            <a:r>
              <a:rPr sz="750" b="1" i="0">
                <a:solidFill>
                  <a:srgbClr val="1A1A2E"/>
                </a:solidFill>
              </a:rPr>
              <a:t>WEIGHT_SEMANTIC</a:t>
            </a:r>
          </a:p>
        </p:txBody>
      </p:sp>
      <p:sp>
        <p:nvSpPr>
          <p:cNvPr id="41" name="Rounded Rectangle 40"/>
          <p:cNvSpPr/>
          <p:nvPr/>
        </p:nvSpPr>
        <p:spPr>
          <a:xfrm>
            <a:off x="4498848" y="1655064"/>
            <a:ext cx="1719072" cy="256032"/>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0.45</a:t>
            </a:r>
          </a:p>
        </p:txBody>
      </p:sp>
      <p:sp>
        <p:nvSpPr>
          <p:cNvPr id="42" name="Rectangle 41"/>
          <p:cNvSpPr/>
          <p:nvPr/>
        </p:nvSpPr>
        <p:spPr>
          <a:xfrm>
            <a:off x="4453128" y="2075688"/>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98848" y="2112264"/>
            <a:ext cx="1737360" cy="274320"/>
          </a:xfrm>
          <a:prstGeom prst="rect">
            <a:avLst/>
          </a:prstGeom>
          <a:noFill/>
        </p:spPr>
        <p:txBody>
          <a:bodyPr wrap="square">
            <a:spAutoFit/>
          </a:bodyPr>
          <a:lstStyle/>
          <a:p>
            <a:pPr algn="l"/>
            <a:r>
              <a:rPr sz="750" b="1" i="0">
                <a:solidFill>
                  <a:srgbClr val="1A1A2E"/>
                </a:solidFill>
              </a:rPr>
              <a:t>WEIGHT_STRUCTURED</a:t>
            </a:r>
          </a:p>
        </p:txBody>
      </p:sp>
      <p:sp>
        <p:nvSpPr>
          <p:cNvPr id="44" name="Rounded Rectangle 43"/>
          <p:cNvSpPr/>
          <p:nvPr/>
        </p:nvSpPr>
        <p:spPr>
          <a:xfrm>
            <a:off x="4498848" y="2404872"/>
            <a:ext cx="1719072" cy="256032"/>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0.30</a:t>
            </a:r>
          </a:p>
        </p:txBody>
      </p:sp>
      <p:sp>
        <p:nvSpPr>
          <p:cNvPr id="45" name="Rectangle 44"/>
          <p:cNvSpPr/>
          <p:nvPr/>
        </p:nvSpPr>
        <p:spPr>
          <a:xfrm>
            <a:off x="4453128" y="2825496"/>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498848" y="2862072"/>
            <a:ext cx="1737360" cy="274320"/>
          </a:xfrm>
          <a:prstGeom prst="rect">
            <a:avLst/>
          </a:prstGeom>
          <a:noFill/>
        </p:spPr>
        <p:txBody>
          <a:bodyPr wrap="square">
            <a:spAutoFit/>
          </a:bodyPr>
          <a:lstStyle/>
          <a:p>
            <a:pPr algn="l"/>
            <a:r>
              <a:rPr sz="750" b="1" i="0">
                <a:solidFill>
                  <a:srgbClr val="1A1A2E"/>
                </a:solidFill>
              </a:rPr>
              <a:t>WEIGHT_ACTION_OBJECT</a:t>
            </a:r>
          </a:p>
        </p:txBody>
      </p:sp>
      <p:sp>
        <p:nvSpPr>
          <p:cNvPr id="47" name="Rounded Rectangle 46"/>
          <p:cNvSpPr/>
          <p:nvPr/>
        </p:nvSpPr>
        <p:spPr>
          <a:xfrm>
            <a:off x="4498848" y="3154680"/>
            <a:ext cx="1719072" cy="256032"/>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0.20</a:t>
            </a:r>
          </a:p>
        </p:txBody>
      </p:sp>
      <p:sp>
        <p:nvSpPr>
          <p:cNvPr id="48" name="Rectangle 47"/>
          <p:cNvSpPr/>
          <p:nvPr/>
        </p:nvSpPr>
        <p:spPr>
          <a:xfrm>
            <a:off x="4453128" y="3575304"/>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98848" y="3611880"/>
            <a:ext cx="1737360" cy="274320"/>
          </a:xfrm>
          <a:prstGeom prst="rect">
            <a:avLst/>
          </a:prstGeom>
          <a:noFill/>
        </p:spPr>
        <p:txBody>
          <a:bodyPr wrap="square">
            <a:spAutoFit/>
          </a:bodyPr>
          <a:lstStyle/>
          <a:p>
            <a:pPr algn="l"/>
            <a:r>
              <a:rPr sz="750" b="1" i="0">
                <a:solidFill>
                  <a:srgbClr val="1A1A2E"/>
                </a:solidFill>
              </a:rPr>
              <a:t>WEIGHT_CONTROL_TYPE</a:t>
            </a:r>
          </a:p>
        </p:txBody>
      </p:sp>
      <p:sp>
        <p:nvSpPr>
          <p:cNvPr id="50" name="Rounded Rectangle 49"/>
          <p:cNvSpPr/>
          <p:nvPr/>
        </p:nvSpPr>
        <p:spPr>
          <a:xfrm>
            <a:off x="4498848" y="3904488"/>
            <a:ext cx="1719072" cy="256032"/>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0.05</a:t>
            </a:r>
          </a:p>
        </p:txBody>
      </p:sp>
      <p:sp>
        <p:nvSpPr>
          <p:cNvPr id="51" name="Rectangle 50"/>
          <p:cNvSpPr/>
          <p:nvPr/>
        </p:nvSpPr>
        <p:spPr>
          <a:xfrm>
            <a:off x="4453128" y="4325112"/>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498848" y="4361688"/>
            <a:ext cx="1737360" cy="274320"/>
          </a:xfrm>
          <a:prstGeom prst="rect">
            <a:avLst/>
          </a:prstGeom>
          <a:noFill/>
        </p:spPr>
        <p:txBody>
          <a:bodyPr wrap="square">
            <a:spAutoFit/>
          </a:bodyPr>
          <a:lstStyle/>
          <a:p>
            <a:pPr algn="l"/>
            <a:r>
              <a:rPr sz="750" b="1" i="0">
                <a:solidFill>
                  <a:srgbClr val="1A1A2E"/>
                </a:solidFill>
              </a:rPr>
              <a:t>WEIGHT_CATEGORY_PRIOR</a:t>
            </a:r>
          </a:p>
        </p:txBody>
      </p:sp>
      <p:sp>
        <p:nvSpPr>
          <p:cNvPr id="53" name="Rounded Rectangle 52"/>
          <p:cNvSpPr/>
          <p:nvPr/>
        </p:nvSpPr>
        <p:spPr>
          <a:xfrm>
            <a:off x="4498848" y="4654296"/>
            <a:ext cx="1719072" cy="256032"/>
          </a:xfrm>
          <a:prstGeom prst="round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0.03</a:t>
            </a:r>
          </a:p>
        </p:txBody>
      </p:sp>
      <p:sp>
        <p:nvSpPr>
          <p:cNvPr id="54" name="Rounded Rectangle 53"/>
          <p:cNvSpPr/>
          <p:nvPr/>
        </p:nvSpPr>
        <p:spPr>
          <a:xfrm>
            <a:off x="6409944" y="822960"/>
            <a:ext cx="1920240" cy="4389120"/>
          </a:xfrm>
          <a:prstGeom prst="roundRect">
            <a:avLst/>
          </a:prstGeom>
          <a:solidFill>
            <a:srgbClr val="FFFFFF"/>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6409944" y="822960"/>
            <a:ext cx="1920240" cy="41148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64808" y="877824"/>
            <a:ext cx="1828800" cy="320040"/>
          </a:xfrm>
          <a:prstGeom prst="rect">
            <a:avLst/>
          </a:prstGeom>
          <a:noFill/>
        </p:spPr>
        <p:txBody>
          <a:bodyPr wrap="square">
            <a:spAutoFit/>
          </a:bodyPr>
          <a:lstStyle/>
          <a:p>
            <a:pPr algn="ctr"/>
            <a:r>
              <a:rPr sz="950" b="1" i="0">
                <a:solidFill>
                  <a:srgbClr val="FFFFFF"/>
                </a:solidFill>
              </a:rPr>
              <a:t>ÉVALUATION LLM</a:t>
            </a:r>
          </a:p>
        </p:txBody>
      </p:sp>
      <p:sp>
        <p:nvSpPr>
          <p:cNvPr id="57" name="Rectangle 56"/>
          <p:cNvSpPr/>
          <p:nvPr/>
        </p:nvSpPr>
        <p:spPr>
          <a:xfrm>
            <a:off x="6483096" y="1325880"/>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28816" y="1362456"/>
            <a:ext cx="1737360" cy="274320"/>
          </a:xfrm>
          <a:prstGeom prst="rect">
            <a:avLst/>
          </a:prstGeom>
          <a:noFill/>
        </p:spPr>
        <p:txBody>
          <a:bodyPr wrap="square">
            <a:spAutoFit/>
          </a:bodyPr>
          <a:lstStyle/>
          <a:p>
            <a:pPr algn="l"/>
            <a:r>
              <a:rPr sz="750" b="1" i="0">
                <a:solidFill>
                  <a:srgbClr val="1A1A2E"/>
                </a:solidFill>
              </a:rPr>
              <a:t>USE_LLM_PAIRWISE_EVALUATION</a:t>
            </a:r>
          </a:p>
        </p:txBody>
      </p:sp>
      <p:sp>
        <p:nvSpPr>
          <p:cNvPr id="59" name="Rounded Rectangle 58"/>
          <p:cNvSpPr/>
          <p:nvPr/>
        </p:nvSpPr>
        <p:spPr>
          <a:xfrm>
            <a:off x="6528816" y="1655064"/>
            <a:ext cx="1719072" cy="25603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true</a:t>
            </a:r>
          </a:p>
        </p:txBody>
      </p:sp>
      <p:sp>
        <p:nvSpPr>
          <p:cNvPr id="60" name="Rectangle 59"/>
          <p:cNvSpPr/>
          <p:nvPr/>
        </p:nvSpPr>
        <p:spPr>
          <a:xfrm>
            <a:off x="6483096" y="2075688"/>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528816" y="2112264"/>
            <a:ext cx="1737360" cy="274320"/>
          </a:xfrm>
          <a:prstGeom prst="rect">
            <a:avLst/>
          </a:prstGeom>
          <a:noFill/>
        </p:spPr>
        <p:txBody>
          <a:bodyPr wrap="square">
            <a:spAutoFit/>
          </a:bodyPr>
          <a:lstStyle/>
          <a:p>
            <a:pPr algn="l"/>
            <a:r>
              <a:rPr sz="750" b="1" i="0">
                <a:solidFill>
                  <a:srgbClr val="1A1A2E"/>
                </a:solidFill>
              </a:rPr>
              <a:t>LLM_TOP_K_CANDIDATES</a:t>
            </a:r>
          </a:p>
        </p:txBody>
      </p:sp>
      <p:sp>
        <p:nvSpPr>
          <p:cNvPr id="62" name="Rounded Rectangle 61"/>
          <p:cNvSpPr/>
          <p:nvPr/>
        </p:nvSpPr>
        <p:spPr>
          <a:xfrm>
            <a:off x="6528816" y="2404872"/>
            <a:ext cx="1719072" cy="25603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6</a:t>
            </a:r>
          </a:p>
        </p:txBody>
      </p:sp>
      <p:sp>
        <p:nvSpPr>
          <p:cNvPr id="63" name="Rectangle 62"/>
          <p:cNvSpPr/>
          <p:nvPr/>
        </p:nvSpPr>
        <p:spPr>
          <a:xfrm>
            <a:off x="6483096" y="2825496"/>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28816" y="2862072"/>
            <a:ext cx="1737360" cy="274320"/>
          </a:xfrm>
          <a:prstGeom prst="rect">
            <a:avLst/>
          </a:prstGeom>
          <a:noFill/>
        </p:spPr>
        <p:txBody>
          <a:bodyPr wrap="square">
            <a:spAutoFit/>
          </a:bodyPr>
          <a:lstStyle/>
          <a:p>
            <a:pPr algn="l"/>
            <a:r>
              <a:rPr sz="750" b="1" i="0">
                <a:solidFill>
                  <a:srgbClr val="1A1A2E"/>
                </a:solidFill>
              </a:rPr>
              <a:t>LLM_CONFIDENCE_THRESHOLD</a:t>
            </a:r>
          </a:p>
        </p:txBody>
      </p:sp>
      <p:sp>
        <p:nvSpPr>
          <p:cNvPr id="65" name="Rounded Rectangle 64"/>
          <p:cNvSpPr/>
          <p:nvPr/>
        </p:nvSpPr>
        <p:spPr>
          <a:xfrm>
            <a:off x="6528816" y="3154680"/>
            <a:ext cx="1719072" cy="25603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0.65</a:t>
            </a:r>
          </a:p>
        </p:txBody>
      </p:sp>
      <p:sp>
        <p:nvSpPr>
          <p:cNvPr id="66" name="Rectangle 65"/>
          <p:cNvSpPr/>
          <p:nvPr/>
        </p:nvSpPr>
        <p:spPr>
          <a:xfrm>
            <a:off x="6483096" y="3575304"/>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28816" y="3611880"/>
            <a:ext cx="1737360" cy="274320"/>
          </a:xfrm>
          <a:prstGeom prst="rect">
            <a:avLst/>
          </a:prstGeom>
          <a:noFill/>
        </p:spPr>
        <p:txBody>
          <a:bodyPr wrap="square">
            <a:spAutoFit/>
          </a:bodyPr>
          <a:lstStyle/>
          <a:p>
            <a:pPr algn="l"/>
            <a:r>
              <a:rPr sz="750" b="1" i="0">
                <a:solidFill>
                  <a:srgbClr val="1A1A2E"/>
                </a:solidFill>
              </a:rPr>
              <a:t>LLM_SELF_REVIEW</a:t>
            </a:r>
          </a:p>
        </p:txBody>
      </p:sp>
      <p:sp>
        <p:nvSpPr>
          <p:cNvPr id="68" name="Rounded Rectangle 67"/>
          <p:cNvSpPr/>
          <p:nvPr/>
        </p:nvSpPr>
        <p:spPr>
          <a:xfrm>
            <a:off x="6528816" y="3904488"/>
            <a:ext cx="1719072" cy="25603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false</a:t>
            </a:r>
          </a:p>
        </p:txBody>
      </p:sp>
      <p:sp>
        <p:nvSpPr>
          <p:cNvPr id="69" name="Rectangle 68"/>
          <p:cNvSpPr/>
          <p:nvPr/>
        </p:nvSpPr>
        <p:spPr>
          <a:xfrm>
            <a:off x="6483096" y="4325112"/>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528816" y="4361688"/>
            <a:ext cx="1737360" cy="274320"/>
          </a:xfrm>
          <a:prstGeom prst="rect">
            <a:avLst/>
          </a:prstGeom>
          <a:noFill/>
        </p:spPr>
        <p:txBody>
          <a:bodyPr wrap="square">
            <a:spAutoFit/>
          </a:bodyPr>
          <a:lstStyle/>
          <a:p>
            <a:pPr algn="l"/>
            <a:r>
              <a:rPr sz="750" b="1" i="0">
                <a:solidFill>
                  <a:srgbClr val="1A1A2E"/>
                </a:solidFill>
              </a:rPr>
              <a:t>MAX_CONCURRENT_LLM_CALLS</a:t>
            </a:r>
          </a:p>
        </p:txBody>
      </p:sp>
      <p:sp>
        <p:nvSpPr>
          <p:cNvPr id="71" name="Rounded Rectangle 70"/>
          <p:cNvSpPr/>
          <p:nvPr/>
        </p:nvSpPr>
        <p:spPr>
          <a:xfrm>
            <a:off x="6528816" y="4654296"/>
            <a:ext cx="1719072" cy="25603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6</a:t>
            </a:r>
          </a:p>
        </p:txBody>
      </p:sp>
      <p:sp>
        <p:nvSpPr>
          <p:cNvPr id="72" name="Rounded Rectangle 71"/>
          <p:cNvSpPr/>
          <p:nvPr/>
        </p:nvSpPr>
        <p:spPr>
          <a:xfrm>
            <a:off x="8439912" y="822960"/>
            <a:ext cx="1920240" cy="4389120"/>
          </a:xfrm>
          <a:prstGeom prst="round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8439912" y="822960"/>
            <a:ext cx="1920240" cy="41148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94776" y="877824"/>
            <a:ext cx="1828800" cy="320040"/>
          </a:xfrm>
          <a:prstGeom prst="rect">
            <a:avLst/>
          </a:prstGeom>
          <a:noFill/>
        </p:spPr>
        <p:txBody>
          <a:bodyPr wrap="square">
            <a:spAutoFit/>
          </a:bodyPr>
          <a:lstStyle/>
          <a:p>
            <a:pPr algn="ctr"/>
            <a:r>
              <a:rPr sz="950" b="1" i="0">
                <a:solidFill>
                  <a:srgbClr val="FFFFFF"/>
                </a:solidFill>
              </a:rPr>
              <a:t>JUGE FINAL</a:t>
            </a:r>
          </a:p>
        </p:txBody>
      </p:sp>
      <p:sp>
        <p:nvSpPr>
          <p:cNvPr id="75" name="Rectangle 74"/>
          <p:cNvSpPr/>
          <p:nvPr/>
        </p:nvSpPr>
        <p:spPr>
          <a:xfrm>
            <a:off x="8513064" y="1325880"/>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558784" y="1362456"/>
            <a:ext cx="1737360" cy="274320"/>
          </a:xfrm>
          <a:prstGeom prst="rect">
            <a:avLst/>
          </a:prstGeom>
          <a:noFill/>
        </p:spPr>
        <p:txBody>
          <a:bodyPr wrap="square">
            <a:spAutoFit/>
          </a:bodyPr>
          <a:lstStyle/>
          <a:p>
            <a:pPr algn="l"/>
            <a:r>
              <a:rPr sz="750" b="1" i="0">
                <a:solidFill>
                  <a:srgbClr val="1A1A2E"/>
                </a:solidFill>
              </a:rPr>
              <a:t>RUN_FINAL_LLM_JUDGE</a:t>
            </a:r>
          </a:p>
        </p:txBody>
      </p:sp>
      <p:sp>
        <p:nvSpPr>
          <p:cNvPr id="77" name="Rounded Rectangle 76"/>
          <p:cNvSpPr/>
          <p:nvPr/>
        </p:nvSpPr>
        <p:spPr>
          <a:xfrm>
            <a:off x="8558784" y="1655064"/>
            <a:ext cx="1719072" cy="25603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true</a:t>
            </a:r>
          </a:p>
        </p:txBody>
      </p:sp>
      <p:sp>
        <p:nvSpPr>
          <p:cNvPr id="78" name="Rectangle 77"/>
          <p:cNvSpPr/>
          <p:nvPr/>
        </p:nvSpPr>
        <p:spPr>
          <a:xfrm>
            <a:off x="8513064" y="2075688"/>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558784" y="2112264"/>
            <a:ext cx="1737360" cy="274320"/>
          </a:xfrm>
          <a:prstGeom prst="rect">
            <a:avLst/>
          </a:prstGeom>
          <a:noFill/>
        </p:spPr>
        <p:txBody>
          <a:bodyPr wrap="square">
            <a:spAutoFit/>
          </a:bodyPr>
          <a:lstStyle/>
          <a:p>
            <a:pPr algn="l"/>
            <a:r>
              <a:rPr sz="750" b="1" i="0">
                <a:solidFill>
                  <a:srgbClr val="1A1A2E"/>
                </a:solidFill>
              </a:rPr>
              <a:t>FINAL_JUDGE_ONLY_AMBIGUOUS</a:t>
            </a:r>
          </a:p>
        </p:txBody>
      </p:sp>
      <p:sp>
        <p:nvSpPr>
          <p:cNvPr id="80" name="Rounded Rectangle 79"/>
          <p:cNvSpPr/>
          <p:nvPr/>
        </p:nvSpPr>
        <p:spPr>
          <a:xfrm>
            <a:off x="8558784" y="2404872"/>
            <a:ext cx="1719072" cy="25603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true</a:t>
            </a:r>
          </a:p>
        </p:txBody>
      </p:sp>
      <p:sp>
        <p:nvSpPr>
          <p:cNvPr id="81" name="Rectangle 80"/>
          <p:cNvSpPr/>
          <p:nvPr/>
        </p:nvSpPr>
        <p:spPr>
          <a:xfrm>
            <a:off x="8513064" y="2825496"/>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558784" y="2862072"/>
            <a:ext cx="1737360" cy="274320"/>
          </a:xfrm>
          <a:prstGeom prst="rect">
            <a:avLst/>
          </a:prstGeom>
          <a:noFill/>
        </p:spPr>
        <p:txBody>
          <a:bodyPr wrap="square">
            <a:spAutoFit/>
          </a:bodyPr>
          <a:lstStyle/>
          <a:p>
            <a:pPr algn="l"/>
            <a:r>
              <a:rPr sz="750" b="1" i="0">
                <a:solidFill>
                  <a:srgbClr val="1A1A2E"/>
                </a:solidFill>
              </a:rPr>
              <a:t>FINAL_JUDGE_BATCH_SIZE</a:t>
            </a:r>
          </a:p>
        </p:txBody>
      </p:sp>
      <p:sp>
        <p:nvSpPr>
          <p:cNvPr id="83" name="Rounded Rectangle 82"/>
          <p:cNvSpPr/>
          <p:nvPr/>
        </p:nvSpPr>
        <p:spPr>
          <a:xfrm>
            <a:off x="8558784" y="3154680"/>
            <a:ext cx="1719072" cy="25603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25</a:t>
            </a:r>
          </a:p>
        </p:txBody>
      </p:sp>
      <p:sp>
        <p:nvSpPr>
          <p:cNvPr id="84" name="Rectangle 83"/>
          <p:cNvSpPr/>
          <p:nvPr/>
        </p:nvSpPr>
        <p:spPr>
          <a:xfrm>
            <a:off x="8513064" y="3575304"/>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558784" y="3611880"/>
            <a:ext cx="1737360" cy="274320"/>
          </a:xfrm>
          <a:prstGeom prst="rect">
            <a:avLst/>
          </a:prstGeom>
          <a:noFill/>
        </p:spPr>
        <p:txBody>
          <a:bodyPr wrap="square">
            <a:spAutoFit/>
          </a:bodyPr>
          <a:lstStyle/>
          <a:p>
            <a:pPr algn="l"/>
            <a:r>
              <a:rPr sz="750" b="1" i="0">
                <a:solidFill>
                  <a:srgbClr val="1A1A2E"/>
                </a:solidFill>
              </a:rPr>
              <a:t>FINAL_JUDGE_CONFIDENCE_THRESHOLD</a:t>
            </a:r>
          </a:p>
        </p:txBody>
      </p:sp>
      <p:sp>
        <p:nvSpPr>
          <p:cNvPr id="86" name="Rounded Rectangle 85"/>
          <p:cNvSpPr/>
          <p:nvPr/>
        </p:nvSpPr>
        <p:spPr>
          <a:xfrm>
            <a:off x="8558784" y="3904488"/>
            <a:ext cx="1719072" cy="25603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0.80</a:t>
            </a:r>
          </a:p>
        </p:txBody>
      </p:sp>
      <p:sp>
        <p:nvSpPr>
          <p:cNvPr id="87" name="Rounded Rectangle 86"/>
          <p:cNvSpPr/>
          <p:nvPr/>
        </p:nvSpPr>
        <p:spPr>
          <a:xfrm>
            <a:off x="10469880" y="822960"/>
            <a:ext cx="1920240" cy="4389120"/>
          </a:xfrm>
          <a:prstGeom prst="round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ounded Rectangle 87"/>
          <p:cNvSpPr/>
          <p:nvPr/>
        </p:nvSpPr>
        <p:spPr>
          <a:xfrm>
            <a:off x="10469880" y="822960"/>
            <a:ext cx="1920240" cy="4114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524744" y="877824"/>
            <a:ext cx="1828800" cy="320040"/>
          </a:xfrm>
          <a:prstGeom prst="rect">
            <a:avLst/>
          </a:prstGeom>
          <a:noFill/>
        </p:spPr>
        <p:txBody>
          <a:bodyPr wrap="square">
            <a:spAutoFit/>
          </a:bodyPr>
          <a:lstStyle/>
          <a:p>
            <a:pPr algn="ctr"/>
            <a:r>
              <a:rPr sz="950" b="1" i="0">
                <a:solidFill>
                  <a:srgbClr val="FFFFFF"/>
                </a:solidFill>
              </a:rPr>
              <a:t>AZURE OPENAI</a:t>
            </a:r>
          </a:p>
        </p:txBody>
      </p:sp>
      <p:sp>
        <p:nvSpPr>
          <p:cNvPr id="90" name="Rectangle 89"/>
          <p:cNvSpPr/>
          <p:nvPr/>
        </p:nvSpPr>
        <p:spPr>
          <a:xfrm>
            <a:off x="10543032" y="1325880"/>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0588752" y="1362456"/>
            <a:ext cx="1737360" cy="274320"/>
          </a:xfrm>
          <a:prstGeom prst="rect">
            <a:avLst/>
          </a:prstGeom>
          <a:noFill/>
        </p:spPr>
        <p:txBody>
          <a:bodyPr wrap="square">
            <a:spAutoFit/>
          </a:bodyPr>
          <a:lstStyle/>
          <a:p>
            <a:pPr algn="l"/>
            <a:r>
              <a:rPr sz="750" b="1" i="0">
                <a:solidFill>
                  <a:srgbClr val="1A1A2E"/>
                </a:solidFill>
              </a:rPr>
              <a:t>TEXT_DEPLOYMENT</a:t>
            </a:r>
          </a:p>
        </p:txBody>
      </p:sp>
      <p:sp>
        <p:nvSpPr>
          <p:cNvPr id="92" name="Rounded Rectangle 91"/>
          <p:cNvSpPr/>
          <p:nvPr/>
        </p:nvSpPr>
        <p:spPr>
          <a:xfrm>
            <a:off x="10588752" y="1655064"/>
            <a:ext cx="1719072"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gpt-4.1-nano</a:t>
            </a:r>
          </a:p>
        </p:txBody>
      </p:sp>
      <p:sp>
        <p:nvSpPr>
          <p:cNvPr id="93" name="Rectangle 92"/>
          <p:cNvSpPr/>
          <p:nvPr/>
        </p:nvSpPr>
        <p:spPr>
          <a:xfrm>
            <a:off x="10543032" y="2075688"/>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10588752" y="2112264"/>
            <a:ext cx="1737360" cy="274320"/>
          </a:xfrm>
          <a:prstGeom prst="rect">
            <a:avLst/>
          </a:prstGeom>
          <a:noFill/>
        </p:spPr>
        <p:txBody>
          <a:bodyPr wrap="square">
            <a:spAutoFit/>
          </a:bodyPr>
          <a:lstStyle/>
          <a:p>
            <a:pPr algn="l"/>
            <a:r>
              <a:rPr sz="750" b="1" i="0">
                <a:solidFill>
                  <a:srgbClr val="1A1A2E"/>
                </a:solidFill>
              </a:rPr>
              <a:t>JUDGE_DEPLOYMENT</a:t>
            </a:r>
          </a:p>
        </p:txBody>
      </p:sp>
      <p:sp>
        <p:nvSpPr>
          <p:cNvPr id="95" name="Rounded Rectangle 94"/>
          <p:cNvSpPr/>
          <p:nvPr/>
        </p:nvSpPr>
        <p:spPr>
          <a:xfrm>
            <a:off x="10588752" y="2404872"/>
            <a:ext cx="1719072"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gpt-5.4-nano</a:t>
            </a:r>
          </a:p>
        </p:txBody>
      </p:sp>
      <p:sp>
        <p:nvSpPr>
          <p:cNvPr id="96" name="Rectangle 95"/>
          <p:cNvSpPr/>
          <p:nvPr/>
        </p:nvSpPr>
        <p:spPr>
          <a:xfrm>
            <a:off x="10543032" y="2825496"/>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588752" y="2862072"/>
            <a:ext cx="1737360" cy="274320"/>
          </a:xfrm>
          <a:prstGeom prst="rect">
            <a:avLst/>
          </a:prstGeom>
          <a:noFill/>
        </p:spPr>
        <p:txBody>
          <a:bodyPr wrap="square">
            <a:spAutoFit/>
          </a:bodyPr>
          <a:lstStyle/>
          <a:p>
            <a:pPr algn="l"/>
            <a:r>
              <a:rPr sz="750" b="1" i="0">
                <a:solidFill>
                  <a:srgbClr val="1A1A2E"/>
                </a:solidFill>
              </a:rPr>
              <a:t>EMBEDDING_DEPLOYMENT</a:t>
            </a:r>
          </a:p>
        </p:txBody>
      </p:sp>
      <p:sp>
        <p:nvSpPr>
          <p:cNvPr id="98" name="Rounded Rectangle 97"/>
          <p:cNvSpPr/>
          <p:nvPr/>
        </p:nvSpPr>
        <p:spPr>
          <a:xfrm>
            <a:off x="10588752" y="3154680"/>
            <a:ext cx="1719072"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text-emb-3-large</a:t>
            </a:r>
          </a:p>
        </p:txBody>
      </p:sp>
      <p:sp>
        <p:nvSpPr>
          <p:cNvPr id="99" name="Rectangle 98"/>
          <p:cNvSpPr/>
          <p:nvPr/>
        </p:nvSpPr>
        <p:spPr>
          <a:xfrm>
            <a:off x="10543032" y="3575304"/>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0588752" y="3611880"/>
            <a:ext cx="1737360" cy="274320"/>
          </a:xfrm>
          <a:prstGeom prst="rect">
            <a:avLst/>
          </a:prstGeom>
          <a:noFill/>
        </p:spPr>
        <p:txBody>
          <a:bodyPr wrap="square">
            <a:spAutoFit/>
          </a:bodyPr>
          <a:lstStyle/>
          <a:p>
            <a:pPr algn="l"/>
            <a:r>
              <a:rPr sz="750" b="1" i="0">
                <a:solidFill>
                  <a:srgbClr val="1A1A2E"/>
                </a:solidFill>
              </a:rPr>
              <a:t>EMBEDDING_DIMENSIONS</a:t>
            </a:r>
          </a:p>
        </p:txBody>
      </p:sp>
      <p:sp>
        <p:nvSpPr>
          <p:cNvPr id="101" name="Rounded Rectangle 100"/>
          <p:cNvSpPr/>
          <p:nvPr/>
        </p:nvSpPr>
        <p:spPr>
          <a:xfrm>
            <a:off x="10588752" y="3904488"/>
            <a:ext cx="1719072"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512</a:t>
            </a:r>
          </a:p>
        </p:txBody>
      </p:sp>
      <p:sp>
        <p:nvSpPr>
          <p:cNvPr id="102" name="Rectangle 101"/>
          <p:cNvSpPr/>
          <p:nvPr/>
        </p:nvSpPr>
        <p:spPr>
          <a:xfrm>
            <a:off x="10543032" y="4325112"/>
            <a:ext cx="1792224" cy="658368"/>
          </a:xfrm>
          <a:prstGeom prst="rect">
            <a:avLst/>
          </a:prstGeom>
          <a:solidFill>
            <a:srgbClr val="F8F8F8"/>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10588752" y="4361688"/>
            <a:ext cx="1737360" cy="274320"/>
          </a:xfrm>
          <a:prstGeom prst="rect">
            <a:avLst/>
          </a:prstGeom>
          <a:noFill/>
        </p:spPr>
        <p:txBody>
          <a:bodyPr wrap="square">
            <a:spAutoFit/>
          </a:bodyPr>
          <a:lstStyle/>
          <a:p>
            <a:pPr algn="l"/>
            <a:r>
              <a:rPr sz="750" b="1" i="0">
                <a:solidFill>
                  <a:srgbClr val="1A1A2E"/>
                </a:solidFill>
              </a:rPr>
              <a:t>TEMPERATURE</a:t>
            </a:r>
          </a:p>
        </p:txBody>
      </p:sp>
      <p:sp>
        <p:nvSpPr>
          <p:cNvPr id="104" name="Rounded Rectangle 103"/>
          <p:cNvSpPr/>
          <p:nvPr/>
        </p:nvSpPr>
        <p:spPr>
          <a:xfrm>
            <a:off x="10588752" y="4654296"/>
            <a:ext cx="1719072"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0">
                <a:solidFill>
                  <a:srgbClr val="FFFFFF"/>
                </a:solidFill>
              </a:rPr>
              <a:t>0.1</a:t>
            </a:r>
          </a:p>
        </p:txBody>
      </p:sp>
      <p:sp>
        <p:nvSpPr>
          <p:cNvPr id="105" name="Rectangle 104"/>
          <p:cNvSpPr/>
          <p:nvPr/>
        </p:nvSpPr>
        <p:spPr>
          <a:xfrm>
            <a:off x="320040" y="5394960"/>
            <a:ext cx="11475720" cy="731520"/>
          </a:xfrm>
          <a:prstGeom prst="rect">
            <a:avLst/>
          </a:prstGeom>
          <a:solidFill>
            <a:srgbClr val="EBF5FB"/>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57200" y="5422392"/>
            <a:ext cx="11247120" cy="658368"/>
          </a:xfrm>
          <a:prstGeom prst="rect">
            <a:avLst/>
          </a:prstGeom>
          <a:noFill/>
        </p:spPr>
        <p:txBody>
          <a:bodyPr wrap="square">
            <a:spAutoFit/>
          </a:bodyPr>
          <a:lstStyle/>
          <a:p>
            <a:pPr algn="l"/>
            <a:r>
              <a:rPr sz="900" b="0" i="0">
                <a:solidFill>
                  <a:srgbClr val="1E3A5F"/>
                </a:solidFill>
              </a:rPr>
              <a:t>Mode économique  :  gpt-4.1-nano · TOP_K=5 · FINAL_JUDGE_ONLY_AMBIGUOUS=true · MAX_CONCURRENT=2
Mode qualité     :  gpt-4.1-mini · JUDGE=gpt-5.4-nano · LLM_SELF_REVIEW=true · FINAL_JUDGE_ONLY_AMBIGUOUS=false</a:t>
            </a:r>
          </a:p>
        </p:txBody>
      </p:sp>
      <p:sp>
        <p:nvSpPr>
          <p:cNvPr id="107" name="Rectangle 106"/>
          <p:cNvSpPr/>
          <p:nvPr/>
        </p:nvSpPr>
        <p:spPr>
          <a:xfrm>
            <a:off x="0" y="6355080"/>
            <a:ext cx="12188952"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365760" y="6400800"/>
            <a:ext cx="7315200" cy="365760"/>
          </a:xfrm>
          <a:prstGeom prst="rect">
            <a:avLst/>
          </a:prstGeom>
          <a:noFill/>
        </p:spPr>
        <p:txBody>
          <a:bodyPr wrap="square">
            <a:spAutoFit/>
          </a:bodyPr>
          <a:lstStyle/>
          <a:p>
            <a:pPr algn="l"/>
            <a:r>
              <a:rPr sz="900" b="0" i="0">
                <a:solidFill>
                  <a:srgbClr val="AAAAAA"/>
                </a:solidFill>
              </a:rPr>
              <a:t>Regulatory Framework Mapper  |  Configuration &amp; Paramétrage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389120"/>
            <a:ext cx="12188952" cy="24688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457200"/>
            <a:ext cx="10058400" cy="502920"/>
          </a:xfrm>
          <a:prstGeom prst="rect">
            <a:avLst/>
          </a:prstGeom>
          <a:noFill/>
        </p:spPr>
        <p:txBody>
          <a:bodyPr wrap="square">
            <a:spAutoFit/>
          </a:bodyPr>
          <a:lstStyle/>
          <a:p>
            <a:pPr algn="l"/>
            <a:r>
              <a:rPr sz="2400" b="1" i="0">
                <a:solidFill>
                  <a:srgbClr val="FFFFFF"/>
                </a:solidFill>
              </a:rPr>
              <a:t>Points clés de l'architecture</a:t>
            </a:r>
          </a:p>
        </p:txBody>
      </p:sp>
      <p:sp>
        <p:nvSpPr>
          <p:cNvPr id="6" name="Rectangle 5"/>
          <p:cNvSpPr/>
          <p:nvPr/>
        </p:nvSpPr>
        <p:spPr>
          <a:xfrm>
            <a:off x="640080" y="1188720"/>
            <a:ext cx="3474720" cy="1097280"/>
          </a:xfrm>
          <a:prstGeom prst="rect">
            <a:avLst/>
          </a:prstGeom>
          <a:solidFill>
            <a:srgbClr val="222240"/>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188720"/>
            <a:ext cx="91440" cy="109728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261872"/>
            <a:ext cx="3200400" cy="320040"/>
          </a:xfrm>
          <a:prstGeom prst="rect">
            <a:avLst/>
          </a:prstGeom>
          <a:noFill/>
        </p:spPr>
        <p:txBody>
          <a:bodyPr wrap="square">
            <a:spAutoFit/>
          </a:bodyPr>
          <a:lstStyle/>
          <a:p>
            <a:pPr algn="l"/>
            <a:r>
              <a:rPr sz="1100" b="1" i="0">
                <a:solidFill>
                  <a:srgbClr val="FF8C42"/>
                </a:solidFill>
              </a:rPr>
              <a:t>Scoring hybride</a:t>
            </a:r>
          </a:p>
        </p:txBody>
      </p:sp>
      <p:sp>
        <p:nvSpPr>
          <p:cNvPr id="9" name="TextBox 8"/>
          <p:cNvSpPr txBox="1"/>
          <p:nvPr/>
        </p:nvSpPr>
        <p:spPr>
          <a:xfrm>
            <a:off x="822960" y="1600200"/>
            <a:ext cx="3200400" cy="594360"/>
          </a:xfrm>
          <a:prstGeom prst="rect">
            <a:avLst/>
          </a:prstGeom>
          <a:noFill/>
        </p:spPr>
        <p:txBody>
          <a:bodyPr wrap="square">
            <a:spAutoFit/>
          </a:bodyPr>
          <a:lstStyle/>
          <a:p>
            <a:pPr algn="l"/>
            <a:r>
              <a:rPr sz="900" b="0" i="0">
                <a:solidFill>
                  <a:srgbClr val="CCCCCC"/>
                </a:solidFill>
              </a:rPr>
              <a:t>5 dimensions combinées par RRF
Sémantique + champs structurés + Action/Objet gate</a:t>
            </a:r>
          </a:p>
        </p:txBody>
      </p:sp>
      <p:sp>
        <p:nvSpPr>
          <p:cNvPr id="10" name="Rectangle 9"/>
          <p:cNvSpPr/>
          <p:nvPr/>
        </p:nvSpPr>
        <p:spPr>
          <a:xfrm>
            <a:off x="4389119" y="1188720"/>
            <a:ext cx="3474720" cy="1097280"/>
          </a:xfrm>
          <a:prstGeom prst="rect">
            <a:avLst/>
          </a:prstGeom>
          <a:solidFill>
            <a:srgbClr val="222240"/>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19" y="1188720"/>
            <a:ext cx="91440" cy="109728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1999" y="1261872"/>
            <a:ext cx="3200400" cy="320040"/>
          </a:xfrm>
          <a:prstGeom prst="rect">
            <a:avLst/>
          </a:prstGeom>
          <a:noFill/>
        </p:spPr>
        <p:txBody>
          <a:bodyPr wrap="square">
            <a:spAutoFit/>
          </a:bodyPr>
          <a:lstStyle/>
          <a:p>
            <a:pPr algn="l"/>
            <a:r>
              <a:rPr sz="1100" b="1" i="0">
                <a:solidFill>
                  <a:srgbClr val="FF8C42"/>
                </a:solidFill>
              </a:rPr>
              <a:t>Jugement LLM progressif</a:t>
            </a:r>
          </a:p>
        </p:txBody>
      </p:sp>
      <p:sp>
        <p:nvSpPr>
          <p:cNvPr id="13" name="TextBox 12"/>
          <p:cNvSpPr txBox="1"/>
          <p:nvPr/>
        </p:nvSpPr>
        <p:spPr>
          <a:xfrm>
            <a:off x="4571999" y="1600200"/>
            <a:ext cx="3200400" cy="594360"/>
          </a:xfrm>
          <a:prstGeom prst="rect">
            <a:avLst/>
          </a:prstGeom>
          <a:noFill/>
        </p:spPr>
        <p:txBody>
          <a:bodyPr wrap="square">
            <a:spAutoFit/>
          </a:bodyPr>
          <a:lstStyle/>
          <a:p>
            <a:pPr algn="l"/>
            <a:r>
              <a:rPr sz="900" b="0" i="0">
                <a:solidFill>
                  <a:srgbClr val="CCCCCC"/>
                </a:solidFill>
              </a:rPr>
              <a:t>Pairwise → Self-review → Juge final
Confidence-weighted, batch par catégorie</a:t>
            </a:r>
          </a:p>
        </p:txBody>
      </p:sp>
      <p:sp>
        <p:nvSpPr>
          <p:cNvPr id="14" name="Rectangle 13"/>
          <p:cNvSpPr/>
          <p:nvPr/>
        </p:nvSpPr>
        <p:spPr>
          <a:xfrm>
            <a:off x="8138158" y="1188720"/>
            <a:ext cx="3474720" cy="1097280"/>
          </a:xfrm>
          <a:prstGeom prst="rect">
            <a:avLst/>
          </a:prstGeom>
          <a:solidFill>
            <a:srgbClr val="222240"/>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8" y="1188720"/>
            <a:ext cx="91440" cy="109728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38" y="1261872"/>
            <a:ext cx="3200400" cy="320040"/>
          </a:xfrm>
          <a:prstGeom prst="rect">
            <a:avLst/>
          </a:prstGeom>
          <a:noFill/>
        </p:spPr>
        <p:txBody>
          <a:bodyPr wrap="square">
            <a:spAutoFit/>
          </a:bodyPr>
          <a:lstStyle/>
          <a:p>
            <a:pPr algn="l"/>
            <a:r>
              <a:rPr sz="1100" b="1" i="0">
                <a:solidFill>
                  <a:srgbClr val="FF8C42"/>
                </a:solidFill>
              </a:rPr>
              <a:t>Caching agressif</a:t>
            </a:r>
          </a:p>
        </p:txBody>
      </p:sp>
      <p:sp>
        <p:nvSpPr>
          <p:cNvPr id="17" name="TextBox 16"/>
          <p:cNvSpPr txBox="1"/>
          <p:nvPr/>
        </p:nvSpPr>
        <p:spPr>
          <a:xfrm>
            <a:off x="8321038" y="1600200"/>
            <a:ext cx="3200400" cy="594360"/>
          </a:xfrm>
          <a:prstGeom prst="rect">
            <a:avLst/>
          </a:prstGeom>
          <a:noFill/>
        </p:spPr>
        <p:txBody>
          <a:bodyPr wrap="square">
            <a:spAutoFit/>
          </a:bodyPr>
          <a:lstStyle/>
          <a:p>
            <a:pPr algn="l"/>
            <a:r>
              <a:rPr sz="900" b="0" i="0">
                <a:solidFill>
                  <a:srgbClr val="CCCCCC"/>
                </a:solidFill>
              </a:rPr>
              <a:t>SHA256 validation framework
Décisions JSONL réutilisées entre runs</a:t>
            </a:r>
          </a:p>
        </p:txBody>
      </p:sp>
      <p:sp>
        <p:nvSpPr>
          <p:cNvPr id="18" name="Rectangle 17"/>
          <p:cNvSpPr/>
          <p:nvPr/>
        </p:nvSpPr>
        <p:spPr>
          <a:xfrm>
            <a:off x="640080" y="2468880"/>
            <a:ext cx="3474720" cy="1097280"/>
          </a:xfrm>
          <a:prstGeom prst="rect">
            <a:avLst/>
          </a:prstGeom>
          <a:solidFill>
            <a:srgbClr val="222240"/>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2468880"/>
            <a:ext cx="91440" cy="109728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2542032"/>
            <a:ext cx="3200400" cy="320040"/>
          </a:xfrm>
          <a:prstGeom prst="rect">
            <a:avLst/>
          </a:prstGeom>
          <a:noFill/>
        </p:spPr>
        <p:txBody>
          <a:bodyPr wrap="square">
            <a:spAutoFit/>
          </a:bodyPr>
          <a:lstStyle/>
          <a:p>
            <a:pPr algn="l"/>
            <a:r>
              <a:rPr sz="1100" b="1" i="0">
                <a:solidFill>
                  <a:srgbClr val="FF8C42"/>
                </a:solidFill>
              </a:rPr>
              <a:t>Traçabilité totale</a:t>
            </a:r>
          </a:p>
        </p:txBody>
      </p:sp>
      <p:sp>
        <p:nvSpPr>
          <p:cNvPr id="21" name="TextBox 20"/>
          <p:cNvSpPr txBox="1"/>
          <p:nvPr/>
        </p:nvSpPr>
        <p:spPr>
          <a:xfrm>
            <a:off x="822960" y="2880360"/>
            <a:ext cx="3200400" cy="594360"/>
          </a:xfrm>
          <a:prstGeom prst="rect">
            <a:avLst/>
          </a:prstGeom>
          <a:noFill/>
        </p:spPr>
        <p:txBody>
          <a:bodyPr wrap="square">
            <a:spAutoFit/>
          </a:bodyPr>
          <a:lstStyle/>
          <a:p>
            <a:pPr algn="l"/>
            <a:r>
              <a:rPr sz="900" b="0" i="0">
                <a:solidFill>
                  <a:srgbClr val="CCCCCC"/>
                </a:solidFill>
              </a:rPr>
              <a:t>Atomes → Parent → Dashboard
Dimension-level evidence trail</a:t>
            </a:r>
          </a:p>
        </p:txBody>
      </p:sp>
      <p:sp>
        <p:nvSpPr>
          <p:cNvPr id="22" name="Rectangle 21"/>
          <p:cNvSpPr/>
          <p:nvPr/>
        </p:nvSpPr>
        <p:spPr>
          <a:xfrm>
            <a:off x="4389119" y="2468880"/>
            <a:ext cx="3474720" cy="1097280"/>
          </a:xfrm>
          <a:prstGeom prst="rect">
            <a:avLst/>
          </a:prstGeom>
          <a:solidFill>
            <a:srgbClr val="222240"/>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19" y="2468880"/>
            <a:ext cx="91440" cy="109728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1999" y="2542032"/>
            <a:ext cx="3200400" cy="320040"/>
          </a:xfrm>
          <a:prstGeom prst="rect">
            <a:avLst/>
          </a:prstGeom>
          <a:noFill/>
        </p:spPr>
        <p:txBody>
          <a:bodyPr wrap="square">
            <a:spAutoFit/>
          </a:bodyPr>
          <a:lstStyle/>
          <a:p>
            <a:pPr algn="l"/>
            <a:r>
              <a:rPr sz="1100" b="1" i="0">
                <a:solidFill>
                  <a:srgbClr val="FF8C42"/>
                </a:solidFill>
              </a:rPr>
              <a:t>ENISA comme pivot</a:t>
            </a:r>
          </a:p>
        </p:txBody>
      </p:sp>
      <p:sp>
        <p:nvSpPr>
          <p:cNvPr id="25" name="TextBox 24"/>
          <p:cNvSpPr txBox="1"/>
          <p:nvPr/>
        </p:nvSpPr>
        <p:spPr>
          <a:xfrm>
            <a:off x="4571999" y="2880360"/>
            <a:ext cx="3200400" cy="594360"/>
          </a:xfrm>
          <a:prstGeom prst="rect">
            <a:avLst/>
          </a:prstGeom>
          <a:noFill/>
        </p:spPr>
        <p:txBody>
          <a:bodyPr wrap="square">
            <a:spAutoFit/>
          </a:bodyPr>
          <a:lstStyle/>
          <a:p>
            <a:pPr algn="l"/>
            <a:r>
              <a:rPr sz="900" b="0" i="0">
                <a:solidFill>
                  <a:srgbClr val="CCCCCC"/>
                </a:solidFill>
              </a:rPr>
              <a:t>13 catégories comme langue commune
Advisory prior, jamais hard filter</a:t>
            </a:r>
          </a:p>
        </p:txBody>
      </p:sp>
      <p:sp>
        <p:nvSpPr>
          <p:cNvPr id="26" name="Rectangle 25"/>
          <p:cNvSpPr/>
          <p:nvPr/>
        </p:nvSpPr>
        <p:spPr>
          <a:xfrm>
            <a:off x="8138158" y="2468880"/>
            <a:ext cx="3474720" cy="1097280"/>
          </a:xfrm>
          <a:prstGeom prst="rect">
            <a:avLst/>
          </a:prstGeom>
          <a:solidFill>
            <a:srgbClr val="222240"/>
          </a:solidFill>
          <a:ln w="19050">
            <a:solidFill>
              <a:srgbClr val="E633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38158" y="2468880"/>
            <a:ext cx="91440" cy="1097280"/>
          </a:xfrm>
          <a:prstGeom prst="rect">
            <a:avLst/>
          </a:prstGeom>
          <a:solidFill>
            <a:srgbClr val="E633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21038" y="2542032"/>
            <a:ext cx="3200400" cy="320040"/>
          </a:xfrm>
          <a:prstGeom prst="rect">
            <a:avLst/>
          </a:prstGeom>
          <a:noFill/>
        </p:spPr>
        <p:txBody>
          <a:bodyPr wrap="square">
            <a:spAutoFit/>
          </a:bodyPr>
          <a:lstStyle/>
          <a:p>
            <a:pPr algn="l"/>
            <a:r>
              <a:rPr sz="1100" b="1" i="0">
                <a:solidFill>
                  <a:srgbClr val="FF8C42"/>
                </a:solidFill>
              </a:rPr>
              <a:t>RAG guidelines</a:t>
            </a:r>
          </a:p>
        </p:txBody>
      </p:sp>
      <p:sp>
        <p:nvSpPr>
          <p:cNvPr id="29" name="TextBox 28"/>
          <p:cNvSpPr txBox="1"/>
          <p:nvPr/>
        </p:nvSpPr>
        <p:spPr>
          <a:xfrm>
            <a:off x="8321038" y="2880360"/>
            <a:ext cx="3200400" cy="594360"/>
          </a:xfrm>
          <a:prstGeom prst="rect">
            <a:avLst/>
          </a:prstGeom>
          <a:noFill/>
        </p:spPr>
        <p:txBody>
          <a:bodyPr wrap="square">
            <a:spAutoFit/>
          </a:bodyPr>
          <a:lstStyle/>
          <a:p>
            <a:pPr algn="l"/>
            <a:r>
              <a:rPr sz="900" b="0" i="0">
                <a:solidFill>
                  <a:srgbClr val="CCCCCC"/>
                </a:solidFill>
              </a:rPr>
              <a:t>Contexte réglementaire injecté
Dans chaque évaluation pairwise</a:t>
            </a:r>
          </a:p>
        </p:txBody>
      </p:sp>
      <p:sp>
        <p:nvSpPr>
          <p:cNvPr id="30" name="TextBox 29"/>
          <p:cNvSpPr txBox="1"/>
          <p:nvPr/>
        </p:nvSpPr>
        <p:spPr>
          <a:xfrm>
            <a:off x="640080" y="6355080"/>
            <a:ext cx="8229600" cy="365760"/>
          </a:xfrm>
          <a:prstGeom prst="rect">
            <a:avLst/>
          </a:prstGeom>
          <a:noFill/>
        </p:spPr>
        <p:txBody>
          <a:bodyPr wrap="square">
            <a:spAutoFit/>
          </a:bodyPr>
          <a:lstStyle/>
          <a:p>
            <a:pPr algn="l"/>
            <a:r>
              <a:rPr sz="1000" b="0" i="0">
                <a:solidFill>
                  <a:srgbClr val="AAAAAA"/>
                </a:solidFill>
              </a:rPr>
              <a:t>Wavestone  |  Regulatory Intelligence Platform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2902</TotalTime>
  <Words>2978</Words>
  <Application>Microsoft Office PowerPoint</Application>
  <PresentationFormat>Custom</PresentationFormat>
  <Paragraphs>379</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BRUN Aurélien</cp:lastModifiedBy>
  <cp:revision>1</cp:revision>
  <dcterms:created xsi:type="dcterms:W3CDTF">2013-01-27T09:14:16Z</dcterms:created>
  <dcterms:modified xsi:type="dcterms:W3CDTF">2026-06-25T09:11:51Z</dcterms:modified>
  <cp:category/>
</cp:coreProperties>
</file>